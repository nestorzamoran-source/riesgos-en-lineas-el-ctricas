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0"/>
  </p:notesMasterIdLst>
  <p:handoutMasterIdLst>
    <p:handoutMasterId r:id="rId101"/>
  </p:handoutMasterIdLst>
  <p:sldIdLst>
    <p:sldId id="315" r:id="rId2"/>
    <p:sldId id="824" r:id="rId109"/>
    <p:sldId id="825" r:id="rId110"/>
    <p:sldId id="826" r:id="rId111"/>
    <p:sldId id="827" r:id="rId112"/>
    <p:sldId id="828" r:id="rId113"/>
    <p:sldId id="650" r:id="rId3"/>
    <p:sldId id="340" r:id="rId4"/>
    <p:sldId id="651" r:id="rId5"/>
    <p:sldId id="652" r:id="rId6"/>
    <p:sldId id="655" r:id="rId7"/>
    <p:sldId id="656" r:id="rId8"/>
    <p:sldId id="657" r:id="rId9"/>
    <p:sldId id="658" r:id="rId10"/>
    <p:sldId id="659" r:id="rId11"/>
    <p:sldId id="660" r:id="rId12"/>
    <p:sldId id="661" r:id="rId13"/>
    <p:sldId id="662" r:id="rId14"/>
    <p:sldId id="663" r:id="rId15"/>
    <p:sldId id="664" r:id="rId16"/>
    <p:sldId id="665" r:id="rId17"/>
    <p:sldId id="666" r:id="rId18"/>
    <p:sldId id="647" r:id="rId19"/>
    <p:sldId id="667" r:id="rId20"/>
    <p:sldId id="648" r:id="rId21"/>
    <p:sldId id="829" r:id="rId114"/>
    <p:sldId id="830" r:id="rId115"/>
    <p:sldId id="831" r:id="rId116"/>
    <p:sldId id="832" r:id="rId117"/>
    <p:sldId id="833" r:id="rId118"/>
    <p:sldId id="834" r:id="rId119"/>
    <p:sldId id="835" r:id="rId120"/>
    <p:sldId id="836" r:id="rId121"/>
    <p:sldId id="837" r:id="rId122"/>
    <p:sldId id="838" r:id="rId123"/>
    <p:sldId id="839" r:id="rId124"/>
    <p:sldId id="840" r:id="rId125"/>
    <p:sldId id="841" r:id="rId126"/>
    <p:sldId id="842" r:id="rId127"/>
    <p:sldId id="843" r:id="rId128"/>
    <p:sldId id="668" r:id="rId22"/>
    <p:sldId id="746" r:id="rId23"/>
    <p:sldId id="669" r:id="rId24"/>
    <p:sldId id="675" r:id="rId25"/>
    <p:sldId id="671" r:id="rId26"/>
    <p:sldId id="672" r:id="rId27"/>
    <p:sldId id="673" r:id="rId28"/>
    <p:sldId id="674" r:id="rId29"/>
    <p:sldId id="593" r:id="rId30"/>
    <p:sldId id="595" r:id="rId31"/>
    <p:sldId id="605" r:id="rId32"/>
    <p:sldId id="607" r:id="rId33"/>
    <p:sldId id="747" r:id="rId34"/>
    <p:sldId id="817" r:id="rId35"/>
    <p:sldId id="818" r:id="rId36"/>
    <p:sldId id="819" r:id="rId37"/>
    <p:sldId id="596" r:id="rId38"/>
    <p:sldId id="597" r:id="rId39"/>
    <p:sldId id="773" r:id="rId40"/>
    <p:sldId id="774" r:id="rId41"/>
    <p:sldId id="822" r:id="rId42"/>
    <p:sldId id="823" r:id="rId43"/>
    <p:sldId id="775" r:id="rId44"/>
    <p:sldId id="820" r:id="rId45"/>
    <p:sldId id="821" r:id="rId46"/>
    <p:sldId id="844" r:id="rId129"/>
    <p:sldId id="845" r:id="rId130"/>
    <p:sldId id="846" r:id="rId131"/>
    <p:sldId id="847" r:id="rId132"/>
    <p:sldId id="848" r:id="rId133"/>
    <p:sldId id="849" r:id="rId134"/>
    <p:sldId id="850" r:id="rId135"/>
    <p:sldId id="851" r:id="rId136"/>
    <p:sldId id="852" r:id="rId137"/>
    <p:sldId id="853" r:id="rId138"/>
    <p:sldId id="854" r:id="rId139"/>
    <p:sldId id="855" r:id="rId140"/>
    <p:sldId id="856" r:id="rId141"/>
    <p:sldId id="857" r:id="rId142"/>
    <p:sldId id="858" r:id="rId143"/>
    <p:sldId id="748" r:id="rId47"/>
    <p:sldId id="749" r:id="rId48"/>
    <p:sldId id="767" r:id="rId49"/>
    <p:sldId id="766" r:id="rId50"/>
    <p:sldId id="798" r:id="rId51"/>
    <p:sldId id="768" r:id="rId52"/>
    <p:sldId id="783" r:id="rId53"/>
    <p:sldId id="725" r:id="rId54"/>
    <p:sldId id="724" r:id="rId55"/>
    <p:sldId id="438" r:id="rId56"/>
    <p:sldId id="446" r:id="rId57"/>
    <p:sldId id="440" r:id="rId58"/>
    <p:sldId id="441" r:id="rId59"/>
    <p:sldId id="641" r:id="rId60"/>
    <p:sldId id="770" r:id="rId61"/>
    <p:sldId id="771" r:id="rId62"/>
    <p:sldId id="776" r:id="rId63"/>
    <p:sldId id="750" r:id="rId64"/>
    <p:sldId id="781" r:id="rId65"/>
    <p:sldId id="777" r:id="rId66"/>
    <p:sldId id="782" r:id="rId67"/>
    <p:sldId id="778" r:id="rId68"/>
    <p:sldId id="779" r:id="rId69"/>
    <p:sldId id="792" r:id="rId70"/>
    <p:sldId id="645" r:id="rId71"/>
    <p:sldId id="795" r:id="rId72"/>
    <p:sldId id="797" r:id="rId73"/>
    <p:sldId id="796" r:id="rId74"/>
    <p:sldId id="646" r:id="rId75"/>
    <p:sldId id="794" r:id="rId76"/>
    <p:sldId id="799" r:id="rId77"/>
    <p:sldId id="803" r:id="rId78"/>
    <p:sldId id="800" r:id="rId79"/>
    <p:sldId id="804" r:id="rId80"/>
    <p:sldId id="801" r:id="rId81"/>
    <p:sldId id="805" r:id="rId82"/>
    <p:sldId id="802" r:id="rId83"/>
    <p:sldId id="806" r:id="rId84"/>
    <p:sldId id="683" r:id="rId85"/>
    <p:sldId id="684" r:id="rId86"/>
    <p:sldId id="686" r:id="rId87"/>
    <p:sldId id="815" r:id="rId88"/>
    <p:sldId id="685" r:id="rId89"/>
    <p:sldId id="687" r:id="rId90"/>
    <p:sldId id="807" r:id="rId91"/>
    <p:sldId id="808" r:id="rId92"/>
    <p:sldId id="809" r:id="rId93"/>
    <p:sldId id="810" r:id="rId94"/>
    <p:sldId id="811" r:id="rId95"/>
    <p:sldId id="812" r:id="rId96"/>
    <p:sldId id="813" r:id="rId97"/>
    <p:sldId id="814" r:id="rId98"/>
    <p:sldId id="816" r:id="rId99"/>
    <p:sldId id="859" r:id="rId144"/>
    <p:sldId id="873" r:id="rId158"/>
    <p:sldId id="874" r:id="rId159"/>
    <p:sldId id="860" r:id="rId145"/>
    <p:sldId id="861" r:id="rId146"/>
    <p:sldId id="862" r:id="rId147"/>
    <p:sldId id="863" r:id="rId148"/>
    <p:sldId id="864" r:id="rId149"/>
    <p:sldId id="865" r:id="rId150"/>
    <p:sldId id="866" r:id="rId151"/>
    <p:sldId id="867" r:id="rId152"/>
    <p:sldId id="868" r:id="rId153"/>
    <p:sldId id="869" r:id="rId154"/>
    <p:sldId id="870" r:id="rId155"/>
    <p:sldId id="871" r:id="rId156"/>
    <p:sldId id="872" r:id="rId157"/>
    <p:sldId id="875" r:id="rId160"/>
    <p:sldId id="876" r:id="rId161"/>
    <p:sldId id="877" r:id="rId162"/>
    <p:sldId id="878" r:id="rId163"/>
  </p:sldIdLst>
  <p:sldSz cx="9144000" cy="6858000" type="screen4x3"/>
  <p:notesSz cx="7077075" cy="9077325"/>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zamora@enbloque.cl" initials="n" lastIdx="1" clrIdx="0">
    <p:extLst>
      <p:ext uri="{19B8F6BF-5375-455C-9EA6-DF929625EA0E}">
        <p15:presenceInfo xmlns:p15="http://schemas.microsoft.com/office/powerpoint/2012/main" userId="47b6af0f880c7b8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71FF"/>
    <a:srgbClr val="0D6E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B2918C-F595-4EF8-A665-9F75FED1AF6F}" v="20" dt="2025-05-27T10:32:25.45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86599" autoAdjust="0"/>
  </p:normalViewPr>
  <p:slideViewPr>
    <p:cSldViewPr snapToGrid="0" snapToObjects="1">
      <p:cViewPr varScale="1">
        <p:scale>
          <a:sx n="74" d="100"/>
          <a:sy n="74" d="100"/>
        </p:scale>
        <p:origin x="2179" y="283"/>
      </p:cViewPr>
      <p:guideLst>
        <p:guide orient="horz" pos="2160"/>
        <p:guide pos="2880"/>
      </p:guideLst>
    </p:cSldViewPr>
  </p:slideViewPr>
  <p:outlineViewPr>
    <p:cViewPr>
      <p:scale>
        <a:sx n="33" d="100"/>
        <a:sy n="33" d="100"/>
      </p:scale>
      <p:origin x="0" y="6576"/>
    </p:cViewPr>
  </p:outlineViewPr>
  <p:notesTextViewPr>
    <p:cViewPr>
      <p:scale>
        <a:sx n="100" d="100"/>
        <a:sy n="100" d="100"/>
      </p:scale>
      <p:origin x="0" y="0"/>
    </p:cViewPr>
  </p:notesTextViewPr>
  <p:sorterViewPr>
    <p:cViewPr>
      <p:scale>
        <a:sx n="50" d="100"/>
        <a:sy n="50" d="100"/>
      </p:scale>
      <p:origin x="0" y="1338"/>
    </p:cViewPr>
  </p:sorterViewPr>
  <p:notesViewPr>
    <p:cSldViewPr snapToGrid="0" snapToObjects="1">
      <p:cViewPr varScale="1">
        <p:scale>
          <a:sx n="85" d="100"/>
          <a:sy n="85" d="100"/>
        </p:scale>
        <p:origin x="3828"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notesMaster" Target="notesMasters/notesMaster1.xml"/><Relationship Id="rId101" Type="http://schemas.openxmlformats.org/officeDocument/2006/relationships/handoutMaster" Target="handoutMasters/handoutMaster1.xml"/><Relationship Id="rId102" Type="http://schemas.openxmlformats.org/officeDocument/2006/relationships/commentAuthors" Target="commentAuthors.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 Id="rId107" Type="http://schemas.microsoft.com/office/2016/11/relationships/changesInfo" Target="changesInfos/changesInfo1.xml"/><Relationship Id="rId108" Type="http://schemas.microsoft.com/office/2015/10/relationships/revisionInfo" Target="revisionInfo.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 Id="rId115" Type="http://schemas.openxmlformats.org/officeDocument/2006/relationships/slide" Target="slides/slide105.xml"/><Relationship Id="rId116" Type="http://schemas.openxmlformats.org/officeDocument/2006/relationships/slide" Target="slides/slide106.xml"/><Relationship Id="rId117" Type="http://schemas.openxmlformats.org/officeDocument/2006/relationships/slide" Target="slides/slide107.xml"/><Relationship Id="rId118" Type="http://schemas.openxmlformats.org/officeDocument/2006/relationships/slide" Target="slides/slide108.xml"/><Relationship Id="rId119" Type="http://schemas.openxmlformats.org/officeDocument/2006/relationships/slide" Target="slides/slide109.xml"/><Relationship Id="rId120" Type="http://schemas.openxmlformats.org/officeDocument/2006/relationships/slide" Target="slides/slide110.xml"/><Relationship Id="rId121" Type="http://schemas.openxmlformats.org/officeDocument/2006/relationships/slide" Target="slides/slide111.xml"/><Relationship Id="rId122" Type="http://schemas.openxmlformats.org/officeDocument/2006/relationships/slide" Target="slides/slide112.xml"/><Relationship Id="rId123" Type="http://schemas.openxmlformats.org/officeDocument/2006/relationships/slide" Target="slides/slide113.xml"/><Relationship Id="rId124" Type="http://schemas.openxmlformats.org/officeDocument/2006/relationships/slide" Target="slides/slide114.xml"/><Relationship Id="rId125" Type="http://schemas.openxmlformats.org/officeDocument/2006/relationships/slide" Target="slides/slide115.xml"/><Relationship Id="rId126" Type="http://schemas.openxmlformats.org/officeDocument/2006/relationships/slide" Target="slides/slide116.xml"/><Relationship Id="rId127" Type="http://schemas.openxmlformats.org/officeDocument/2006/relationships/slide" Target="slides/slide117.xml"/><Relationship Id="rId128" Type="http://schemas.openxmlformats.org/officeDocument/2006/relationships/slide" Target="slides/slide118.xml"/><Relationship Id="rId129" Type="http://schemas.openxmlformats.org/officeDocument/2006/relationships/slide" Target="slides/slide119.xml"/><Relationship Id="rId130" Type="http://schemas.openxmlformats.org/officeDocument/2006/relationships/slide" Target="slides/slide120.xml"/><Relationship Id="rId131" Type="http://schemas.openxmlformats.org/officeDocument/2006/relationships/slide" Target="slides/slide121.xml"/><Relationship Id="rId132" Type="http://schemas.openxmlformats.org/officeDocument/2006/relationships/slide" Target="slides/slide122.xml"/><Relationship Id="rId133" Type="http://schemas.openxmlformats.org/officeDocument/2006/relationships/slide" Target="slides/slide123.xml"/><Relationship Id="rId134" Type="http://schemas.openxmlformats.org/officeDocument/2006/relationships/slide" Target="slides/slide124.xml"/><Relationship Id="rId135" Type="http://schemas.openxmlformats.org/officeDocument/2006/relationships/slide" Target="slides/slide125.xml"/><Relationship Id="rId136" Type="http://schemas.openxmlformats.org/officeDocument/2006/relationships/slide" Target="slides/slide126.xml"/><Relationship Id="rId137" Type="http://schemas.openxmlformats.org/officeDocument/2006/relationships/slide" Target="slides/slide127.xml"/><Relationship Id="rId138" Type="http://schemas.openxmlformats.org/officeDocument/2006/relationships/slide" Target="slides/slide128.xml"/><Relationship Id="rId139" Type="http://schemas.openxmlformats.org/officeDocument/2006/relationships/slide" Target="slides/slide129.xml"/><Relationship Id="rId140" Type="http://schemas.openxmlformats.org/officeDocument/2006/relationships/slide" Target="slides/slide130.xml"/><Relationship Id="rId141" Type="http://schemas.openxmlformats.org/officeDocument/2006/relationships/slide" Target="slides/slide131.xml"/><Relationship Id="rId142" Type="http://schemas.openxmlformats.org/officeDocument/2006/relationships/slide" Target="slides/slide132.xml"/><Relationship Id="rId143" Type="http://schemas.openxmlformats.org/officeDocument/2006/relationships/slide" Target="slides/slide133.xml"/><Relationship Id="rId144" Type="http://schemas.openxmlformats.org/officeDocument/2006/relationships/slide" Target="slides/slide134.xml"/><Relationship Id="rId145" Type="http://schemas.openxmlformats.org/officeDocument/2006/relationships/slide" Target="slides/slide135.xml"/><Relationship Id="rId146" Type="http://schemas.openxmlformats.org/officeDocument/2006/relationships/slide" Target="slides/slide136.xml"/><Relationship Id="rId147" Type="http://schemas.openxmlformats.org/officeDocument/2006/relationships/slide" Target="slides/slide137.xml"/><Relationship Id="rId148" Type="http://schemas.openxmlformats.org/officeDocument/2006/relationships/slide" Target="slides/slide138.xml"/><Relationship Id="rId149" Type="http://schemas.openxmlformats.org/officeDocument/2006/relationships/slide" Target="slides/slide139.xml"/><Relationship Id="rId150" Type="http://schemas.openxmlformats.org/officeDocument/2006/relationships/slide" Target="slides/slide140.xml"/><Relationship Id="rId151" Type="http://schemas.openxmlformats.org/officeDocument/2006/relationships/slide" Target="slides/slide141.xml"/><Relationship Id="rId152" Type="http://schemas.openxmlformats.org/officeDocument/2006/relationships/slide" Target="slides/slide142.xml"/><Relationship Id="rId153" Type="http://schemas.openxmlformats.org/officeDocument/2006/relationships/slide" Target="slides/slide143.xml"/><Relationship Id="rId154" Type="http://schemas.openxmlformats.org/officeDocument/2006/relationships/slide" Target="slides/slide144.xml"/><Relationship Id="rId155" Type="http://schemas.openxmlformats.org/officeDocument/2006/relationships/slide" Target="slides/slide145.xml"/><Relationship Id="rId156" Type="http://schemas.openxmlformats.org/officeDocument/2006/relationships/slide" Target="slides/slide146.xml"/><Relationship Id="rId157" Type="http://schemas.openxmlformats.org/officeDocument/2006/relationships/slide" Target="slides/slide147.xml"/><Relationship Id="rId158" Type="http://schemas.openxmlformats.org/officeDocument/2006/relationships/slide" Target="slides/slide148.xml"/><Relationship Id="rId159" Type="http://schemas.openxmlformats.org/officeDocument/2006/relationships/slide" Target="slides/slide149.xml"/><Relationship Id="rId160" Type="http://schemas.openxmlformats.org/officeDocument/2006/relationships/slide" Target="slides/slide150.xml"/><Relationship Id="rId161" Type="http://schemas.openxmlformats.org/officeDocument/2006/relationships/slide" Target="slides/slide151.xml"/><Relationship Id="rId162" Type="http://schemas.openxmlformats.org/officeDocument/2006/relationships/slide" Target="slides/slide152.xml"/><Relationship Id="rId163" Type="http://schemas.openxmlformats.org/officeDocument/2006/relationships/slide" Target="slides/slide1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stor Zamora" userId="a0e79c5800b64606" providerId="LiveId" clId="{E0D76490-F06B-47D3-8814-63B4837994E2}"/>
    <pc:docChg chg="modSld">
      <pc:chgData name="Nestor Zamora" userId="a0e79c5800b64606" providerId="LiveId" clId="{E0D76490-F06B-47D3-8814-63B4837994E2}" dt="2024-12-02T11:45:46.699" v="16" actId="5793"/>
      <pc:docMkLst>
        <pc:docMk/>
      </pc:docMkLst>
      <pc:sldChg chg="modSp mod">
        <pc:chgData name="Nestor Zamora" userId="a0e79c5800b64606" providerId="LiveId" clId="{E0D76490-F06B-47D3-8814-63B4837994E2}" dt="2024-12-02T11:45:46.699" v="16" actId="5793"/>
        <pc:sldMkLst>
          <pc:docMk/>
          <pc:sldMk cId="2638865437" sldId="315"/>
        </pc:sldMkLst>
      </pc:sldChg>
    </pc:docChg>
  </pc:docChgLst>
  <pc:docChgLst>
    <pc:chgData name="Nestor Zamora" userId="a0e79c5800b64606" providerId="LiveId" clId="{C9B2918C-F595-4EF8-A665-9F75FED1AF6F}"/>
    <pc:docChg chg="custSel addSld modSld sldOrd">
      <pc:chgData name="Nestor Zamora" userId="a0e79c5800b64606" providerId="LiveId" clId="{C9B2918C-F595-4EF8-A665-9F75FED1AF6F}" dt="2025-05-27T10:39:46.091" v="609" actId="20577"/>
      <pc:docMkLst>
        <pc:docMk/>
      </pc:docMkLst>
      <pc:sldChg chg="addSp delSp modSp add mod">
        <pc:chgData name="Nestor Zamora" userId="a0e79c5800b64606" providerId="LiveId" clId="{C9B2918C-F595-4EF8-A665-9F75FED1AF6F}" dt="2025-05-27T10:33:55.332" v="573" actId="20577"/>
        <pc:sldMkLst>
          <pc:docMk/>
          <pc:sldMk cId="1148910504" sldId="438"/>
        </pc:sldMkLst>
        <pc:spChg chg="add mod">
          <ac:chgData name="Nestor Zamora" userId="a0e79c5800b64606" providerId="LiveId" clId="{C9B2918C-F595-4EF8-A665-9F75FED1AF6F}" dt="2025-05-27T10:31:57.954" v="561"/>
          <ac:spMkLst>
            <pc:docMk/>
            <pc:sldMk cId="1148910504" sldId="438"/>
            <ac:spMk id="2" creationId="{F72B9010-0AC5-A4E4-A25E-1F33407A2B4B}"/>
          </ac:spMkLst>
        </pc:spChg>
        <pc:spChg chg="mod">
          <ac:chgData name="Nestor Zamora" userId="a0e79c5800b64606" providerId="LiveId" clId="{C9B2918C-F595-4EF8-A665-9F75FED1AF6F}" dt="2025-05-27T10:33:55.332" v="573" actId="20577"/>
          <ac:spMkLst>
            <pc:docMk/>
            <pc:sldMk cId="1148910504" sldId="438"/>
            <ac:spMk id="4" creationId="{00000000-0000-0000-0000-000000000000}"/>
          </ac:spMkLst>
        </pc:spChg>
        <pc:spChg chg="del mod">
          <ac:chgData name="Nestor Zamora" userId="a0e79c5800b64606" providerId="LiveId" clId="{C9B2918C-F595-4EF8-A665-9F75FED1AF6F}" dt="2025-05-27T10:31:07.921" v="556" actId="478"/>
          <ac:spMkLst>
            <pc:docMk/>
            <pc:sldMk cId="1148910504" sldId="438"/>
            <ac:spMk id="6" creationId="{6A761825-7D1E-49BC-B568-9F05A7BBE1E8}"/>
          </ac:spMkLst>
        </pc:spChg>
        <pc:spChg chg="mod">
          <ac:chgData name="Nestor Zamora" userId="a0e79c5800b64606" providerId="LiveId" clId="{C9B2918C-F595-4EF8-A665-9F75FED1AF6F}" dt="2025-05-27T10:33:17.103" v="571" actId="20577"/>
          <ac:spMkLst>
            <pc:docMk/>
            <pc:sldMk cId="1148910504" sldId="438"/>
            <ac:spMk id="15" creationId="{00000000-0000-0000-0000-000000000000}"/>
          </ac:spMkLst>
        </pc:spChg>
      </pc:sldChg>
      <pc:sldChg chg="addSp delSp modSp add mod">
        <pc:chgData name="Nestor Zamora" userId="a0e79c5800b64606" providerId="LiveId" clId="{C9B2918C-F595-4EF8-A665-9F75FED1AF6F}" dt="2025-05-27T10:34:09.620" v="585" actId="20577"/>
        <pc:sldMkLst>
          <pc:docMk/>
          <pc:sldMk cId="1429724048" sldId="440"/>
        </pc:sldMkLst>
        <pc:spChg chg="add mod">
          <ac:chgData name="Nestor Zamora" userId="a0e79c5800b64606" providerId="LiveId" clId="{C9B2918C-F595-4EF8-A665-9F75FED1AF6F}" dt="2025-05-27T10:32:12.685" v="563"/>
          <ac:spMkLst>
            <pc:docMk/>
            <pc:sldMk cId="1429724048" sldId="440"/>
            <ac:spMk id="2" creationId="{DB376EA9-0DC6-F9F1-C649-900646B1D79D}"/>
          </ac:spMkLst>
        </pc:spChg>
        <pc:spChg chg="del">
          <ac:chgData name="Nestor Zamora" userId="a0e79c5800b64606" providerId="LiveId" clId="{C9B2918C-F595-4EF8-A665-9F75FED1AF6F}" dt="2025-05-27T10:31:18.399" v="558" actId="478"/>
          <ac:spMkLst>
            <pc:docMk/>
            <pc:sldMk cId="1429724048" sldId="440"/>
            <ac:spMk id="6" creationId="{35013D90-CE87-459A-9611-F8359CE7259E}"/>
          </ac:spMkLst>
        </pc:spChg>
        <pc:spChg chg="mod">
          <ac:chgData name="Nestor Zamora" userId="a0e79c5800b64606" providerId="LiveId" clId="{C9B2918C-F595-4EF8-A665-9F75FED1AF6F}" dt="2025-05-27T10:34:09.620" v="585" actId="20577"/>
          <ac:spMkLst>
            <pc:docMk/>
            <pc:sldMk cId="1429724048" sldId="440"/>
            <ac:spMk id="15" creationId="{00000000-0000-0000-0000-000000000000}"/>
          </ac:spMkLst>
        </pc:spChg>
      </pc:sldChg>
      <pc:sldChg chg="addSp delSp modSp add mod">
        <pc:chgData name="Nestor Zamora" userId="a0e79c5800b64606" providerId="LiveId" clId="{C9B2918C-F595-4EF8-A665-9F75FED1AF6F}" dt="2025-05-27T10:34:15.869" v="591" actId="20577"/>
        <pc:sldMkLst>
          <pc:docMk/>
          <pc:sldMk cId="1328566746" sldId="441"/>
        </pc:sldMkLst>
        <pc:spChg chg="add mod">
          <ac:chgData name="Nestor Zamora" userId="a0e79c5800b64606" providerId="LiveId" clId="{C9B2918C-F595-4EF8-A665-9F75FED1AF6F}" dt="2025-05-27T10:32:19.225" v="564"/>
          <ac:spMkLst>
            <pc:docMk/>
            <pc:sldMk cId="1328566746" sldId="441"/>
            <ac:spMk id="2" creationId="{72472580-9FB2-12CB-69C4-8D6A23358F91}"/>
          </ac:spMkLst>
        </pc:spChg>
        <pc:spChg chg="del">
          <ac:chgData name="Nestor Zamora" userId="a0e79c5800b64606" providerId="LiveId" clId="{C9B2918C-F595-4EF8-A665-9F75FED1AF6F}" dt="2025-05-27T10:31:25.564" v="559" actId="478"/>
          <ac:spMkLst>
            <pc:docMk/>
            <pc:sldMk cId="1328566746" sldId="441"/>
            <ac:spMk id="6" creationId="{213F03AC-55A5-4D4D-9E06-4D56D00CBCA5}"/>
          </ac:spMkLst>
        </pc:spChg>
        <pc:spChg chg="mod">
          <ac:chgData name="Nestor Zamora" userId="a0e79c5800b64606" providerId="LiveId" clId="{C9B2918C-F595-4EF8-A665-9F75FED1AF6F}" dt="2025-05-27T10:34:15.869" v="591" actId="20577"/>
          <ac:spMkLst>
            <pc:docMk/>
            <pc:sldMk cId="1328566746" sldId="441"/>
            <ac:spMk id="15" creationId="{00000000-0000-0000-0000-000000000000}"/>
          </ac:spMkLst>
        </pc:spChg>
      </pc:sldChg>
      <pc:sldChg chg="addSp delSp modSp add mod">
        <pc:chgData name="Nestor Zamora" userId="a0e79c5800b64606" providerId="LiveId" clId="{C9B2918C-F595-4EF8-A665-9F75FED1AF6F}" dt="2025-05-27T10:34:04.720" v="579" actId="20577"/>
        <pc:sldMkLst>
          <pc:docMk/>
          <pc:sldMk cId="2929608613" sldId="446"/>
        </pc:sldMkLst>
        <pc:spChg chg="add mod">
          <ac:chgData name="Nestor Zamora" userId="a0e79c5800b64606" providerId="LiveId" clId="{C9B2918C-F595-4EF8-A665-9F75FED1AF6F}" dt="2025-05-27T10:32:05.667" v="562"/>
          <ac:spMkLst>
            <pc:docMk/>
            <pc:sldMk cId="2929608613" sldId="446"/>
            <ac:spMk id="5" creationId="{C4396038-E139-4737-286A-1EA4C7A5D660}"/>
          </ac:spMkLst>
        </pc:spChg>
        <pc:spChg chg="del">
          <ac:chgData name="Nestor Zamora" userId="a0e79c5800b64606" providerId="LiveId" clId="{C9B2918C-F595-4EF8-A665-9F75FED1AF6F}" dt="2025-05-27T10:31:13.437" v="557" actId="478"/>
          <ac:spMkLst>
            <pc:docMk/>
            <pc:sldMk cId="2929608613" sldId="446"/>
            <ac:spMk id="7" creationId="{A759EEF9-F1AF-46FB-97E1-BC70FD00F9A7}"/>
          </ac:spMkLst>
        </pc:spChg>
        <pc:spChg chg="mod">
          <ac:chgData name="Nestor Zamora" userId="a0e79c5800b64606" providerId="LiveId" clId="{C9B2918C-F595-4EF8-A665-9F75FED1AF6F}" dt="2025-05-27T10:34:04.720" v="579" actId="20577"/>
          <ac:spMkLst>
            <pc:docMk/>
            <pc:sldMk cId="2929608613" sldId="446"/>
            <ac:spMk id="15" creationId="{00000000-0000-0000-0000-000000000000}"/>
          </ac:spMkLst>
        </pc:spChg>
      </pc:sldChg>
      <pc:sldChg chg="addSp delSp modSp add mod">
        <pc:chgData name="Nestor Zamora" userId="a0e79c5800b64606" providerId="LiveId" clId="{C9B2918C-F595-4EF8-A665-9F75FED1AF6F}" dt="2025-05-27T10:34:25.786" v="597" actId="20577"/>
        <pc:sldMkLst>
          <pc:docMk/>
          <pc:sldMk cId="671564357" sldId="641"/>
        </pc:sldMkLst>
        <pc:spChg chg="add mod">
          <ac:chgData name="Nestor Zamora" userId="a0e79c5800b64606" providerId="LiveId" clId="{C9B2918C-F595-4EF8-A665-9F75FED1AF6F}" dt="2025-05-27T10:32:25.459" v="565"/>
          <ac:spMkLst>
            <pc:docMk/>
            <pc:sldMk cId="671564357" sldId="641"/>
            <ac:spMk id="2" creationId="{6B00B3C0-CE5F-8794-F131-1B6E7950FCB7}"/>
          </ac:spMkLst>
        </pc:spChg>
        <pc:spChg chg="del">
          <ac:chgData name="Nestor Zamora" userId="a0e79c5800b64606" providerId="LiveId" clId="{C9B2918C-F595-4EF8-A665-9F75FED1AF6F}" dt="2025-05-27T10:31:32.483" v="560" actId="478"/>
          <ac:spMkLst>
            <pc:docMk/>
            <pc:sldMk cId="671564357" sldId="641"/>
            <ac:spMk id="6" creationId="{213F03AC-55A5-4D4D-9E06-4D56D00CBCA5}"/>
          </ac:spMkLst>
        </pc:spChg>
        <pc:spChg chg="mod">
          <ac:chgData name="Nestor Zamora" userId="a0e79c5800b64606" providerId="LiveId" clId="{C9B2918C-F595-4EF8-A665-9F75FED1AF6F}" dt="2025-05-27T10:34:25.786" v="597" actId="20577"/>
          <ac:spMkLst>
            <pc:docMk/>
            <pc:sldMk cId="671564357" sldId="641"/>
            <ac:spMk id="15" creationId="{00000000-0000-0000-0000-000000000000}"/>
          </ac:spMkLst>
        </pc:spChg>
      </pc:sldChg>
      <pc:sldChg chg="modSp mod">
        <pc:chgData name="Nestor Zamora" userId="a0e79c5800b64606" providerId="LiveId" clId="{C9B2918C-F595-4EF8-A665-9F75FED1AF6F}" dt="2025-05-27T10:21:13.353" v="444" actId="20577"/>
        <pc:sldMkLst>
          <pc:docMk/>
          <pc:sldMk cId="627514039" sldId="645"/>
        </pc:sldMkLst>
        <pc:spChg chg="mod">
          <ac:chgData name="Nestor Zamora" userId="a0e79c5800b64606" providerId="LiveId" clId="{C9B2918C-F595-4EF8-A665-9F75FED1AF6F}" dt="2025-05-27T10:21:13.353" v="444" actId="20577"/>
          <ac:spMkLst>
            <pc:docMk/>
            <pc:sldMk cId="627514039" sldId="645"/>
            <ac:spMk id="2" creationId="{00000000-0000-0000-0000-000000000000}"/>
          </ac:spMkLst>
        </pc:spChg>
        <pc:spChg chg="mod">
          <ac:chgData name="Nestor Zamora" userId="a0e79c5800b64606" providerId="LiveId" clId="{C9B2918C-F595-4EF8-A665-9F75FED1AF6F}" dt="2025-05-27T10:03:52.926" v="53" actId="20577"/>
          <ac:spMkLst>
            <pc:docMk/>
            <pc:sldMk cId="627514039" sldId="645"/>
            <ac:spMk id="3" creationId="{C2508415-F920-5FB6-73B1-2A3561372FE4}"/>
          </ac:spMkLst>
        </pc:spChg>
      </pc:sldChg>
      <pc:sldChg chg="modSp mod">
        <pc:chgData name="Nestor Zamora" userId="a0e79c5800b64606" providerId="LiveId" clId="{C9B2918C-F595-4EF8-A665-9F75FED1AF6F}" dt="2025-05-27T10:22:07.151" v="471" actId="20577"/>
        <pc:sldMkLst>
          <pc:docMk/>
          <pc:sldMk cId="3989200402" sldId="646"/>
        </pc:sldMkLst>
        <pc:spChg chg="mod">
          <ac:chgData name="Nestor Zamora" userId="a0e79c5800b64606" providerId="LiveId" clId="{C9B2918C-F595-4EF8-A665-9F75FED1AF6F}" dt="2025-05-27T10:22:07.151" v="471" actId="20577"/>
          <ac:spMkLst>
            <pc:docMk/>
            <pc:sldMk cId="3989200402" sldId="646"/>
            <ac:spMk id="2" creationId="{00000000-0000-0000-0000-000000000000}"/>
          </ac:spMkLst>
        </pc:spChg>
        <pc:spChg chg="mod">
          <ac:chgData name="Nestor Zamora" userId="a0e79c5800b64606" providerId="LiveId" clId="{C9B2918C-F595-4EF8-A665-9F75FED1AF6F}" dt="2025-05-27T10:07:00.693" v="103" actId="20577"/>
          <ac:spMkLst>
            <pc:docMk/>
            <pc:sldMk cId="3989200402" sldId="646"/>
            <ac:spMk id="5" creationId="{AD7BE7B9-A7F0-7682-D510-B70EEA354E8A}"/>
          </ac:spMkLst>
        </pc:spChg>
      </pc:sldChg>
      <pc:sldChg chg="modSp mod">
        <pc:chgData name="Nestor Zamora" userId="a0e79c5800b64606" providerId="LiveId" clId="{C9B2918C-F595-4EF8-A665-9F75FED1AF6F}" dt="2025-05-27T10:00:48.306" v="19" actId="20577"/>
        <pc:sldMkLst>
          <pc:docMk/>
          <pc:sldMk cId="4001881805" sldId="668"/>
        </pc:sldMkLst>
        <pc:spChg chg="mod">
          <ac:chgData name="Nestor Zamora" userId="a0e79c5800b64606" providerId="LiveId" clId="{C9B2918C-F595-4EF8-A665-9F75FED1AF6F}" dt="2025-05-27T10:00:48.306" v="19" actId="20577"/>
          <ac:spMkLst>
            <pc:docMk/>
            <pc:sldMk cId="4001881805" sldId="668"/>
            <ac:spMk id="3" creationId="{0ABE943A-177F-6A8B-4D08-26412E9C0AFE}"/>
          </ac:spMkLst>
        </pc:spChg>
      </pc:sldChg>
      <pc:sldChg chg="modSp mod">
        <pc:chgData name="Nestor Zamora" userId="a0e79c5800b64606" providerId="LiveId" clId="{C9B2918C-F595-4EF8-A665-9F75FED1AF6F}" dt="2025-05-27T10:06:43.987" v="99" actId="20577"/>
        <pc:sldMkLst>
          <pc:docMk/>
          <pc:sldMk cId="3208240352" sldId="683"/>
        </pc:sldMkLst>
        <pc:spChg chg="mod">
          <ac:chgData name="Nestor Zamora" userId="a0e79c5800b64606" providerId="LiveId" clId="{C9B2918C-F595-4EF8-A665-9F75FED1AF6F}" dt="2025-05-27T10:06:43.987" v="99" actId="20577"/>
          <ac:spMkLst>
            <pc:docMk/>
            <pc:sldMk cId="3208240352" sldId="683"/>
            <ac:spMk id="2" creationId="{E8B144F5-FEAE-28B0-70FA-2AAACE9ABB4E}"/>
          </ac:spMkLst>
        </pc:spChg>
      </pc:sldChg>
      <pc:sldChg chg="modSp mod">
        <pc:chgData name="Nestor Zamora" userId="a0e79c5800b64606" providerId="LiveId" clId="{C9B2918C-F595-4EF8-A665-9F75FED1AF6F}" dt="2025-05-27T10:06:38.047" v="97" actId="20577"/>
        <pc:sldMkLst>
          <pc:docMk/>
          <pc:sldMk cId="30018911" sldId="684"/>
        </pc:sldMkLst>
        <pc:spChg chg="mod">
          <ac:chgData name="Nestor Zamora" userId="a0e79c5800b64606" providerId="LiveId" clId="{C9B2918C-F595-4EF8-A665-9F75FED1AF6F}" dt="2025-05-27T10:06:38.047" v="97" actId="20577"/>
          <ac:spMkLst>
            <pc:docMk/>
            <pc:sldMk cId="30018911" sldId="684"/>
            <ac:spMk id="2" creationId="{5192883B-1212-CA5B-8FA6-4FDA13FC5A4D}"/>
          </ac:spMkLst>
        </pc:spChg>
      </pc:sldChg>
      <pc:sldChg chg="modSp mod">
        <pc:chgData name="Nestor Zamora" userId="a0e79c5800b64606" providerId="LiveId" clId="{C9B2918C-F595-4EF8-A665-9F75FED1AF6F}" dt="2025-05-27T10:05:38.659" v="79" actId="20577"/>
        <pc:sldMkLst>
          <pc:docMk/>
          <pc:sldMk cId="1958907947" sldId="685"/>
        </pc:sldMkLst>
        <pc:spChg chg="mod">
          <ac:chgData name="Nestor Zamora" userId="a0e79c5800b64606" providerId="LiveId" clId="{C9B2918C-F595-4EF8-A665-9F75FED1AF6F}" dt="2025-05-27T10:05:38.659" v="79" actId="20577"/>
          <ac:spMkLst>
            <pc:docMk/>
            <pc:sldMk cId="1958907947" sldId="685"/>
            <ac:spMk id="2" creationId="{7376DF38-AC73-A1AC-7772-ED5453C7715E}"/>
          </ac:spMkLst>
        </pc:spChg>
      </pc:sldChg>
      <pc:sldChg chg="modSp mod">
        <pc:chgData name="Nestor Zamora" userId="a0e79c5800b64606" providerId="LiveId" clId="{C9B2918C-F595-4EF8-A665-9F75FED1AF6F}" dt="2025-05-27T10:06:29.522" v="95" actId="20577"/>
        <pc:sldMkLst>
          <pc:docMk/>
          <pc:sldMk cId="2462994431" sldId="686"/>
        </pc:sldMkLst>
        <pc:spChg chg="mod">
          <ac:chgData name="Nestor Zamora" userId="a0e79c5800b64606" providerId="LiveId" clId="{C9B2918C-F595-4EF8-A665-9F75FED1AF6F}" dt="2025-05-27T10:06:29.522" v="95" actId="20577"/>
          <ac:spMkLst>
            <pc:docMk/>
            <pc:sldMk cId="2462994431" sldId="686"/>
            <ac:spMk id="2" creationId="{DE875203-6593-8BE9-3AE4-423FFF0DA404}"/>
          </ac:spMkLst>
        </pc:spChg>
      </pc:sldChg>
      <pc:sldChg chg="modSp mod">
        <pc:chgData name="Nestor Zamora" userId="a0e79c5800b64606" providerId="LiveId" clId="{C9B2918C-F595-4EF8-A665-9F75FED1AF6F}" dt="2025-05-27T10:39:46.091" v="609" actId="20577"/>
        <pc:sldMkLst>
          <pc:docMk/>
          <pc:sldMk cId="55379188" sldId="687"/>
        </pc:sldMkLst>
        <pc:spChg chg="mod">
          <ac:chgData name="Nestor Zamora" userId="a0e79c5800b64606" providerId="LiveId" clId="{C9B2918C-F595-4EF8-A665-9F75FED1AF6F}" dt="2025-05-27T10:39:46.091" v="609" actId="20577"/>
          <ac:spMkLst>
            <pc:docMk/>
            <pc:sldMk cId="55379188" sldId="687"/>
            <ac:spMk id="3" creationId="{54A40DAA-0360-D3FE-ECCC-D5BCE9677A42}"/>
          </ac:spMkLst>
        </pc:spChg>
      </pc:sldChg>
      <pc:sldChg chg="modSp mod">
        <pc:chgData name="Nestor Zamora" userId="a0e79c5800b64606" providerId="LiveId" clId="{C9B2918C-F595-4EF8-A665-9F75FED1AF6F}" dt="2025-05-27T10:13:27.025" v="198" actId="20577"/>
        <pc:sldMkLst>
          <pc:docMk/>
          <pc:sldMk cId="3518783091" sldId="724"/>
        </pc:sldMkLst>
        <pc:spChg chg="mod">
          <ac:chgData name="Nestor Zamora" userId="a0e79c5800b64606" providerId="LiveId" clId="{C9B2918C-F595-4EF8-A665-9F75FED1AF6F}" dt="2025-05-27T10:02:08.162" v="37" actId="20577"/>
          <ac:spMkLst>
            <pc:docMk/>
            <pc:sldMk cId="3518783091" sldId="724"/>
            <ac:spMk id="3" creationId="{BC9D63BD-5713-ADB4-FD3C-FF6BFB3B9C00}"/>
          </ac:spMkLst>
        </pc:spChg>
        <pc:spChg chg="mod">
          <ac:chgData name="Nestor Zamora" userId="a0e79c5800b64606" providerId="LiveId" clId="{C9B2918C-F595-4EF8-A665-9F75FED1AF6F}" dt="2025-05-27T10:13:27.025" v="198" actId="20577"/>
          <ac:spMkLst>
            <pc:docMk/>
            <pc:sldMk cId="3518783091" sldId="724"/>
            <ac:spMk id="7" creationId="{00000000-0000-0000-0000-000000000000}"/>
          </ac:spMkLst>
        </pc:spChg>
      </pc:sldChg>
      <pc:sldChg chg="modSp mod">
        <pc:chgData name="Nestor Zamora" userId="a0e79c5800b64606" providerId="LiveId" clId="{C9B2918C-F595-4EF8-A665-9F75FED1AF6F}" dt="2025-05-27T10:13:19.790" v="190" actId="20577"/>
        <pc:sldMkLst>
          <pc:docMk/>
          <pc:sldMk cId="2788418083" sldId="725"/>
        </pc:sldMkLst>
        <pc:spChg chg="mod">
          <ac:chgData name="Nestor Zamora" userId="a0e79c5800b64606" providerId="LiveId" clId="{C9B2918C-F595-4EF8-A665-9F75FED1AF6F}" dt="2025-05-27T10:02:00.255" v="35" actId="20577"/>
          <ac:spMkLst>
            <pc:docMk/>
            <pc:sldMk cId="2788418083" sldId="725"/>
            <ac:spMk id="5" creationId="{A54B6372-7471-D37B-5737-8CB5301EAF19}"/>
          </ac:spMkLst>
        </pc:spChg>
        <pc:spChg chg="mod">
          <ac:chgData name="Nestor Zamora" userId="a0e79c5800b64606" providerId="LiveId" clId="{C9B2918C-F595-4EF8-A665-9F75FED1AF6F}" dt="2025-05-27T10:13:19.790" v="190" actId="20577"/>
          <ac:spMkLst>
            <pc:docMk/>
            <pc:sldMk cId="2788418083" sldId="725"/>
            <ac:spMk id="7" creationId="{00000000-0000-0000-0000-000000000000}"/>
          </ac:spMkLst>
        </pc:spChg>
      </pc:sldChg>
      <pc:sldChg chg="modSp mod">
        <pc:chgData name="Nestor Zamora" userId="a0e79c5800b64606" providerId="LiveId" clId="{C9B2918C-F595-4EF8-A665-9F75FED1AF6F}" dt="2025-05-27T10:07:56.621" v="115" actId="20577"/>
        <pc:sldMkLst>
          <pc:docMk/>
          <pc:sldMk cId="2124640179" sldId="748"/>
        </pc:sldMkLst>
        <pc:spChg chg="mod">
          <ac:chgData name="Nestor Zamora" userId="a0e79c5800b64606" providerId="LiveId" clId="{C9B2918C-F595-4EF8-A665-9F75FED1AF6F}" dt="2025-05-27T10:07:49.604" v="111" actId="20577"/>
          <ac:spMkLst>
            <pc:docMk/>
            <pc:sldMk cId="2124640179" sldId="748"/>
            <ac:spMk id="2" creationId="{975C79EE-EBC8-6B77-D606-7BA89E0899C1}"/>
          </ac:spMkLst>
        </pc:spChg>
        <pc:spChg chg="mod">
          <ac:chgData name="Nestor Zamora" userId="a0e79c5800b64606" providerId="LiveId" clId="{C9B2918C-F595-4EF8-A665-9F75FED1AF6F}" dt="2025-05-27T10:01:10.463" v="21" actId="20577"/>
          <ac:spMkLst>
            <pc:docMk/>
            <pc:sldMk cId="2124640179" sldId="748"/>
            <ac:spMk id="5" creationId="{2FB7F70C-7530-6022-0567-4D47B09AB47A}"/>
          </ac:spMkLst>
        </pc:spChg>
        <pc:spChg chg="mod">
          <ac:chgData name="Nestor Zamora" userId="a0e79c5800b64606" providerId="LiveId" clId="{C9B2918C-F595-4EF8-A665-9F75FED1AF6F}" dt="2025-05-27T10:07:56.621" v="115" actId="20577"/>
          <ac:spMkLst>
            <pc:docMk/>
            <pc:sldMk cId="2124640179" sldId="748"/>
            <ac:spMk id="6" creationId="{936625CE-5A90-03BC-017A-AD95070347A8}"/>
          </ac:spMkLst>
        </pc:spChg>
      </pc:sldChg>
      <pc:sldChg chg="modSp mod">
        <pc:chgData name="Nestor Zamora" userId="a0e79c5800b64606" providerId="LiveId" clId="{C9B2918C-F595-4EF8-A665-9F75FED1AF6F}" dt="2025-05-27T10:08:31.273" v="129" actId="20577"/>
        <pc:sldMkLst>
          <pc:docMk/>
          <pc:sldMk cId="545275444" sldId="749"/>
        </pc:sldMkLst>
        <pc:spChg chg="mod">
          <ac:chgData name="Nestor Zamora" userId="a0e79c5800b64606" providerId="LiveId" clId="{C9B2918C-F595-4EF8-A665-9F75FED1AF6F}" dt="2025-05-27T10:08:03.676" v="117" actId="20577"/>
          <ac:spMkLst>
            <pc:docMk/>
            <pc:sldMk cId="545275444" sldId="749"/>
            <ac:spMk id="2" creationId="{392CDD34-66C9-F7DE-6838-E70BBB5AE128}"/>
          </ac:spMkLst>
        </pc:spChg>
        <pc:spChg chg="mod">
          <ac:chgData name="Nestor Zamora" userId="a0e79c5800b64606" providerId="LiveId" clId="{C9B2918C-F595-4EF8-A665-9F75FED1AF6F}" dt="2025-05-27T10:01:18.855" v="23" actId="20577"/>
          <ac:spMkLst>
            <pc:docMk/>
            <pc:sldMk cId="545275444" sldId="749"/>
            <ac:spMk id="5" creationId="{832ACFB9-32CC-B036-BD80-547A1687D1EC}"/>
          </ac:spMkLst>
        </pc:spChg>
        <pc:spChg chg="mod">
          <ac:chgData name="Nestor Zamora" userId="a0e79c5800b64606" providerId="LiveId" clId="{C9B2918C-F595-4EF8-A665-9F75FED1AF6F}" dt="2025-05-27T10:08:31.273" v="129" actId="20577"/>
          <ac:spMkLst>
            <pc:docMk/>
            <pc:sldMk cId="545275444" sldId="749"/>
            <ac:spMk id="6" creationId="{EFED7715-206C-CF59-318B-45188245CB75}"/>
          </ac:spMkLst>
        </pc:spChg>
      </pc:sldChg>
      <pc:sldChg chg="modSp mod">
        <pc:chgData name="Nestor Zamora" userId="a0e79c5800b64606" providerId="LiveId" clId="{C9B2918C-F595-4EF8-A665-9F75FED1AF6F}" dt="2025-05-27T10:18:18.913" v="371" actId="20577"/>
        <pc:sldMkLst>
          <pc:docMk/>
          <pc:sldMk cId="1584189091" sldId="750"/>
        </pc:sldMkLst>
        <pc:spChg chg="mod">
          <ac:chgData name="Nestor Zamora" userId="a0e79c5800b64606" providerId="LiveId" clId="{C9B2918C-F595-4EF8-A665-9F75FED1AF6F}" dt="2025-05-27T10:18:15.590" v="363" actId="20577"/>
          <ac:spMkLst>
            <pc:docMk/>
            <pc:sldMk cId="1584189091" sldId="750"/>
            <ac:spMk id="2" creationId="{FA1EAED4-0800-13DB-A86E-DFC79FD3C049}"/>
          </ac:spMkLst>
        </pc:spChg>
        <pc:spChg chg="mod">
          <ac:chgData name="Nestor Zamora" userId="a0e79c5800b64606" providerId="LiveId" clId="{C9B2918C-F595-4EF8-A665-9F75FED1AF6F}" dt="2025-05-27T10:03:21.977" v="45" actId="20577"/>
          <ac:spMkLst>
            <pc:docMk/>
            <pc:sldMk cId="1584189091" sldId="750"/>
            <ac:spMk id="5" creationId="{F9624B21-2A17-0BDE-404A-308FE3B03861}"/>
          </ac:spMkLst>
        </pc:spChg>
        <pc:spChg chg="mod">
          <ac:chgData name="Nestor Zamora" userId="a0e79c5800b64606" providerId="LiveId" clId="{C9B2918C-F595-4EF8-A665-9F75FED1AF6F}" dt="2025-05-27T10:18:18.913" v="371" actId="20577"/>
          <ac:spMkLst>
            <pc:docMk/>
            <pc:sldMk cId="1584189091" sldId="750"/>
            <ac:spMk id="6" creationId="{557ADF33-6C65-E0F1-66D9-9E0315BB90DA}"/>
          </ac:spMkLst>
        </pc:spChg>
      </pc:sldChg>
      <pc:sldChg chg="modSp mod">
        <pc:chgData name="Nestor Zamora" userId="a0e79c5800b64606" providerId="LiveId" clId="{C9B2918C-F595-4EF8-A665-9F75FED1AF6F}" dt="2025-05-27T10:11:17.019" v="156" actId="1076"/>
        <pc:sldMkLst>
          <pc:docMk/>
          <pc:sldMk cId="1361034726" sldId="766"/>
        </pc:sldMkLst>
        <pc:spChg chg="mod">
          <ac:chgData name="Nestor Zamora" userId="a0e79c5800b64606" providerId="LiveId" clId="{C9B2918C-F595-4EF8-A665-9F75FED1AF6F}" dt="2025-05-27T10:08:45.107" v="131" actId="20577"/>
          <ac:spMkLst>
            <pc:docMk/>
            <pc:sldMk cId="1361034726" sldId="766"/>
            <ac:spMk id="2" creationId="{9A8B14F1-F121-0FDB-96BA-A8FB85C43B4A}"/>
          </ac:spMkLst>
        </pc:spChg>
        <pc:spChg chg="mod">
          <ac:chgData name="Nestor Zamora" userId="a0e79c5800b64606" providerId="LiveId" clId="{C9B2918C-F595-4EF8-A665-9F75FED1AF6F}" dt="2025-05-27T10:01:26.428" v="25" actId="20577"/>
          <ac:spMkLst>
            <pc:docMk/>
            <pc:sldMk cId="1361034726" sldId="766"/>
            <ac:spMk id="5" creationId="{6E09993C-258A-2EBF-ADE8-534B11C27157}"/>
          </ac:spMkLst>
        </pc:spChg>
        <pc:spChg chg="mod">
          <ac:chgData name="Nestor Zamora" userId="a0e79c5800b64606" providerId="LiveId" clId="{C9B2918C-F595-4EF8-A665-9F75FED1AF6F}" dt="2025-05-27T10:11:08.664" v="153" actId="20577"/>
          <ac:spMkLst>
            <pc:docMk/>
            <pc:sldMk cId="1361034726" sldId="766"/>
            <ac:spMk id="6" creationId="{141F8346-1941-2A6B-1A81-A6C7CE5AC3FE}"/>
          </ac:spMkLst>
        </pc:spChg>
        <pc:picChg chg="mod">
          <ac:chgData name="Nestor Zamora" userId="a0e79c5800b64606" providerId="LiveId" clId="{C9B2918C-F595-4EF8-A665-9F75FED1AF6F}" dt="2025-05-27T10:11:17.019" v="156" actId="1076"/>
          <ac:picMkLst>
            <pc:docMk/>
            <pc:sldMk cId="1361034726" sldId="766"/>
            <ac:picMk id="21" creationId="{66DC4803-8A01-FC81-4DF6-803B7CECC839}"/>
          </ac:picMkLst>
        </pc:picChg>
      </pc:sldChg>
      <pc:sldChg chg="modSp mod ord">
        <pc:chgData name="Nestor Zamora" userId="a0e79c5800b64606" providerId="LiveId" clId="{C9B2918C-F595-4EF8-A665-9F75FED1AF6F}" dt="2025-05-27T10:10:55.652" v="149" actId="20577"/>
        <pc:sldMkLst>
          <pc:docMk/>
          <pc:sldMk cId="327764161" sldId="767"/>
        </pc:sldMkLst>
        <pc:spChg chg="mod">
          <ac:chgData name="Nestor Zamora" userId="a0e79c5800b64606" providerId="LiveId" clId="{C9B2918C-F595-4EF8-A665-9F75FED1AF6F}" dt="2025-05-27T10:10:55.652" v="149" actId="20577"/>
          <ac:spMkLst>
            <pc:docMk/>
            <pc:sldMk cId="327764161" sldId="767"/>
            <ac:spMk id="2" creationId="{C63C9057-E1BD-1119-8C13-6EDE39199FAD}"/>
          </ac:spMkLst>
        </pc:spChg>
        <pc:spChg chg="mod">
          <ac:chgData name="Nestor Zamora" userId="a0e79c5800b64606" providerId="LiveId" clId="{C9B2918C-F595-4EF8-A665-9F75FED1AF6F}" dt="2025-05-27T10:01:38.966" v="29" actId="20577"/>
          <ac:spMkLst>
            <pc:docMk/>
            <pc:sldMk cId="327764161" sldId="767"/>
            <ac:spMk id="5" creationId="{560E73FC-C6B7-8F4C-CF35-ED1E4E2EA64E}"/>
          </ac:spMkLst>
        </pc:spChg>
        <pc:spChg chg="mod">
          <ac:chgData name="Nestor Zamora" userId="a0e79c5800b64606" providerId="LiveId" clId="{C9B2918C-F595-4EF8-A665-9F75FED1AF6F}" dt="2025-05-27T10:10:50.522" v="147"/>
          <ac:spMkLst>
            <pc:docMk/>
            <pc:sldMk cId="327764161" sldId="767"/>
            <ac:spMk id="6" creationId="{A1A4DCC6-4D77-247A-F615-548F98A2748D}"/>
          </ac:spMkLst>
        </pc:spChg>
      </pc:sldChg>
      <pc:sldChg chg="modSp mod">
        <pc:chgData name="Nestor Zamora" userId="a0e79c5800b64606" providerId="LiveId" clId="{C9B2918C-F595-4EF8-A665-9F75FED1AF6F}" dt="2025-05-27T10:12:19.582" v="173" actId="20577"/>
        <pc:sldMkLst>
          <pc:docMk/>
          <pc:sldMk cId="1117912590" sldId="768"/>
        </pc:sldMkLst>
        <pc:spChg chg="mod">
          <ac:chgData name="Nestor Zamora" userId="a0e79c5800b64606" providerId="LiveId" clId="{C9B2918C-F595-4EF8-A665-9F75FED1AF6F}" dt="2025-05-27T10:12:13.651" v="163" actId="20577"/>
          <ac:spMkLst>
            <pc:docMk/>
            <pc:sldMk cId="1117912590" sldId="768"/>
            <ac:spMk id="2" creationId="{53D7FE96-C9A7-3AEF-8107-19A8ACA9B103}"/>
          </ac:spMkLst>
        </pc:spChg>
        <pc:spChg chg="mod">
          <ac:chgData name="Nestor Zamora" userId="a0e79c5800b64606" providerId="LiveId" clId="{C9B2918C-F595-4EF8-A665-9F75FED1AF6F}" dt="2025-05-27T10:01:46.769" v="31" actId="20577"/>
          <ac:spMkLst>
            <pc:docMk/>
            <pc:sldMk cId="1117912590" sldId="768"/>
            <ac:spMk id="5" creationId="{FB190997-41AA-7A17-2393-9A584FB9C350}"/>
          </ac:spMkLst>
        </pc:spChg>
        <pc:spChg chg="mod">
          <ac:chgData name="Nestor Zamora" userId="a0e79c5800b64606" providerId="LiveId" clId="{C9B2918C-F595-4EF8-A665-9F75FED1AF6F}" dt="2025-05-27T10:12:19.582" v="173" actId="20577"/>
          <ac:spMkLst>
            <pc:docMk/>
            <pc:sldMk cId="1117912590" sldId="768"/>
            <ac:spMk id="6" creationId="{0FA33688-32D6-3210-E1DD-AD1FC9072A9F}"/>
          </ac:spMkLst>
        </pc:spChg>
      </pc:sldChg>
      <pc:sldChg chg="delSp modSp mod">
        <pc:chgData name="Nestor Zamora" userId="a0e79c5800b64606" providerId="LiveId" clId="{C9B2918C-F595-4EF8-A665-9F75FED1AF6F}" dt="2025-05-27T10:15:34.484" v="272" actId="14100"/>
        <pc:sldMkLst>
          <pc:docMk/>
          <pc:sldMk cId="2681563919" sldId="770"/>
        </pc:sldMkLst>
        <pc:spChg chg="del topLvl">
          <ac:chgData name="Nestor Zamora" userId="a0e79c5800b64606" providerId="LiveId" clId="{C9B2918C-F595-4EF8-A665-9F75FED1AF6F}" dt="2025-05-27T10:14:29.021" v="227" actId="478"/>
          <ac:spMkLst>
            <pc:docMk/>
            <pc:sldMk cId="2681563919" sldId="770"/>
            <ac:spMk id="2" creationId="{F8F313F2-3CBC-0A00-8083-0F258513C79C}"/>
          </ac:spMkLst>
        </pc:spChg>
        <pc:spChg chg="topLvl">
          <ac:chgData name="Nestor Zamora" userId="a0e79c5800b64606" providerId="LiveId" clId="{C9B2918C-F595-4EF8-A665-9F75FED1AF6F}" dt="2025-05-27T10:14:29.021" v="227" actId="478"/>
          <ac:spMkLst>
            <pc:docMk/>
            <pc:sldMk cId="2681563919" sldId="770"/>
            <ac:spMk id="4" creationId="{538D022F-6ECA-7D0A-5E0F-453DEA1EF30F}"/>
          </ac:spMkLst>
        </pc:spChg>
        <pc:spChg chg="mod">
          <ac:chgData name="Nestor Zamora" userId="a0e79c5800b64606" providerId="LiveId" clId="{C9B2918C-F595-4EF8-A665-9F75FED1AF6F}" dt="2025-05-27T10:02:40.143" v="39" actId="20577"/>
          <ac:spMkLst>
            <pc:docMk/>
            <pc:sldMk cId="2681563919" sldId="770"/>
            <ac:spMk id="5" creationId="{BD06C04E-AA3D-0267-2D03-3AD4FCEA400D}"/>
          </ac:spMkLst>
        </pc:spChg>
        <pc:spChg chg="mod">
          <ac:chgData name="Nestor Zamora" userId="a0e79c5800b64606" providerId="LiveId" clId="{C9B2918C-F595-4EF8-A665-9F75FED1AF6F}" dt="2025-05-27T10:15:28.078" v="271" actId="20577"/>
          <ac:spMkLst>
            <pc:docMk/>
            <pc:sldMk cId="2681563919" sldId="770"/>
            <ac:spMk id="6" creationId="{31F90040-5BBA-8B4B-DC92-4C5B988437DB}"/>
          </ac:spMkLst>
        </pc:spChg>
        <pc:grpChg chg="del">
          <ac:chgData name="Nestor Zamora" userId="a0e79c5800b64606" providerId="LiveId" clId="{C9B2918C-F595-4EF8-A665-9F75FED1AF6F}" dt="2025-05-27T10:14:29.021" v="227" actId="478"/>
          <ac:grpSpMkLst>
            <pc:docMk/>
            <pc:sldMk cId="2681563919" sldId="770"/>
            <ac:grpSpMk id="7" creationId="{FD1F7245-1DE5-761B-B883-A5345F7C115F}"/>
          </ac:grpSpMkLst>
        </pc:grpChg>
        <pc:picChg chg="mod">
          <ac:chgData name="Nestor Zamora" userId="a0e79c5800b64606" providerId="LiveId" clId="{C9B2918C-F595-4EF8-A665-9F75FED1AF6F}" dt="2025-05-27T10:15:34.484" v="272" actId="14100"/>
          <ac:picMkLst>
            <pc:docMk/>
            <pc:sldMk cId="2681563919" sldId="770"/>
            <ac:picMk id="8194" creationId="{3C1BCD23-00E1-F970-DF8D-EC11DE528CC1}"/>
          </ac:picMkLst>
        </pc:picChg>
      </pc:sldChg>
      <pc:sldChg chg="delSp modSp mod">
        <pc:chgData name="Nestor Zamora" userId="a0e79c5800b64606" providerId="LiveId" clId="{C9B2918C-F595-4EF8-A665-9F75FED1AF6F}" dt="2025-05-27T10:17:21.567" v="335" actId="14100"/>
        <pc:sldMkLst>
          <pc:docMk/>
          <pc:sldMk cId="1463729057" sldId="771"/>
        </pc:sldMkLst>
        <pc:spChg chg="del topLvl">
          <ac:chgData name="Nestor Zamora" userId="a0e79c5800b64606" providerId="LiveId" clId="{C9B2918C-F595-4EF8-A665-9F75FED1AF6F}" dt="2025-05-27T10:16:59.141" v="293" actId="478"/>
          <ac:spMkLst>
            <pc:docMk/>
            <pc:sldMk cId="1463729057" sldId="771"/>
            <ac:spMk id="2" creationId="{D8C61A8C-DA31-E4DD-22A7-52B07A7B1883}"/>
          </ac:spMkLst>
        </pc:spChg>
        <pc:spChg chg="topLvl">
          <ac:chgData name="Nestor Zamora" userId="a0e79c5800b64606" providerId="LiveId" clId="{C9B2918C-F595-4EF8-A665-9F75FED1AF6F}" dt="2025-05-27T10:16:59.141" v="293" actId="478"/>
          <ac:spMkLst>
            <pc:docMk/>
            <pc:sldMk cId="1463729057" sldId="771"/>
            <ac:spMk id="4" creationId="{8B6F22CE-FE7B-618E-524A-7E3962B65529}"/>
          </ac:spMkLst>
        </pc:spChg>
        <pc:spChg chg="mod">
          <ac:chgData name="Nestor Zamora" userId="a0e79c5800b64606" providerId="LiveId" clId="{C9B2918C-F595-4EF8-A665-9F75FED1AF6F}" dt="2025-05-27T10:02:51.470" v="41" actId="20577"/>
          <ac:spMkLst>
            <pc:docMk/>
            <pc:sldMk cId="1463729057" sldId="771"/>
            <ac:spMk id="5" creationId="{319B6137-495C-9278-F76D-CC51802551C0}"/>
          </ac:spMkLst>
        </pc:spChg>
        <pc:spChg chg="mod">
          <ac:chgData name="Nestor Zamora" userId="a0e79c5800b64606" providerId="LiveId" clId="{C9B2918C-F595-4EF8-A665-9F75FED1AF6F}" dt="2025-05-27T10:17:16.662" v="334" actId="20577"/>
          <ac:spMkLst>
            <pc:docMk/>
            <pc:sldMk cId="1463729057" sldId="771"/>
            <ac:spMk id="6" creationId="{D2D67451-CB41-CA86-1FDB-24B51AACBA2A}"/>
          </ac:spMkLst>
        </pc:spChg>
        <pc:grpChg chg="del">
          <ac:chgData name="Nestor Zamora" userId="a0e79c5800b64606" providerId="LiveId" clId="{C9B2918C-F595-4EF8-A665-9F75FED1AF6F}" dt="2025-05-27T10:16:59.141" v="293" actId="478"/>
          <ac:grpSpMkLst>
            <pc:docMk/>
            <pc:sldMk cId="1463729057" sldId="771"/>
            <ac:grpSpMk id="7" creationId="{6E670C0E-242E-9677-459D-136BF5445AAF}"/>
          </ac:grpSpMkLst>
        </pc:grpChg>
        <pc:graphicFrameChg chg="mod modGraphic">
          <ac:chgData name="Nestor Zamora" userId="a0e79c5800b64606" providerId="LiveId" clId="{C9B2918C-F595-4EF8-A665-9F75FED1AF6F}" dt="2025-05-27T10:17:21.567" v="335" actId="14100"/>
          <ac:graphicFrameMkLst>
            <pc:docMk/>
            <pc:sldMk cId="1463729057" sldId="771"/>
            <ac:graphicFrameMk id="10" creationId="{92A15C3E-B494-E823-8263-0B06D74684CB}"/>
          </ac:graphicFrameMkLst>
        </pc:graphicFrameChg>
      </pc:sldChg>
      <pc:sldChg chg="addSp modSp mod">
        <pc:chgData name="Nestor Zamora" userId="a0e79c5800b64606" providerId="LiveId" clId="{C9B2918C-F595-4EF8-A665-9F75FED1AF6F}" dt="2025-05-27T09:57:56.933" v="14" actId="1076"/>
        <pc:sldMkLst>
          <pc:docMk/>
          <pc:sldMk cId="1225872051" sldId="775"/>
        </pc:sldMkLst>
        <pc:spChg chg="mod">
          <ac:chgData name="Nestor Zamora" userId="a0e79c5800b64606" providerId="LiveId" clId="{C9B2918C-F595-4EF8-A665-9F75FED1AF6F}" dt="2025-05-27T09:57:19.568" v="11" actId="14100"/>
          <ac:spMkLst>
            <pc:docMk/>
            <pc:sldMk cId="1225872051" sldId="775"/>
            <ac:spMk id="7" creationId="{00000000-0000-0000-0000-000000000000}"/>
          </ac:spMkLst>
        </pc:spChg>
        <pc:picChg chg="add mod">
          <ac:chgData name="Nestor Zamora" userId="a0e79c5800b64606" providerId="LiveId" clId="{C9B2918C-F595-4EF8-A665-9F75FED1AF6F}" dt="2025-05-27T09:57:03.210" v="7" actId="14100"/>
          <ac:picMkLst>
            <pc:docMk/>
            <pc:sldMk cId="1225872051" sldId="775"/>
            <ac:picMk id="1026" creationId="{810E618B-8C93-255F-0016-C02D5708785B}"/>
          </ac:picMkLst>
        </pc:picChg>
        <pc:picChg chg="add mod">
          <ac:chgData name="Nestor Zamora" userId="a0e79c5800b64606" providerId="LiveId" clId="{C9B2918C-F595-4EF8-A665-9F75FED1AF6F}" dt="2025-05-27T09:57:19.568" v="11" actId="14100"/>
          <ac:picMkLst>
            <pc:docMk/>
            <pc:sldMk cId="1225872051" sldId="775"/>
            <ac:picMk id="1028" creationId="{4526E32C-B8C5-58C9-C166-D5080D9F7368}"/>
          </ac:picMkLst>
        </pc:picChg>
        <pc:picChg chg="add mod">
          <ac:chgData name="Nestor Zamora" userId="a0e79c5800b64606" providerId="LiveId" clId="{C9B2918C-F595-4EF8-A665-9F75FED1AF6F}" dt="2025-05-27T09:57:56.933" v="14" actId="1076"/>
          <ac:picMkLst>
            <pc:docMk/>
            <pc:sldMk cId="1225872051" sldId="775"/>
            <ac:picMk id="1030" creationId="{F7C3ABD3-F0A9-48E7-DC43-7052FB8E0452}"/>
          </ac:picMkLst>
        </pc:picChg>
      </pc:sldChg>
      <pc:sldChg chg="modSp mod">
        <pc:chgData name="Nestor Zamora" userId="a0e79c5800b64606" providerId="LiveId" clId="{C9B2918C-F595-4EF8-A665-9F75FED1AF6F}" dt="2025-05-27T10:17:51.766" v="361" actId="20577"/>
        <pc:sldMkLst>
          <pc:docMk/>
          <pc:sldMk cId="3372789766" sldId="776"/>
        </pc:sldMkLst>
        <pc:spChg chg="mod">
          <ac:chgData name="Nestor Zamora" userId="a0e79c5800b64606" providerId="LiveId" clId="{C9B2918C-F595-4EF8-A665-9F75FED1AF6F}" dt="2025-05-27T10:17:43.473" v="351" actId="20577"/>
          <ac:spMkLst>
            <pc:docMk/>
            <pc:sldMk cId="3372789766" sldId="776"/>
            <ac:spMk id="2" creationId="{35EE2605-C87D-A971-EF6D-3E4ED622FA93}"/>
          </ac:spMkLst>
        </pc:spChg>
        <pc:spChg chg="mod">
          <ac:chgData name="Nestor Zamora" userId="a0e79c5800b64606" providerId="LiveId" clId="{C9B2918C-F595-4EF8-A665-9F75FED1AF6F}" dt="2025-05-27T10:03:11.842" v="43" actId="20577"/>
          <ac:spMkLst>
            <pc:docMk/>
            <pc:sldMk cId="3372789766" sldId="776"/>
            <ac:spMk id="5" creationId="{C85BFCA3-4CCE-2C5C-D68F-D59A8B5A542F}"/>
          </ac:spMkLst>
        </pc:spChg>
        <pc:spChg chg="mod">
          <ac:chgData name="Nestor Zamora" userId="a0e79c5800b64606" providerId="LiveId" clId="{C9B2918C-F595-4EF8-A665-9F75FED1AF6F}" dt="2025-05-27T10:17:51.766" v="361" actId="20577"/>
          <ac:spMkLst>
            <pc:docMk/>
            <pc:sldMk cId="3372789766" sldId="776"/>
            <ac:spMk id="6" creationId="{A1F07963-3D11-D726-DEC1-78F17CDB57E6}"/>
          </ac:spMkLst>
        </pc:spChg>
      </pc:sldChg>
      <pc:sldChg chg="modSp mod">
        <pc:chgData name="Nestor Zamora" userId="a0e79c5800b64606" providerId="LiveId" clId="{C9B2918C-F595-4EF8-A665-9F75FED1AF6F}" dt="2025-05-27T10:19:33.451" v="406" actId="20577"/>
        <pc:sldMkLst>
          <pc:docMk/>
          <pc:sldMk cId="3032542030" sldId="777"/>
        </pc:sldMkLst>
        <pc:spChg chg="mod">
          <ac:chgData name="Nestor Zamora" userId="a0e79c5800b64606" providerId="LiveId" clId="{C9B2918C-F595-4EF8-A665-9F75FED1AF6F}" dt="2025-05-27T10:19:30.086" v="398" actId="20577"/>
          <ac:spMkLst>
            <pc:docMk/>
            <pc:sldMk cId="3032542030" sldId="777"/>
            <ac:spMk id="2" creationId="{DA1E4B71-F8EB-5BEE-28BC-0F19D17A7F13}"/>
          </ac:spMkLst>
        </pc:spChg>
        <pc:spChg chg="mod">
          <ac:chgData name="Nestor Zamora" userId="a0e79c5800b64606" providerId="LiveId" clId="{C9B2918C-F595-4EF8-A665-9F75FED1AF6F}" dt="2025-05-27T10:07:18.967" v="107" actId="20577"/>
          <ac:spMkLst>
            <pc:docMk/>
            <pc:sldMk cId="3032542030" sldId="777"/>
            <ac:spMk id="5" creationId="{353F98A4-E0D7-CAA8-946A-DAE0B53CDF34}"/>
          </ac:spMkLst>
        </pc:spChg>
        <pc:spChg chg="mod">
          <ac:chgData name="Nestor Zamora" userId="a0e79c5800b64606" providerId="LiveId" clId="{C9B2918C-F595-4EF8-A665-9F75FED1AF6F}" dt="2025-05-27T10:19:33.451" v="406" actId="20577"/>
          <ac:spMkLst>
            <pc:docMk/>
            <pc:sldMk cId="3032542030" sldId="777"/>
            <ac:spMk id="6" creationId="{38B734FE-2EB9-70E0-77FE-1D655F0664AC}"/>
          </ac:spMkLst>
        </pc:spChg>
      </pc:sldChg>
      <pc:sldChg chg="modSp mod">
        <pc:chgData name="Nestor Zamora" userId="a0e79c5800b64606" providerId="LiveId" clId="{C9B2918C-F595-4EF8-A665-9F75FED1AF6F}" dt="2025-05-27T10:20:23.518" v="426" actId="20577"/>
        <pc:sldMkLst>
          <pc:docMk/>
          <pc:sldMk cId="3320582682" sldId="778"/>
        </pc:sldMkLst>
        <pc:spChg chg="mod">
          <ac:chgData name="Nestor Zamora" userId="a0e79c5800b64606" providerId="LiveId" clId="{C9B2918C-F595-4EF8-A665-9F75FED1AF6F}" dt="2025-05-27T10:20:19.868" v="418" actId="20577"/>
          <ac:spMkLst>
            <pc:docMk/>
            <pc:sldMk cId="3320582682" sldId="778"/>
            <ac:spMk id="2" creationId="{E369EF3F-C9AC-3127-F4D2-E5061FD2FE91}"/>
          </ac:spMkLst>
        </pc:spChg>
        <pc:spChg chg="mod">
          <ac:chgData name="Nestor Zamora" userId="a0e79c5800b64606" providerId="LiveId" clId="{C9B2918C-F595-4EF8-A665-9F75FED1AF6F}" dt="2025-05-27T10:03:38.171" v="49" actId="20577"/>
          <ac:spMkLst>
            <pc:docMk/>
            <pc:sldMk cId="3320582682" sldId="778"/>
            <ac:spMk id="5" creationId="{D5D0D675-19D7-33DC-C615-B1989976B84B}"/>
          </ac:spMkLst>
        </pc:spChg>
        <pc:spChg chg="mod">
          <ac:chgData name="Nestor Zamora" userId="a0e79c5800b64606" providerId="LiveId" clId="{C9B2918C-F595-4EF8-A665-9F75FED1AF6F}" dt="2025-05-27T10:20:23.518" v="426" actId="20577"/>
          <ac:spMkLst>
            <pc:docMk/>
            <pc:sldMk cId="3320582682" sldId="778"/>
            <ac:spMk id="6" creationId="{75A69064-9AB1-1014-AB62-CD8350D8CC40}"/>
          </ac:spMkLst>
        </pc:spChg>
      </pc:sldChg>
      <pc:sldChg chg="modSp mod">
        <pc:chgData name="Nestor Zamora" userId="a0e79c5800b64606" providerId="LiveId" clId="{C9B2918C-F595-4EF8-A665-9F75FED1AF6F}" dt="2025-05-27T10:20:51.955" v="432" actId="20577"/>
        <pc:sldMkLst>
          <pc:docMk/>
          <pc:sldMk cId="580900819" sldId="779"/>
        </pc:sldMkLst>
        <pc:spChg chg="mod">
          <ac:chgData name="Nestor Zamora" userId="a0e79c5800b64606" providerId="LiveId" clId="{C9B2918C-F595-4EF8-A665-9F75FED1AF6F}" dt="2025-05-27T10:20:51.955" v="432" actId="20577"/>
          <ac:spMkLst>
            <pc:docMk/>
            <pc:sldMk cId="580900819" sldId="779"/>
            <ac:spMk id="2" creationId="{D68A05BE-BEF9-0FF9-1CBD-EDAB02F21F3D}"/>
          </ac:spMkLst>
        </pc:spChg>
        <pc:spChg chg="mod">
          <ac:chgData name="Nestor Zamora" userId="a0e79c5800b64606" providerId="LiveId" clId="{C9B2918C-F595-4EF8-A665-9F75FED1AF6F}" dt="2025-05-27T10:03:43.103" v="51" actId="20577"/>
          <ac:spMkLst>
            <pc:docMk/>
            <pc:sldMk cId="580900819" sldId="779"/>
            <ac:spMk id="5" creationId="{804E6ABB-9563-0A26-8DEB-0EC02B7CFDBA}"/>
          </ac:spMkLst>
        </pc:spChg>
      </pc:sldChg>
      <pc:sldChg chg="modSp mod">
        <pc:chgData name="Nestor Zamora" userId="a0e79c5800b64606" providerId="LiveId" clId="{C9B2918C-F595-4EF8-A665-9F75FED1AF6F}" dt="2025-05-27T10:19:20.149" v="396" actId="20577"/>
        <pc:sldMkLst>
          <pc:docMk/>
          <pc:sldMk cId="2144326271" sldId="781"/>
        </pc:sldMkLst>
        <pc:spChg chg="mod">
          <ac:chgData name="Nestor Zamora" userId="a0e79c5800b64606" providerId="LiveId" clId="{C9B2918C-F595-4EF8-A665-9F75FED1AF6F}" dt="2025-05-27T10:07:31.935" v="109" actId="20577"/>
          <ac:spMkLst>
            <pc:docMk/>
            <pc:sldMk cId="2144326271" sldId="781"/>
            <ac:spMk id="2" creationId="{8ACE04BC-79DD-D904-63A3-63C8F8136ADC}"/>
          </ac:spMkLst>
        </pc:spChg>
        <pc:spChg chg="mod">
          <ac:chgData name="Nestor Zamora" userId="a0e79c5800b64606" providerId="LiveId" clId="{C9B2918C-F595-4EF8-A665-9F75FED1AF6F}" dt="2025-05-27T10:19:20.149" v="396" actId="20577"/>
          <ac:spMkLst>
            <pc:docMk/>
            <pc:sldMk cId="2144326271" sldId="781"/>
            <ac:spMk id="7" creationId="{F5E38395-20BA-CE16-C8F4-012634A6F384}"/>
          </ac:spMkLst>
        </pc:spChg>
      </pc:sldChg>
      <pc:sldChg chg="modSp mod">
        <pc:chgData name="Nestor Zamora" userId="a0e79c5800b64606" providerId="LiveId" clId="{C9B2918C-F595-4EF8-A665-9F75FED1AF6F}" dt="2025-05-27T10:19:43.803" v="416" actId="20577"/>
        <pc:sldMkLst>
          <pc:docMk/>
          <pc:sldMk cId="3350993788" sldId="782"/>
        </pc:sldMkLst>
        <pc:spChg chg="mod">
          <ac:chgData name="Nestor Zamora" userId="a0e79c5800b64606" providerId="LiveId" clId="{C9B2918C-F595-4EF8-A665-9F75FED1AF6F}" dt="2025-05-27T10:03:29.599" v="47" actId="20577"/>
          <ac:spMkLst>
            <pc:docMk/>
            <pc:sldMk cId="3350993788" sldId="782"/>
            <ac:spMk id="2" creationId="{5FDCB19B-2C88-E1DA-D467-DD1928C1DA51}"/>
          </ac:spMkLst>
        </pc:spChg>
        <pc:spChg chg="mod">
          <ac:chgData name="Nestor Zamora" userId="a0e79c5800b64606" providerId="LiveId" clId="{C9B2918C-F595-4EF8-A665-9F75FED1AF6F}" dt="2025-05-27T10:19:43.803" v="416" actId="20577"/>
          <ac:spMkLst>
            <pc:docMk/>
            <pc:sldMk cId="3350993788" sldId="782"/>
            <ac:spMk id="7" creationId="{F790062A-D96E-F9B2-5D2E-B2A73FD35271}"/>
          </ac:spMkLst>
        </pc:spChg>
      </pc:sldChg>
      <pc:sldChg chg="modSp mod">
        <pc:chgData name="Nestor Zamora" userId="a0e79c5800b64606" providerId="LiveId" clId="{C9B2918C-F595-4EF8-A665-9F75FED1AF6F}" dt="2025-05-27T10:12:53.579" v="182" actId="20577"/>
        <pc:sldMkLst>
          <pc:docMk/>
          <pc:sldMk cId="2557281521" sldId="783"/>
        </pc:sldMkLst>
        <pc:spChg chg="mod">
          <ac:chgData name="Nestor Zamora" userId="a0e79c5800b64606" providerId="LiveId" clId="{C9B2918C-F595-4EF8-A665-9F75FED1AF6F}" dt="2025-05-27T10:01:54.225" v="33" actId="20577"/>
          <ac:spMkLst>
            <pc:docMk/>
            <pc:sldMk cId="2557281521" sldId="783"/>
            <ac:spMk id="3" creationId="{4D0DD2B9-A4FD-9775-5A0F-FB49C801EF87}"/>
          </ac:spMkLst>
        </pc:spChg>
        <pc:spChg chg="mod">
          <ac:chgData name="Nestor Zamora" userId="a0e79c5800b64606" providerId="LiveId" clId="{C9B2918C-F595-4EF8-A665-9F75FED1AF6F}" dt="2025-05-27T10:12:53.579" v="182" actId="20577"/>
          <ac:spMkLst>
            <pc:docMk/>
            <pc:sldMk cId="2557281521" sldId="783"/>
            <ac:spMk id="7" creationId="{00000000-0000-0000-0000-000000000000}"/>
          </ac:spMkLst>
        </pc:spChg>
      </pc:sldChg>
      <pc:sldChg chg="modSp mod">
        <pc:chgData name="Nestor Zamora" userId="a0e79c5800b64606" providerId="LiveId" clId="{C9B2918C-F595-4EF8-A665-9F75FED1AF6F}" dt="2025-05-27T10:21:02.473" v="438" actId="20577"/>
        <pc:sldMkLst>
          <pc:docMk/>
          <pc:sldMk cId="3733282183" sldId="792"/>
        </pc:sldMkLst>
        <pc:spChg chg="mod">
          <ac:chgData name="Nestor Zamora" userId="a0e79c5800b64606" providerId="LiveId" clId="{C9B2918C-F595-4EF8-A665-9F75FED1AF6F}" dt="2025-05-27T10:21:02.473" v="438" actId="20577"/>
          <ac:spMkLst>
            <pc:docMk/>
            <pc:sldMk cId="3733282183" sldId="792"/>
            <ac:spMk id="3" creationId="{AA511128-39C2-7021-290B-05403F315674}"/>
          </ac:spMkLst>
        </pc:spChg>
        <pc:spChg chg="mod">
          <ac:chgData name="Nestor Zamora" userId="a0e79c5800b64606" providerId="LiveId" clId="{C9B2918C-F595-4EF8-A665-9F75FED1AF6F}" dt="2025-05-27T10:07:11.014" v="105" actId="20577"/>
          <ac:spMkLst>
            <pc:docMk/>
            <pc:sldMk cId="3733282183" sldId="792"/>
            <ac:spMk id="10" creationId="{B0D57145-9D7C-8C2A-8449-6AD08287521D}"/>
          </ac:spMkLst>
        </pc:spChg>
      </pc:sldChg>
      <pc:sldChg chg="modSp mod">
        <pc:chgData name="Nestor Zamora" userId="a0e79c5800b64606" providerId="LiveId" clId="{C9B2918C-F595-4EF8-A665-9F75FED1AF6F}" dt="2025-05-27T10:22:15.567" v="477" actId="20577"/>
        <pc:sldMkLst>
          <pc:docMk/>
          <pc:sldMk cId="1811099420" sldId="794"/>
        </pc:sldMkLst>
        <pc:spChg chg="mod">
          <ac:chgData name="Nestor Zamora" userId="a0e79c5800b64606" providerId="LiveId" clId="{C9B2918C-F595-4EF8-A665-9F75FED1AF6F}" dt="2025-05-27T10:22:15.567" v="477" actId="20577"/>
          <ac:spMkLst>
            <pc:docMk/>
            <pc:sldMk cId="1811099420" sldId="794"/>
            <ac:spMk id="2" creationId="{00000000-0000-0000-0000-000000000000}"/>
          </ac:spMkLst>
        </pc:spChg>
        <pc:spChg chg="mod">
          <ac:chgData name="Nestor Zamora" userId="a0e79c5800b64606" providerId="LiveId" clId="{C9B2918C-F595-4EF8-A665-9F75FED1AF6F}" dt="2025-05-27T10:04:15.274" v="61" actId="20577"/>
          <ac:spMkLst>
            <pc:docMk/>
            <pc:sldMk cId="1811099420" sldId="794"/>
            <ac:spMk id="3" creationId="{8D24F77C-307C-6546-8347-F6FF2C188D5F}"/>
          </ac:spMkLst>
        </pc:spChg>
      </pc:sldChg>
      <pc:sldChg chg="modSp mod">
        <pc:chgData name="Nestor Zamora" userId="a0e79c5800b64606" providerId="LiveId" clId="{C9B2918C-F595-4EF8-A665-9F75FED1AF6F}" dt="2025-05-27T10:21:22.971" v="450" actId="20577"/>
        <pc:sldMkLst>
          <pc:docMk/>
          <pc:sldMk cId="444488126" sldId="795"/>
        </pc:sldMkLst>
        <pc:spChg chg="mod">
          <ac:chgData name="Nestor Zamora" userId="a0e79c5800b64606" providerId="LiveId" clId="{C9B2918C-F595-4EF8-A665-9F75FED1AF6F}" dt="2025-05-27T10:21:22.971" v="450" actId="20577"/>
          <ac:spMkLst>
            <pc:docMk/>
            <pc:sldMk cId="444488126" sldId="795"/>
            <ac:spMk id="2" creationId="{00000000-0000-0000-0000-000000000000}"/>
          </ac:spMkLst>
        </pc:spChg>
        <pc:spChg chg="mod">
          <ac:chgData name="Nestor Zamora" userId="a0e79c5800b64606" providerId="LiveId" clId="{C9B2918C-F595-4EF8-A665-9F75FED1AF6F}" dt="2025-05-27T10:03:57.688" v="55" actId="20577"/>
          <ac:spMkLst>
            <pc:docMk/>
            <pc:sldMk cId="444488126" sldId="795"/>
            <ac:spMk id="3" creationId="{49D6E184-4427-77DA-E3EF-C4F174D520EB}"/>
          </ac:spMkLst>
        </pc:spChg>
      </pc:sldChg>
      <pc:sldChg chg="modSp mod">
        <pc:chgData name="Nestor Zamora" userId="a0e79c5800b64606" providerId="LiveId" clId="{C9B2918C-F595-4EF8-A665-9F75FED1AF6F}" dt="2025-05-27T10:21:49.441" v="464" actId="20577"/>
        <pc:sldMkLst>
          <pc:docMk/>
          <pc:sldMk cId="1849221979" sldId="796"/>
        </pc:sldMkLst>
        <pc:spChg chg="mod">
          <ac:chgData name="Nestor Zamora" userId="a0e79c5800b64606" providerId="LiveId" clId="{C9B2918C-F595-4EF8-A665-9F75FED1AF6F}" dt="2025-05-27T10:21:49.441" v="464" actId="20577"/>
          <ac:spMkLst>
            <pc:docMk/>
            <pc:sldMk cId="1849221979" sldId="796"/>
            <ac:spMk id="2" creationId="{00000000-0000-0000-0000-000000000000}"/>
          </ac:spMkLst>
        </pc:spChg>
        <pc:spChg chg="mod">
          <ac:chgData name="Nestor Zamora" userId="a0e79c5800b64606" providerId="LiveId" clId="{C9B2918C-F595-4EF8-A665-9F75FED1AF6F}" dt="2025-05-27T10:04:11.061" v="59" actId="20577"/>
          <ac:spMkLst>
            <pc:docMk/>
            <pc:sldMk cId="1849221979" sldId="796"/>
            <ac:spMk id="3" creationId="{9CDDED1F-A8A5-CD43-880B-AA698F47F029}"/>
          </ac:spMkLst>
        </pc:spChg>
      </pc:sldChg>
      <pc:sldChg chg="modSp mod">
        <pc:chgData name="Nestor Zamora" userId="a0e79c5800b64606" providerId="LiveId" clId="{C9B2918C-F595-4EF8-A665-9F75FED1AF6F}" dt="2025-05-27T10:21:33.137" v="456" actId="20577"/>
        <pc:sldMkLst>
          <pc:docMk/>
          <pc:sldMk cId="3485297403" sldId="797"/>
        </pc:sldMkLst>
        <pc:spChg chg="mod">
          <ac:chgData name="Nestor Zamora" userId="a0e79c5800b64606" providerId="LiveId" clId="{C9B2918C-F595-4EF8-A665-9F75FED1AF6F}" dt="2025-05-27T10:21:33.137" v="456" actId="20577"/>
          <ac:spMkLst>
            <pc:docMk/>
            <pc:sldMk cId="3485297403" sldId="797"/>
            <ac:spMk id="2" creationId="{12790E8F-4B90-9253-1B47-B2F618F28DC1}"/>
          </ac:spMkLst>
        </pc:spChg>
        <pc:spChg chg="mod">
          <ac:chgData name="Nestor Zamora" userId="a0e79c5800b64606" providerId="LiveId" clId="{C9B2918C-F595-4EF8-A665-9F75FED1AF6F}" dt="2025-05-27T10:04:03.402" v="57" actId="20577"/>
          <ac:spMkLst>
            <pc:docMk/>
            <pc:sldMk cId="3485297403" sldId="797"/>
            <ac:spMk id="3" creationId="{93A67A30-3B2A-B7C3-D1A9-3F007AA11D01}"/>
          </ac:spMkLst>
        </pc:spChg>
      </pc:sldChg>
      <pc:sldChg chg="modSp mod">
        <pc:chgData name="Nestor Zamora" userId="a0e79c5800b64606" providerId="LiveId" clId="{C9B2918C-F595-4EF8-A665-9F75FED1AF6F}" dt="2025-05-27T10:11:43.923" v="161" actId="20577"/>
        <pc:sldMkLst>
          <pc:docMk/>
          <pc:sldMk cId="3711044088" sldId="798"/>
        </pc:sldMkLst>
        <pc:spChg chg="mod">
          <ac:chgData name="Nestor Zamora" userId="a0e79c5800b64606" providerId="LiveId" clId="{C9B2918C-F595-4EF8-A665-9F75FED1AF6F}" dt="2025-05-27T10:11:32.337" v="158" actId="20577"/>
          <ac:spMkLst>
            <pc:docMk/>
            <pc:sldMk cId="3711044088" sldId="798"/>
            <ac:spMk id="2" creationId="{6B8FE9B5-1C4D-287D-3D23-C664B072081C}"/>
          </ac:spMkLst>
        </pc:spChg>
        <pc:spChg chg="mod">
          <ac:chgData name="Nestor Zamora" userId="a0e79c5800b64606" providerId="LiveId" clId="{C9B2918C-F595-4EF8-A665-9F75FED1AF6F}" dt="2025-05-27T10:01:32.051" v="27" actId="20577"/>
          <ac:spMkLst>
            <pc:docMk/>
            <pc:sldMk cId="3711044088" sldId="798"/>
            <ac:spMk id="5" creationId="{A1E48134-A97D-5123-14FF-07696D087ECE}"/>
          </ac:spMkLst>
        </pc:spChg>
        <pc:spChg chg="mod">
          <ac:chgData name="Nestor Zamora" userId="a0e79c5800b64606" providerId="LiveId" clId="{C9B2918C-F595-4EF8-A665-9F75FED1AF6F}" dt="2025-05-27T10:11:43.923" v="161" actId="20577"/>
          <ac:spMkLst>
            <pc:docMk/>
            <pc:sldMk cId="3711044088" sldId="798"/>
            <ac:spMk id="6" creationId="{1FA340C2-72E1-A7C5-E4CB-8DDC749F9ED3}"/>
          </ac:spMkLst>
        </pc:spChg>
      </pc:sldChg>
      <pc:sldChg chg="modSp mod">
        <pc:chgData name="Nestor Zamora" userId="a0e79c5800b64606" providerId="LiveId" clId="{C9B2918C-F595-4EF8-A665-9F75FED1AF6F}" dt="2025-05-27T10:22:26.131" v="484" actId="20577"/>
        <pc:sldMkLst>
          <pc:docMk/>
          <pc:sldMk cId="82604336" sldId="799"/>
        </pc:sldMkLst>
        <pc:spChg chg="mod">
          <ac:chgData name="Nestor Zamora" userId="a0e79c5800b64606" providerId="LiveId" clId="{C9B2918C-F595-4EF8-A665-9F75FED1AF6F}" dt="2025-05-27T10:22:26.131" v="484" actId="20577"/>
          <ac:spMkLst>
            <pc:docMk/>
            <pc:sldMk cId="82604336" sldId="799"/>
            <ac:spMk id="2" creationId="{ECC03D70-940D-7008-FA95-9718203A67F5}"/>
          </ac:spMkLst>
        </pc:spChg>
        <pc:spChg chg="mod">
          <ac:chgData name="Nestor Zamora" userId="a0e79c5800b64606" providerId="LiveId" clId="{C9B2918C-F595-4EF8-A665-9F75FED1AF6F}" dt="2025-05-27T10:06:54.648" v="101" actId="20577"/>
          <ac:spMkLst>
            <pc:docMk/>
            <pc:sldMk cId="82604336" sldId="799"/>
            <ac:spMk id="3" creationId="{F149A66C-BCE2-E008-085E-F914265DB03E}"/>
          </ac:spMkLst>
        </pc:spChg>
      </pc:sldChg>
      <pc:sldChg chg="modSp mod">
        <pc:chgData name="Nestor Zamora" userId="a0e79c5800b64606" providerId="LiveId" clId="{C9B2918C-F595-4EF8-A665-9F75FED1AF6F}" dt="2025-05-27T10:22:46.734" v="499" actId="20577"/>
        <pc:sldMkLst>
          <pc:docMk/>
          <pc:sldMk cId="2054797080" sldId="800"/>
        </pc:sldMkLst>
        <pc:spChg chg="mod">
          <ac:chgData name="Nestor Zamora" userId="a0e79c5800b64606" providerId="LiveId" clId="{C9B2918C-F595-4EF8-A665-9F75FED1AF6F}" dt="2025-05-27T10:22:46.734" v="499" actId="20577"/>
          <ac:spMkLst>
            <pc:docMk/>
            <pc:sldMk cId="2054797080" sldId="800"/>
            <ac:spMk id="2" creationId="{E922FBFF-F9FF-A9CC-A5B1-6668859D241E}"/>
          </ac:spMkLst>
        </pc:spChg>
        <pc:spChg chg="mod">
          <ac:chgData name="Nestor Zamora" userId="a0e79c5800b64606" providerId="LiveId" clId="{C9B2918C-F595-4EF8-A665-9F75FED1AF6F}" dt="2025-05-27T10:04:48.550" v="65" actId="20577"/>
          <ac:spMkLst>
            <pc:docMk/>
            <pc:sldMk cId="2054797080" sldId="800"/>
            <ac:spMk id="3" creationId="{7D076E03-0F31-9134-FC9E-B17F3E2370C0}"/>
          </ac:spMkLst>
        </pc:spChg>
      </pc:sldChg>
      <pc:sldChg chg="modSp mod">
        <pc:chgData name="Nestor Zamora" userId="a0e79c5800b64606" providerId="LiveId" clId="{C9B2918C-F595-4EF8-A665-9F75FED1AF6F}" dt="2025-05-27T10:23:24.548" v="513" actId="20577"/>
        <pc:sldMkLst>
          <pc:docMk/>
          <pc:sldMk cId="2751237837" sldId="801"/>
        </pc:sldMkLst>
        <pc:spChg chg="mod">
          <ac:chgData name="Nestor Zamora" userId="a0e79c5800b64606" providerId="LiveId" clId="{C9B2918C-F595-4EF8-A665-9F75FED1AF6F}" dt="2025-05-27T10:23:24.548" v="513" actId="20577"/>
          <ac:spMkLst>
            <pc:docMk/>
            <pc:sldMk cId="2751237837" sldId="801"/>
            <ac:spMk id="2" creationId="{E1A93EF9-183C-716B-796C-3D4367A711E0}"/>
          </ac:spMkLst>
        </pc:spChg>
        <pc:spChg chg="mod">
          <ac:chgData name="Nestor Zamora" userId="a0e79c5800b64606" providerId="LiveId" clId="{C9B2918C-F595-4EF8-A665-9F75FED1AF6F}" dt="2025-05-27T10:05:00.120" v="69" actId="20577"/>
          <ac:spMkLst>
            <pc:docMk/>
            <pc:sldMk cId="2751237837" sldId="801"/>
            <ac:spMk id="3" creationId="{693CBBAE-E2A7-7D98-3980-68BAB041EEF4}"/>
          </ac:spMkLst>
        </pc:spChg>
      </pc:sldChg>
      <pc:sldChg chg="modSp mod">
        <pc:chgData name="Nestor Zamora" userId="a0e79c5800b64606" providerId="LiveId" clId="{C9B2918C-F595-4EF8-A665-9F75FED1AF6F}" dt="2025-05-27T10:23:43.202" v="520" actId="20577"/>
        <pc:sldMkLst>
          <pc:docMk/>
          <pc:sldMk cId="3132811524" sldId="802"/>
        </pc:sldMkLst>
        <pc:spChg chg="mod">
          <ac:chgData name="Nestor Zamora" userId="a0e79c5800b64606" providerId="LiveId" clId="{C9B2918C-F595-4EF8-A665-9F75FED1AF6F}" dt="2025-05-27T10:23:43.202" v="520" actId="20577"/>
          <ac:spMkLst>
            <pc:docMk/>
            <pc:sldMk cId="3132811524" sldId="802"/>
            <ac:spMk id="2" creationId="{0A12D085-DCC9-30C3-631F-2DA6181EB6C9}"/>
          </ac:spMkLst>
        </pc:spChg>
        <pc:spChg chg="mod">
          <ac:chgData name="Nestor Zamora" userId="a0e79c5800b64606" providerId="LiveId" clId="{C9B2918C-F595-4EF8-A665-9F75FED1AF6F}" dt="2025-05-27T10:05:28.910" v="75" actId="20577"/>
          <ac:spMkLst>
            <pc:docMk/>
            <pc:sldMk cId="3132811524" sldId="802"/>
            <ac:spMk id="3" creationId="{08F9DBB0-BDAA-DEEE-3531-92FD9AF34501}"/>
          </ac:spMkLst>
        </pc:spChg>
      </pc:sldChg>
      <pc:sldChg chg="modSp mod">
        <pc:chgData name="Nestor Zamora" userId="a0e79c5800b64606" providerId="LiveId" clId="{C9B2918C-F595-4EF8-A665-9F75FED1AF6F}" dt="2025-05-27T10:22:35.533" v="492" actId="20577"/>
        <pc:sldMkLst>
          <pc:docMk/>
          <pc:sldMk cId="1561417838" sldId="803"/>
        </pc:sldMkLst>
        <pc:spChg chg="mod">
          <ac:chgData name="Nestor Zamora" userId="a0e79c5800b64606" providerId="LiveId" clId="{C9B2918C-F595-4EF8-A665-9F75FED1AF6F}" dt="2025-05-27T10:22:35.533" v="492" actId="20577"/>
          <ac:spMkLst>
            <pc:docMk/>
            <pc:sldMk cId="1561417838" sldId="803"/>
            <ac:spMk id="2" creationId="{E0F2CD2F-3BE9-AD05-B3B8-FA5629580D9B}"/>
          </ac:spMkLst>
        </pc:spChg>
        <pc:spChg chg="mod">
          <ac:chgData name="Nestor Zamora" userId="a0e79c5800b64606" providerId="LiveId" clId="{C9B2918C-F595-4EF8-A665-9F75FED1AF6F}" dt="2025-05-27T10:04:40.810" v="63" actId="20577"/>
          <ac:spMkLst>
            <pc:docMk/>
            <pc:sldMk cId="1561417838" sldId="803"/>
            <ac:spMk id="3" creationId="{DED3F3D7-42D2-748D-BAAF-589CB3599268}"/>
          </ac:spMkLst>
        </pc:spChg>
      </pc:sldChg>
      <pc:sldChg chg="modSp mod">
        <pc:chgData name="Nestor Zamora" userId="a0e79c5800b64606" providerId="LiveId" clId="{C9B2918C-F595-4EF8-A665-9F75FED1AF6F}" dt="2025-05-27T10:22:56.036" v="506" actId="20577"/>
        <pc:sldMkLst>
          <pc:docMk/>
          <pc:sldMk cId="3225952235" sldId="804"/>
        </pc:sldMkLst>
        <pc:spChg chg="mod">
          <ac:chgData name="Nestor Zamora" userId="a0e79c5800b64606" providerId="LiveId" clId="{C9B2918C-F595-4EF8-A665-9F75FED1AF6F}" dt="2025-05-27T10:22:56.036" v="506" actId="20577"/>
          <ac:spMkLst>
            <pc:docMk/>
            <pc:sldMk cId="3225952235" sldId="804"/>
            <ac:spMk id="2" creationId="{86494CF6-6E8F-DF53-89D3-0274AE49528E}"/>
          </ac:spMkLst>
        </pc:spChg>
        <pc:spChg chg="mod">
          <ac:chgData name="Nestor Zamora" userId="a0e79c5800b64606" providerId="LiveId" clId="{C9B2918C-F595-4EF8-A665-9F75FED1AF6F}" dt="2025-05-27T10:04:54.003" v="67" actId="20577"/>
          <ac:spMkLst>
            <pc:docMk/>
            <pc:sldMk cId="3225952235" sldId="804"/>
            <ac:spMk id="3" creationId="{683031D4-0CAB-F597-23BD-4F2F04ACE27D}"/>
          </ac:spMkLst>
        </pc:spChg>
      </pc:sldChg>
      <pc:sldChg chg="modSp mod">
        <pc:chgData name="Nestor Zamora" userId="a0e79c5800b64606" providerId="LiveId" clId="{C9B2918C-F595-4EF8-A665-9F75FED1AF6F}" dt="2025-05-27T10:05:05.871" v="71" actId="20577"/>
        <pc:sldMkLst>
          <pc:docMk/>
          <pc:sldMk cId="3100582159" sldId="805"/>
        </pc:sldMkLst>
        <pc:spChg chg="mod">
          <ac:chgData name="Nestor Zamora" userId="a0e79c5800b64606" providerId="LiveId" clId="{C9B2918C-F595-4EF8-A665-9F75FED1AF6F}" dt="2025-05-27T10:05:05.871" v="71" actId="20577"/>
          <ac:spMkLst>
            <pc:docMk/>
            <pc:sldMk cId="3100582159" sldId="805"/>
            <ac:spMk id="3" creationId="{38560150-5948-D5E3-191B-0076412FEC0A}"/>
          </ac:spMkLst>
        </pc:spChg>
      </pc:sldChg>
      <pc:sldChg chg="delSp modSp mod">
        <pc:chgData name="Nestor Zamora" userId="a0e79c5800b64606" providerId="LiveId" clId="{C9B2918C-F595-4EF8-A665-9F75FED1AF6F}" dt="2025-05-27T10:23:55.646" v="521" actId="478"/>
        <pc:sldMkLst>
          <pc:docMk/>
          <pc:sldMk cId="3030325046" sldId="806"/>
        </pc:sldMkLst>
        <pc:spChg chg="del topLvl">
          <ac:chgData name="Nestor Zamora" userId="a0e79c5800b64606" providerId="LiveId" clId="{C9B2918C-F595-4EF8-A665-9F75FED1AF6F}" dt="2025-05-27T10:23:55.646" v="521" actId="478"/>
          <ac:spMkLst>
            <pc:docMk/>
            <pc:sldMk cId="3030325046" sldId="806"/>
            <ac:spMk id="2" creationId="{44DA9276-A436-4925-FED5-1DC39C12A8B4}"/>
          </ac:spMkLst>
        </pc:spChg>
        <pc:spChg chg="mod">
          <ac:chgData name="Nestor Zamora" userId="a0e79c5800b64606" providerId="LiveId" clId="{C9B2918C-F595-4EF8-A665-9F75FED1AF6F}" dt="2025-05-27T10:05:32.932" v="77" actId="20577"/>
          <ac:spMkLst>
            <pc:docMk/>
            <pc:sldMk cId="3030325046" sldId="806"/>
            <ac:spMk id="3" creationId="{D2B2309B-FD82-259F-02F6-E824DCC0292A}"/>
          </ac:spMkLst>
        </pc:spChg>
        <pc:spChg chg="topLvl">
          <ac:chgData name="Nestor Zamora" userId="a0e79c5800b64606" providerId="LiveId" clId="{C9B2918C-F595-4EF8-A665-9F75FED1AF6F}" dt="2025-05-27T10:23:55.646" v="521" actId="478"/>
          <ac:spMkLst>
            <pc:docMk/>
            <pc:sldMk cId="3030325046" sldId="806"/>
            <ac:spMk id="4" creationId="{CC2FDB50-82D9-FDE6-FB75-5BE54229A1F5}"/>
          </ac:spMkLst>
        </pc:spChg>
        <pc:grpChg chg="del">
          <ac:chgData name="Nestor Zamora" userId="a0e79c5800b64606" providerId="LiveId" clId="{C9B2918C-F595-4EF8-A665-9F75FED1AF6F}" dt="2025-05-27T10:23:55.646" v="521" actId="478"/>
          <ac:grpSpMkLst>
            <pc:docMk/>
            <pc:sldMk cId="3030325046" sldId="806"/>
            <ac:grpSpMk id="7" creationId="{B3135C8C-9EB3-B000-6F58-03AE390C77C3}"/>
          </ac:grpSpMkLst>
        </pc:grpChg>
      </pc:sldChg>
      <pc:sldChg chg="modSp mod">
        <pc:chgData name="Nestor Zamora" userId="a0e79c5800b64606" providerId="LiveId" clId="{C9B2918C-F595-4EF8-A665-9F75FED1AF6F}" dt="2025-05-27T10:05:42.835" v="81" actId="20577"/>
        <pc:sldMkLst>
          <pc:docMk/>
          <pc:sldMk cId="1641948341" sldId="807"/>
        </pc:sldMkLst>
        <pc:spChg chg="mod">
          <ac:chgData name="Nestor Zamora" userId="a0e79c5800b64606" providerId="LiveId" clId="{C9B2918C-F595-4EF8-A665-9F75FED1AF6F}" dt="2025-05-27T10:05:42.835" v="81" actId="20577"/>
          <ac:spMkLst>
            <pc:docMk/>
            <pc:sldMk cId="1641948341" sldId="807"/>
            <ac:spMk id="3" creationId="{52C0974A-10B7-2A10-E241-EE4367B57641}"/>
          </ac:spMkLst>
        </pc:spChg>
      </pc:sldChg>
      <pc:sldChg chg="modSp mod">
        <pc:chgData name="Nestor Zamora" userId="a0e79c5800b64606" providerId="LiveId" clId="{C9B2918C-F595-4EF8-A665-9F75FED1AF6F}" dt="2025-05-27T10:39:38.310" v="607" actId="20577"/>
        <pc:sldMkLst>
          <pc:docMk/>
          <pc:sldMk cId="2500030747" sldId="808"/>
        </pc:sldMkLst>
        <pc:spChg chg="mod">
          <ac:chgData name="Nestor Zamora" userId="a0e79c5800b64606" providerId="LiveId" clId="{C9B2918C-F595-4EF8-A665-9F75FED1AF6F}" dt="2025-05-27T10:39:38.310" v="607" actId="20577"/>
          <ac:spMkLst>
            <pc:docMk/>
            <pc:sldMk cId="2500030747" sldId="808"/>
            <ac:spMk id="3" creationId="{8420958A-296D-F092-DA57-F5D2D235C205}"/>
          </ac:spMkLst>
        </pc:spChg>
        <pc:spChg chg="mod">
          <ac:chgData name="Nestor Zamora" userId="a0e79c5800b64606" providerId="LiveId" clId="{C9B2918C-F595-4EF8-A665-9F75FED1AF6F}" dt="2025-05-27T10:26:15.797" v="525" actId="20577"/>
          <ac:spMkLst>
            <pc:docMk/>
            <pc:sldMk cId="2500030747" sldId="808"/>
            <ac:spMk id="7" creationId="{4D7F3305-6A51-874D-9CF5-335B9F029C74}"/>
          </ac:spMkLst>
        </pc:spChg>
      </pc:sldChg>
      <pc:sldChg chg="modSp mod">
        <pc:chgData name="Nestor Zamora" userId="a0e79c5800b64606" providerId="LiveId" clId="{C9B2918C-F595-4EF8-A665-9F75FED1AF6F}" dt="2025-05-27T10:37:07.464" v="599" actId="20577"/>
        <pc:sldMkLst>
          <pc:docMk/>
          <pc:sldMk cId="2495882747" sldId="809"/>
        </pc:sldMkLst>
        <pc:spChg chg="mod">
          <ac:chgData name="Nestor Zamora" userId="a0e79c5800b64606" providerId="LiveId" clId="{C9B2918C-F595-4EF8-A665-9F75FED1AF6F}" dt="2025-05-27T10:05:47.708" v="83" actId="20577"/>
          <ac:spMkLst>
            <pc:docMk/>
            <pc:sldMk cId="2495882747" sldId="809"/>
            <ac:spMk id="3" creationId="{A29A14C5-D80D-11C0-9C06-B8C9E38075EE}"/>
          </ac:spMkLst>
        </pc:spChg>
        <pc:spChg chg="mod">
          <ac:chgData name="Nestor Zamora" userId="a0e79c5800b64606" providerId="LiveId" clId="{C9B2918C-F595-4EF8-A665-9F75FED1AF6F}" dt="2025-05-27T10:37:07.464" v="599" actId="20577"/>
          <ac:spMkLst>
            <pc:docMk/>
            <pc:sldMk cId="2495882747" sldId="809"/>
            <ac:spMk id="7" creationId="{33729446-CC99-23E4-0377-BCCB41E11822}"/>
          </ac:spMkLst>
        </pc:spChg>
      </pc:sldChg>
      <pc:sldChg chg="modSp mod">
        <pc:chgData name="Nestor Zamora" userId="a0e79c5800b64606" providerId="LiveId" clId="{C9B2918C-F595-4EF8-A665-9F75FED1AF6F}" dt="2025-05-27T10:26:33.481" v="533" actId="20577"/>
        <pc:sldMkLst>
          <pc:docMk/>
          <pc:sldMk cId="2712187895" sldId="810"/>
        </pc:sldMkLst>
        <pc:spChg chg="mod">
          <ac:chgData name="Nestor Zamora" userId="a0e79c5800b64606" providerId="LiveId" clId="{C9B2918C-F595-4EF8-A665-9F75FED1AF6F}" dt="2025-05-27T10:05:55.394" v="85" actId="20577"/>
          <ac:spMkLst>
            <pc:docMk/>
            <pc:sldMk cId="2712187895" sldId="810"/>
            <ac:spMk id="3" creationId="{DF434E94-9FF2-4F9C-5A43-7D4E0F8E5F2F}"/>
          </ac:spMkLst>
        </pc:spChg>
        <pc:spChg chg="mod">
          <ac:chgData name="Nestor Zamora" userId="a0e79c5800b64606" providerId="LiveId" clId="{C9B2918C-F595-4EF8-A665-9F75FED1AF6F}" dt="2025-05-27T10:26:33.481" v="533" actId="20577"/>
          <ac:spMkLst>
            <pc:docMk/>
            <pc:sldMk cId="2712187895" sldId="810"/>
            <ac:spMk id="7" creationId="{E216628D-D5C5-9C0C-03DE-E1645F559B1F}"/>
          </ac:spMkLst>
        </pc:spChg>
      </pc:sldChg>
      <pc:sldChg chg="modSp mod">
        <pc:chgData name="Nestor Zamora" userId="a0e79c5800b64606" providerId="LiveId" clId="{C9B2918C-F595-4EF8-A665-9F75FED1AF6F}" dt="2025-05-27T10:39:29.256" v="605" actId="20577"/>
        <pc:sldMkLst>
          <pc:docMk/>
          <pc:sldMk cId="2848856195" sldId="811"/>
        </pc:sldMkLst>
        <pc:spChg chg="mod">
          <ac:chgData name="Nestor Zamora" userId="a0e79c5800b64606" providerId="LiveId" clId="{C9B2918C-F595-4EF8-A665-9F75FED1AF6F}" dt="2025-05-27T10:39:29.256" v="605" actId="20577"/>
          <ac:spMkLst>
            <pc:docMk/>
            <pc:sldMk cId="2848856195" sldId="811"/>
            <ac:spMk id="3" creationId="{4213F2BE-4F3F-B82B-7B07-BF20A4F63E37}"/>
          </ac:spMkLst>
        </pc:spChg>
        <pc:spChg chg="mod">
          <ac:chgData name="Nestor Zamora" userId="a0e79c5800b64606" providerId="LiveId" clId="{C9B2918C-F595-4EF8-A665-9F75FED1AF6F}" dt="2025-05-27T10:26:40.331" v="537" actId="20577"/>
          <ac:spMkLst>
            <pc:docMk/>
            <pc:sldMk cId="2848856195" sldId="811"/>
            <ac:spMk id="7" creationId="{76F4F929-CEA4-9234-2338-B81FDCE90426}"/>
          </ac:spMkLst>
        </pc:spChg>
      </pc:sldChg>
      <pc:sldChg chg="modSp mod">
        <pc:chgData name="Nestor Zamora" userId="a0e79c5800b64606" providerId="LiveId" clId="{C9B2918C-F595-4EF8-A665-9F75FED1AF6F}" dt="2025-05-27T10:26:48.531" v="541" actId="20577"/>
        <pc:sldMkLst>
          <pc:docMk/>
          <pc:sldMk cId="1107985846" sldId="812"/>
        </pc:sldMkLst>
        <pc:spChg chg="mod">
          <ac:chgData name="Nestor Zamora" userId="a0e79c5800b64606" providerId="LiveId" clId="{C9B2918C-F595-4EF8-A665-9F75FED1AF6F}" dt="2025-05-27T10:06:00.339" v="87" actId="20577"/>
          <ac:spMkLst>
            <pc:docMk/>
            <pc:sldMk cId="1107985846" sldId="812"/>
            <ac:spMk id="3" creationId="{9C61C755-9B4F-6FD6-380E-83BEE0B4DBDA}"/>
          </ac:spMkLst>
        </pc:spChg>
        <pc:spChg chg="mod">
          <ac:chgData name="Nestor Zamora" userId="a0e79c5800b64606" providerId="LiveId" clId="{C9B2918C-F595-4EF8-A665-9F75FED1AF6F}" dt="2025-05-27T10:26:48.531" v="541" actId="20577"/>
          <ac:spMkLst>
            <pc:docMk/>
            <pc:sldMk cId="1107985846" sldId="812"/>
            <ac:spMk id="7" creationId="{CFE6121F-F5F1-F2B1-EBD4-8AFBF6F88E4D}"/>
          </ac:spMkLst>
        </pc:spChg>
      </pc:sldChg>
      <pc:sldChg chg="modSp mod">
        <pc:chgData name="Nestor Zamora" userId="a0e79c5800b64606" providerId="LiveId" clId="{C9B2918C-F595-4EF8-A665-9F75FED1AF6F}" dt="2025-05-27T10:39:22.642" v="603" actId="20577"/>
        <pc:sldMkLst>
          <pc:docMk/>
          <pc:sldMk cId="1177244423" sldId="813"/>
        </pc:sldMkLst>
        <pc:spChg chg="mod">
          <ac:chgData name="Nestor Zamora" userId="a0e79c5800b64606" providerId="LiveId" clId="{C9B2918C-F595-4EF8-A665-9F75FED1AF6F}" dt="2025-05-27T10:39:22.642" v="603" actId="20577"/>
          <ac:spMkLst>
            <pc:docMk/>
            <pc:sldMk cId="1177244423" sldId="813"/>
            <ac:spMk id="3" creationId="{1DD15BDD-CD86-DA92-67D0-F19A7F8F7380}"/>
          </ac:spMkLst>
        </pc:spChg>
        <pc:spChg chg="mod">
          <ac:chgData name="Nestor Zamora" userId="a0e79c5800b64606" providerId="LiveId" clId="{C9B2918C-F595-4EF8-A665-9F75FED1AF6F}" dt="2025-05-27T10:26:55.543" v="545" actId="20577"/>
          <ac:spMkLst>
            <pc:docMk/>
            <pc:sldMk cId="1177244423" sldId="813"/>
            <ac:spMk id="7" creationId="{C0B8C840-1988-06F9-63FE-CEEDD98C963D}"/>
          </ac:spMkLst>
        </pc:spChg>
      </pc:sldChg>
      <pc:sldChg chg="modSp mod">
        <pc:chgData name="Nestor Zamora" userId="a0e79c5800b64606" providerId="LiveId" clId="{C9B2918C-F595-4EF8-A665-9F75FED1AF6F}" dt="2025-05-27T10:39:16.126" v="601" actId="20577"/>
        <pc:sldMkLst>
          <pc:docMk/>
          <pc:sldMk cId="537343093" sldId="814"/>
        </pc:sldMkLst>
        <pc:spChg chg="mod">
          <ac:chgData name="Nestor Zamora" userId="a0e79c5800b64606" providerId="LiveId" clId="{C9B2918C-F595-4EF8-A665-9F75FED1AF6F}" dt="2025-05-27T10:39:16.126" v="601" actId="20577"/>
          <ac:spMkLst>
            <pc:docMk/>
            <pc:sldMk cId="537343093" sldId="814"/>
            <ac:spMk id="3" creationId="{F669BF61-61F7-573C-5DA7-A8572727D996}"/>
          </ac:spMkLst>
        </pc:spChg>
        <pc:spChg chg="mod">
          <ac:chgData name="Nestor Zamora" userId="a0e79c5800b64606" providerId="LiveId" clId="{C9B2918C-F595-4EF8-A665-9F75FED1AF6F}" dt="2025-05-27T10:27:05.026" v="549" actId="20577"/>
          <ac:spMkLst>
            <pc:docMk/>
            <pc:sldMk cId="537343093" sldId="814"/>
            <ac:spMk id="7" creationId="{8F85CB0E-CAC1-4577-AB25-0D043A0DDEC4}"/>
          </ac:spMkLst>
        </pc:spChg>
      </pc:sldChg>
      <pc:sldChg chg="modSp mod">
        <pc:chgData name="Nestor Zamora" userId="a0e79c5800b64606" providerId="LiveId" clId="{C9B2918C-F595-4EF8-A665-9F75FED1AF6F}" dt="2025-05-27T10:06:23.991" v="93" actId="20577"/>
        <pc:sldMkLst>
          <pc:docMk/>
          <pc:sldMk cId="2834486397" sldId="815"/>
        </pc:sldMkLst>
        <pc:spChg chg="mod">
          <ac:chgData name="Nestor Zamora" userId="a0e79c5800b64606" providerId="LiveId" clId="{C9B2918C-F595-4EF8-A665-9F75FED1AF6F}" dt="2025-05-27T10:06:23.991" v="93" actId="20577"/>
          <ac:spMkLst>
            <pc:docMk/>
            <pc:sldMk cId="2834486397" sldId="815"/>
            <ac:spMk id="2" creationId="{9859722E-88BD-1085-D16A-712E33EA86E4}"/>
          </ac:spMkLst>
        </pc:spChg>
      </pc:sldChg>
      <pc:sldChg chg="modSp mod">
        <pc:chgData name="Nestor Zamora" userId="a0e79c5800b64606" providerId="LiveId" clId="{C9B2918C-F595-4EF8-A665-9F75FED1AF6F}" dt="2025-05-27T10:27:12.027" v="553" actId="20577"/>
        <pc:sldMkLst>
          <pc:docMk/>
          <pc:sldMk cId="2859133754" sldId="816"/>
        </pc:sldMkLst>
        <pc:spChg chg="mod">
          <ac:chgData name="Nestor Zamora" userId="a0e79c5800b64606" providerId="LiveId" clId="{C9B2918C-F595-4EF8-A665-9F75FED1AF6F}" dt="2025-05-27T10:06:04.507" v="89" actId="20577"/>
          <ac:spMkLst>
            <pc:docMk/>
            <pc:sldMk cId="2859133754" sldId="816"/>
            <ac:spMk id="3" creationId="{3F99E333-43A9-C6BD-AA09-339794AD495E}"/>
          </ac:spMkLst>
        </pc:spChg>
        <pc:spChg chg="mod">
          <ac:chgData name="Nestor Zamora" userId="a0e79c5800b64606" providerId="LiveId" clId="{C9B2918C-F595-4EF8-A665-9F75FED1AF6F}" dt="2025-05-27T10:27:12.027" v="553" actId="20577"/>
          <ac:spMkLst>
            <pc:docMk/>
            <pc:sldMk cId="2859133754" sldId="816"/>
            <ac:spMk id="7" creationId="{DD15A7B4-3725-86E1-5D4C-6D443699DC34}"/>
          </ac:spMkLst>
        </pc:spChg>
      </pc:sldChg>
    </pc:docChg>
  </pc:docChgLst>
  <pc:docChgLst>
    <pc:chgData name="Nestor Zamora" userId="a0e79c5800b64606" providerId="LiveId" clId="{9F940C57-EB0A-4F12-95B7-C3CA6C8D7691}"/>
    <pc:docChg chg="addSld modSld">
      <pc:chgData name="Nestor Zamora" userId="a0e79c5800b64606" providerId="LiveId" clId="{9F940C57-EB0A-4F12-95B7-C3CA6C8D7691}" dt="2025-02-10T11:38:42.399" v="3"/>
      <pc:docMkLst>
        <pc:docMk/>
      </pc:docMkLst>
      <pc:sldChg chg="add">
        <pc:chgData name="Nestor Zamora" userId="a0e79c5800b64606" providerId="LiveId" clId="{9F940C57-EB0A-4F12-95B7-C3CA6C8D7691}" dt="2025-02-10T11:38:13.084" v="2"/>
        <pc:sldMkLst>
          <pc:docMk/>
          <pc:sldMk cId="1443800048" sldId="647"/>
        </pc:sldMkLst>
      </pc:sldChg>
      <pc:sldChg chg="add">
        <pc:chgData name="Nestor Zamora" userId="a0e79c5800b64606" providerId="LiveId" clId="{9F940C57-EB0A-4F12-95B7-C3CA6C8D7691}" dt="2025-02-10T11:38:42.399" v="3"/>
        <pc:sldMkLst>
          <pc:docMk/>
          <pc:sldMk cId="1389740989" sldId="648"/>
        </pc:sldMkLst>
      </pc:sldChg>
      <pc:sldChg chg="modSp">
        <pc:chgData name="Nestor Zamora" userId="a0e79c5800b64606" providerId="LiveId" clId="{9F940C57-EB0A-4F12-95B7-C3CA6C8D7691}" dt="2025-01-24T11:36:46.931" v="1" actId="1035"/>
        <pc:sldMkLst>
          <pc:docMk/>
          <pc:sldMk cId="2054797080" sldId="80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66733" cy="453866"/>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sz="quarter" idx="1"/>
          </p:nvPr>
        </p:nvSpPr>
        <p:spPr>
          <a:xfrm>
            <a:off x="4008705" y="0"/>
            <a:ext cx="3066733" cy="453866"/>
          </a:xfrm>
          <a:prstGeom prst="rect">
            <a:avLst/>
          </a:prstGeom>
        </p:spPr>
        <p:txBody>
          <a:bodyPr vert="horz" lIns="91440" tIns="45720" rIns="91440" bIns="45720" rtlCol="0"/>
          <a:lstStyle>
            <a:lvl1pPr algn="r">
              <a:defRPr sz="1200"/>
            </a:lvl1pPr>
          </a:lstStyle>
          <a:p>
            <a:fld id="{1521DC48-0311-094E-AF82-F6963B45180C}" type="datetimeFigureOut">
              <a:rPr lang="es-ES" smtClean="0"/>
              <a:t>27/05/2025</a:t>
            </a:fld>
            <a:endParaRPr lang="es-ES"/>
          </a:p>
        </p:txBody>
      </p:sp>
      <p:sp>
        <p:nvSpPr>
          <p:cNvPr id="4" name="Marcador de pie de página 3"/>
          <p:cNvSpPr>
            <a:spLocks noGrp="1"/>
          </p:cNvSpPr>
          <p:nvPr>
            <p:ph type="ftr" sz="quarter" idx="2"/>
          </p:nvPr>
        </p:nvSpPr>
        <p:spPr>
          <a:xfrm>
            <a:off x="0" y="8621883"/>
            <a:ext cx="3066733" cy="453866"/>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4008705" y="8621883"/>
            <a:ext cx="3066733" cy="453866"/>
          </a:xfrm>
          <a:prstGeom prst="rect">
            <a:avLst/>
          </a:prstGeom>
        </p:spPr>
        <p:txBody>
          <a:bodyPr vert="horz" lIns="91440" tIns="45720" rIns="91440" bIns="45720" rtlCol="0" anchor="b"/>
          <a:lstStyle>
            <a:lvl1pPr algn="r">
              <a:defRPr sz="1200"/>
            </a:lvl1pPr>
          </a:lstStyle>
          <a:p>
            <a:fld id="{33D24C5B-6835-1249-ABFD-E041B7C7AF24}" type="slidenum">
              <a:rPr lang="es-ES" smtClean="0"/>
              <a:t>‹Nº›</a:t>
            </a:fld>
            <a:endParaRPr lang="es-ES"/>
          </a:p>
        </p:txBody>
      </p:sp>
    </p:spTree>
    <p:extLst>
      <p:ext uri="{BB962C8B-B14F-4D97-AF65-F5344CB8AC3E}">
        <p14:creationId xmlns:p14="http://schemas.microsoft.com/office/powerpoint/2010/main" val="32209463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66733" cy="45386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4008705" y="0"/>
            <a:ext cx="3066733" cy="453866"/>
          </a:xfrm>
          <a:prstGeom prst="rect">
            <a:avLst/>
          </a:prstGeom>
        </p:spPr>
        <p:txBody>
          <a:bodyPr vert="horz" lIns="91440" tIns="45720" rIns="91440" bIns="45720" rtlCol="0"/>
          <a:lstStyle>
            <a:lvl1pPr algn="r">
              <a:defRPr sz="1200"/>
            </a:lvl1pPr>
          </a:lstStyle>
          <a:p>
            <a:fld id="{4D61432C-18A2-1E42-B5B2-F857F9B141FC}" type="datetimeFigureOut">
              <a:rPr lang="es-ES" smtClean="0"/>
              <a:t>27/05/2025</a:t>
            </a:fld>
            <a:endParaRPr lang="es-ES"/>
          </a:p>
        </p:txBody>
      </p:sp>
      <p:sp>
        <p:nvSpPr>
          <p:cNvPr id="4" name="Marcador de imagen de diapositiva 3"/>
          <p:cNvSpPr>
            <a:spLocks noGrp="1" noRot="1" noChangeAspect="1"/>
          </p:cNvSpPr>
          <p:nvPr>
            <p:ph type="sldImg" idx="2"/>
          </p:nvPr>
        </p:nvSpPr>
        <p:spPr>
          <a:xfrm>
            <a:off x="1270000" y="681038"/>
            <a:ext cx="4537075" cy="34036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707708" y="4311730"/>
            <a:ext cx="5661660" cy="4084796"/>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21883"/>
            <a:ext cx="3066733" cy="453866"/>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4008705" y="8621883"/>
            <a:ext cx="3066733" cy="453866"/>
          </a:xfrm>
          <a:prstGeom prst="rect">
            <a:avLst/>
          </a:prstGeom>
        </p:spPr>
        <p:txBody>
          <a:bodyPr vert="horz" lIns="91440" tIns="45720" rIns="91440" bIns="45720" rtlCol="0" anchor="b"/>
          <a:lstStyle>
            <a:lvl1pPr algn="r">
              <a:defRPr sz="1200"/>
            </a:lvl1pPr>
          </a:lstStyle>
          <a:p>
            <a:fld id="{FC5F435B-7C44-B143-9BFD-FC26EF0D921E}" type="slidenum">
              <a:rPr lang="es-ES" smtClean="0"/>
              <a:t>‹Nº›</a:t>
            </a:fld>
            <a:endParaRPr lang="es-ES"/>
          </a:p>
        </p:txBody>
      </p:sp>
    </p:spTree>
    <p:extLst>
      <p:ext uri="{BB962C8B-B14F-4D97-AF65-F5344CB8AC3E}">
        <p14:creationId xmlns:p14="http://schemas.microsoft.com/office/powerpoint/2010/main" val="116887370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Bienvenido al curso Riesgos Eléctricos en Operación de Redes de Distribución Aérea en Baja y Media Tensión. Este curso es on-line y asincrónico: avanza a tu propio ritmo, revisa cada lámina con calma y completa las autoevaluaciones al final de cada módulo.</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1</a:t>
            </a:fld>
            <a:endParaRPr lang="es-ES"/>
          </a:p>
        </p:txBody>
      </p:sp>
    </p:spTree>
    <p:extLst>
      <p:ext uri="{BB962C8B-B14F-4D97-AF65-F5344CB8AC3E}">
        <p14:creationId xmlns:p14="http://schemas.microsoft.com/office/powerpoint/2010/main" val="232071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Iniciamos el Módulo 1. Para entender el riesgo eléctrico primero debemos entender qué es la energía eléctrica: aparece cuando existe una diferencia de potencial entre dos puntos. Si esos puntos se unen mediante un conductor, circula corriente. Recuerda esta idea: si tu cuerpo se transforma en ese conductor, la corriente circulará a través de ti.</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2</a:t>
            </a:fld>
            <a:endParaRPr lang="es-ES"/>
          </a:p>
        </p:txBody>
      </p:sp>
    </p:spTree>
    <p:extLst>
      <p:ext uri="{BB962C8B-B14F-4D97-AF65-F5344CB8AC3E}">
        <p14:creationId xmlns:p14="http://schemas.microsoft.com/office/powerpoint/2010/main" val="1997616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Una línea eléctrica aérea es el conjunto de conductores, aisladores, sistemas de soporte y estructuras que llevan la energía desde la generación hasta el consumo. En este curso nos concentraremos en el último tramo: las redes aéreas de distribución en media y baja tensión.</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3</a:t>
            </a:fld>
            <a:endParaRPr lang="es-ES"/>
          </a:p>
        </p:txBody>
      </p:sp>
    </p:spTree>
    <p:extLst>
      <p:ext uri="{BB962C8B-B14F-4D97-AF65-F5344CB8AC3E}">
        <p14:creationId xmlns:p14="http://schemas.microsoft.com/office/powerpoint/2010/main" val="2292275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Las líneas de media y baja tensión se soportan en estructuras como postes de hormigón, acero, madera o fibra. Estas estructuras resisten los esfuerzos mecánicos y, con frecuencia, comparten en un mismo poste circuitos de media y de baja tensión. Este punto es clave para el riesgo: al trabajar en baja tensión puedes tener la media tensión muy cerca.</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4</a:t>
            </a:fld>
            <a:endParaRPr lang="es-ES"/>
          </a:p>
        </p:txBody>
      </p:sp>
    </p:spTree>
    <p:extLst>
      <p:ext uri="{BB962C8B-B14F-4D97-AF65-F5344CB8AC3E}">
        <p14:creationId xmlns:p14="http://schemas.microsoft.com/office/powerpoint/2010/main" val="3224238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El conductor es la parte fundamental de la línea: un elemento metálico, normalmente de cobre o aluminio, cuya función es transportar la corriente. Se llama alambre cuando es una sección sólida única, cable cuando está formado por varios alambres y barra cuando su sección es rectangular.</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5</a:t>
            </a:fld>
            <a:endParaRPr lang="es-ES"/>
          </a:p>
        </p:txBody>
      </p:sp>
    </p:spTree>
    <p:extLst>
      <p:ext uri="{BB962C8B-B14F-4D97-AF65-F5344CB8AC3E}">
        <p14:creationId xmlns:p14="http://schemas.microsoft.com/office/powerpoint/2010/main" val="3696468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En baja tensión encontramos conductores aislados, como el cable preensamblado de aluminio, en distintas secciones. Observa la tabla de calibres y la imagen: aunque estén aislados, la aislación puede estar dañada por el tiempo o por el clima, por lo que nunca se debe asumir que un conductor aislado es seguro de tocar.</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6</a:t>
            </a:fld>
            <a:endParaRPr lang="es-ES"/>
          </a:p>
        </p:txBody>
      </p:sp>
    </p:spTree>
    <p:extLst>
      <p:ext uri="{BB962C8B-B14F-4D97-AF65-F5344CB8AC3E}">
        <p14:creationId xmlns:p14="http://schemas.microsoft.com/office/powerpoint/2010/main" val="1527689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También existen redes de baja tensión con conductores desnudos de cobre o aluminio, ya sea alambre o cable. Al no tener aislación, cualquier contacto con ellos energizados es un contacto directo.</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7</a:t>
            </a:fld>
            <a:endParaRPr lang="es-ES"/>
          </a:p>
        </p:txBody>
      </p:sp>
    </p:spTree>
    <p:extLst>
      <p:ext uri="{BB962C8B-B14F-4D97-AF65-F5344CB8AC3E}">
        <p14:creationId xmlns:p14="http://schemas.microsoft.com/office/powerpoint/2010/main" val="3479757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077F2-1E59-E2F0-2592-460DDD7F11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ADC364-5DDB-3C13-B6AB-8A2D95FB8D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25F45C-5DD3-1B30-DD2E-5071A937D3CE}"/>
              </a:ext>
            </a:extLst>
          </p:cNvPr>
          <p:cNvSpPr>
            <a:spLocks noGrp="1"/>
          </p:cNvSpPr>
          <p:nvPr>
            <p:ph type="body" idx="1"/>
          </p:nvPr>
        </p:nvSpPr>
        <p:spPr/>
        <p:txBody>
          <a:bodyPr/>
          <a:lstStyle/>
          <a:p>
            <a:r>
              <a:t>Esta tabla resume los calibres habituales de conductores desnudos de baja tensión y si se fabrican como alambre o como cable. La fotografía muestra una red real: identifica visualmente qué tipo de conductor tienes al frente antes de cualquier intervención.</a:t>
            </a:r>
          </a:p>
        </p:txBody>
      </p:sp>
      <p:sp>
        <p:nvSpPr>
          <p:cNvPr id="4" name="Marcador de número de diapositiva 3">
            <a:extLst>
              <a:ext uri="{FF2B5EF4-FFF2-40B4-BE49-F238E27FC236}">
                <a16:creationId xmlns:a16="http://schemas.microsoft.com/office/drawing/2014/main" id="{52C8D760-609D-CE7E-161C-75934F87550E}"/>
              </a:ext>
            </a:extLst>
          </p:cNvPr>
          <p:cNvSpPr>
            <a:spLocks noGrp="1"/>
          </p:cNvSpPr>
          <p:nvPr>
            <p:ph type="sldNum" sz="quarter" idx="10"/>
          </p:nvPr>
        </p:nvSpPr>
        <p:spPr/>
        <p:txBody>
          <a:bodyPr/>
          <a:lstStyle/>
          <a:p>
            <a:fld id="{FC5F435B-7C44-B143-9BFD-FC26EF0D921E}" type="slidenum">
              <a:rPr lang="es-ES" smtClean="0"/>
              <a:t>8</a:t>
            </a:fld>
            <a:endParaRPr lang="es-ES"/>
          </a:p>
        </p:txBody>
      </p:sp>
    </p:spTree>
    <p:extLst>
      <p:ext uri="{BB962C8B-B14F-4D97-AF65-F5344CB8AC3E}">
        <p14:creationId xmlns:p14="http://schemas.microsoft.com/office/powerpoint/2010/main" val="1088077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25D19-0623-21E7-0326-DDC6DDC535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87CB3D-78D1-ECBF-2ADF-DC2F7B9C5F8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09CD4B7-01ED-72BB-C343-D57FC63A2FA6}"/>
              </a:ext>
            </a:extLst>
          </p:cNvPr>
          <p:cNvSpPr>
            <a:spLocks noGrp="1"/>
          </p:cNvSpPr>
          <p:nvPr>
            <p:ph type="body" idx="1"/>
          </p:nvPr>
        </p:nvSpPr>
        <p:spPr/>
        <p:txBody>
          <a:bodyPr/>
          <a:lstStyle/>
          <a:p>
            <a:r>
              <a:t>En media tensión se utilizan conductores monopolares de aluminio protegido. Ojo: 'protegido' no significa 'aislado'. La cubierta protege frente a contactos ocasionales, por ejemplo con ramas, pero no garantiza aislación para una persona. Deben tratarse siempre como conductores energizados.</a:t>
            </a:r>
          </a:p>
        </p:txBody>
      </p:sp>
      <p:sp>
        <p:nvSpPr>
          <p:cNvPr id="4" name="Marcador de número de diapositiva 3">
            <a:extLst>
              <a:ext uri="{FF2B5EF4-FFF2-40B4-BE49-F238E27FC236}">
                <a16:creationId xmlns:a16="http://schemas.microsoft.com/office/drawing/2014/main" id="{DA13142D-2D3C-5519-E418-802AD670AC8D}"/>
              </a:ext>
            </a:extLst>
          </p:cNvPr>
          <p:cNvSpPr>
            <a:spLocks noGrp="1"/>
          </p:cNvSpPr>
          <p:nvPr>
            <p:ph type="sldNum" sz="quarter" idx="10"/>
          </p:nvPr>
        </p:nvSpPr>
        <p:spPr/>
        <p:txBody>
          <a:bodyPr/>
          <a:lstStyle/>
          <a:p>
            <a:fld id="{FC5F435B-7C44-B143-9BFD-FC26EF0D921E}" type="slidenum">
              <a:rPr lang="es-ES" smtClean="0"/>
              <a:t>9</a:t>
            </a:fld>
            <a:endParaRPr lang="es-ES"/>
          </a:p>
        </p:txBody>
      </p:sp>
    </p:spTree>
    <p:extLst>
      <p:ext uri="{BB962C8B-B14F-4D97-AF65-F5344CB8AC3E}">
        <p14:creationId xmlns:p14="http://schemas.microsoft.com/office/powerpoint/2010/main" val="703690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D14E4-9ECF-A9D9-B3FB-AF99586FDA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999D4E-5002-C923-9EDA-537C42ACA3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CEA040-15F4-625E-94F6-AFE0EBC65A3A}"/>
              </a:ext>
            </a:extLst>
          </p:cNvPr>
          <p:cNvSpPr>
            <a:spLocks noGrp="1"/>
          </p:cNvSpPr>
          <p:nvPr>
            <p:ph type="body" idx="1"/>
          </p:nvPr>
        </p:nvSpPr>
        <p:spPr/>
        <p:txBody>
          <a:bodyPr/>
          <a:lstStyle/>
          <a:p>
            <a:r>
              <a:t>Las redes de media tensión también utilizan conductores desnudos de cobre y aluminio en diferentes calibres. Revisa la tabla y relaciona cada sección con el material.</a:t>
            </a:r>
          </a:p>
        </p:txBody>
      </p:sp>
      <p:sp>
        <p:nvSpPr>
          <p:cNvPr id="4" name="Marcador de número de diapositiva 3">
            <a:extLst>
              <a:ext uri="{FF2B5EF4-FFF2-40B4-BE49-F238E27FC236}">
                <a16:creationId xmlns:a16="http://schemas.microsoft.com/office/drawing/2014/main" id="{B9A215F0-7A65-98B1-6C5B-6BC3D94400E5}"/>
              </a:ext>
            </a:extLst>
          </p:cNvPr>
          <p:cNvSpPr>
            <a:spLocks noGrp="1"/>
          </p:cNvSpPr>
          <p:nvPr>
            <p:ph type="sldNum" sz="quarter" idx="10"/>
          </p:nvPr>
        </p:nvSpPr>
        <p:spPr/>
        <p:txBody>
          <a:bodyPr/>
          <a:lstStyle/>
          <a:p>
            <a:fld id="{FC5F435B-7C44-B143-9BFD-FC26EF0D921E}" type="slidenum">
              <a:rPr lang="es-ES" smtClean="0"/>
              <a:t>10</a:t>
            </a:fld>
            <a:endParaRPr lang="es-ES"/>
          </a:p>
        </p:txBody>
      </p:sp>
    </p:spTree>
    <p:extLst>
      <p:ext uri="{BB962C8B-B14F-4D97-AF65-F5344CB8AC3E}">
        <p14:creationId xmlns:p14="http://schemas.microsoft.com/office/powerpoint/2010/main" val="4152017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74D0B-0E23-DCD4-F878-368252C6976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9E89CA-F44C-FE5E-CE75-53BF1AB26E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9C6B2B-0FEF-9F3B-5A8D-99829CC88A51}"/>
              </a:ext>
            </a:extLst>
          </p:cNvPr>
          <p:cNvSpPr>
            <a:spLocks noGrp="1"/>
          </p:cNvSpPr>
          <p:nvPr>
            <p:ph type="body" idx="1"/>
          </p:nvPr>
        </p:nvSpPr>
        <p:spPr/>
        <p:txBody>
          <a:bodyPr/>
          <a:lstStyle/>
          <a:p>
            <a:r>
              <a:t>Los sistemas de aislación separan los conductores energizados de las estructuras. Su tipo depende de la tensión de servicio. En baja tensión con conductor preensamblado se usan aisladores de suspensión y de anclaje, como los que ves en la imagen.</a:t>
            </a:r>
          </a:p>
        </p:txBody>
      </p:sp>
      <p:sp>
        <p:nvSpPr>
          <p:cNvPr id="4" name="Marcador de número de diapositiva 3">
            <a:extLst>
              <a:ext uri="{FF2B5EF4-FFF2-40B4-BE49-F238E27FC236}">
                <a16:creationId xmlns:a16="http://schemas.microsoft.com/office/drawing/2014/main" id="{40042B86-3614-D445-5317-1B5CA1F9C630}"/>
              </a:ext>
            </a:extLst>
          </p:cNvPr>
          <p:cNvSpPr>
            <a:spLocks noGrp="1"/>
          </p:cNvSpPr>
          <p:nvPr>
            <p:ph type="sldNum" sz="quarter" idx="10"/>
          </p:nvPr>
        </p:nvSpPr>
        <p:spPr/>
        <p:txBody>
          <a:bodyPr/>
          <a:lstStyle/>
          <a:p>
            <a:fld id="{FC5F435B-7C44-B143-9BFD-FC26EF0D921E}" type="slidenum">
              <a:rPr lang="es-ES" smtClean="0"/>
              <a:t>11</a:t>
            </a:fld>
            <a:endParaRPr lang="es-ES"/>
          </a:p>
        </p:txBody>
      </p:sp>
    </p:spTree>
    <p:extLst>
      <p:ext uri="{BB962C8B-B14F-4D97-AF65-F5344CB8AC3E}">
        <p14:creationId xmlns:p14="http://schemas.microsoft.com/office/powerpoint/2010/main" val="2410013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590B-59A4-D17B-81C6-E1D0EA683C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748EFB-DD89-475A-B86E-ADD55E4BA5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BD95A2-DE4D-FA7F-125C-55A108A10F54}"/>
              </a:ext>
            </a:extLst>
          </p:cNvPr>
          <p:cNvSpPr>
            <a:spLocks noGrp="1"/>
          </p:cNvSpPr>
          <p:nvPr>
            <p:ph type="body" idx="1"/>
          </p:nvPr>
        </p:nvSpPr>
        <p:spPr/>
        <p:txBody>
          <a:bodyPr/>
          <a:lstStyle/>
          <a:p>
            <a:r>
              <a:t>Para conductores aéreos de baja tensión se emplean aisladores de suspensión y de empalme. Un aislador sucio, trizado o roto pierde capacidad aislante y puede energizar la estructura.</a:t>
            </a:r>
          </a:p>
        </p:txBody>
      </p:sp>
      <p:sp>
        <p:nvSpPr>
          <p:cNvPr id="4" name="Marcador de número de diapositiva 3">
            <a:extLst>
              <a:ext uri="{FF2B5EF4-FFF2-40B4-BE49-F238E27FC236}">
                <a16:creationId xmlns:a16="http://schemas.microsoft.com/office/drawing/2014/main" id="{750529B5-A76D-20AC-480A-0D6F5C1CAEEE}"/>
              </a:ext>
            </a:extLst>
          </p:cNvPr>
          <p:cNvSpPr>
            <a:spLocks noGrp="1"/>
          </p:cNvSpPr>
          <p:nvPr>
            <p:ph type="sldNum" sz="quarter" idx="10"/>
          </p:nvPr>
        </p:nvSpPr>
        <p:spPr/>
        <p:txBody>
          <a:bodyPr/>
          <a:lstStyle/>
          <a:p>
            <a:fld id="{FC5F435B-7C44-B143-9BFD-FC26EF0D921E}" type="slidenum">
              <a:rPr lang="es-ES" smtClean="0"/>
              <a:t>12</a:t>
            </a:fld>
            <a:endParaRPr lang="es-ES"/>
          </a:p>
        </p:txBody>
      </p:sp>
    </p:spTree>
    <p:extLst>
      <p:ext uri="{BB962C8B-B14F-4D97-AF65-F5344CB8AC3E}">
        <p14:creationId xmlns:p14="http://schemas.microsoft.com/office/powerpoint/2010/main" val="947947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D181D-A21F-1841-1804-9F37C94E99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3BB34B-14DE-99CD-43B2-C4E41322814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F698E8-9E42-1C89-1B7B-17BBDC689B9E}"/>
              </a:ext>
            </a:extLst>
          </p:cNvPr>
          <p:cNvSpPr>
            <a:spLocks noGrp="1"/>
          </p:cNvSpPr>
          <p:nvPr>
            <p:ph type="body" idx="1"/>
          </p:nvPr>
        </p:nvSpPr>
        <p:spPr/>
        <p:txBody>
          <a:bodyPr/>
          <a:lstStyle/>
          <a:p>
            <a:r>
              <a:t>En media tensión los aisladores son de mayor tamaño, porque deben soportar tensiones más altas. Aquí ves aisladores de suspensión y de retención. Un tamaño mayor de aislador es una señal visual de que estás frente a una tensión mayor.</a:t>
            </a:r>
          </a:p>
        </p:txBody>
      </p:sp>
      <p:sp>
        <p:nvSpPr>
          <p:cNvPr id="4" name="Marcador de número de diapositiva 3">
            <a:extLst>
              <a:ext uri="{FF2B5EF4-FFF2-40B4-BE49-F238E27FC236}">
                <a16:creationId xmlns:a16="http://schemas.microsoft.com/office/drawing/2014/main" id="{7CC95571-61DA-76F0-6B92-D710B7AF07CB}"/>
              </a:ext>
            </a:extLst>
          </p:cNvPr>
          <p:cNvSpPr>
            <a:spLocks noGrp="1"/>
          </p:cNvSpPr>
          <p:nvPr>
            <p:ph type="sldNum" sz="quarter" idx="10"/>
          </p:nvPr>
        </p:nvSpPr>
        <p:spPr/>
        <p:txBody>
          <a:bodyPr/>
          <a:lstStyle/>
          <a:p>
            <a:fld id="{FC5F435B-7C44-B143-9BFD-FC26EF0D921E}" type="slidenum">
              <a:rPr lang="es-ES" smtClean="0"/>
              <a:t>13</a:t>
            </a:fld>
            <a:endParaRPr lang="es-ES"/>
          </a:p>
        </p:txBody>
      </p:sp>
    </p:spTree>
    <p:extLst>
      <p:ext uri="{BB962C8B-B14F-4D97-AF65-F5344CB8AC3E}">
        <p14:creationId xmlns:p14="http://schemas.microsoft.com/office/powerpoint/2010/main" val="1992772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FDE3D-CFEE-59C1-9B46-124A22BDF9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D041361-C492-1AFA-6E32-74907F4E007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69BF496-FB22-4792-6997-B61E5449D68B}"/>
              </a:ext>
            </a:extLst>
          </p:cNvPr>
          <p:cNvSpPr>
            <a:spLocks noGrp="1"/>
          </p:cNvSpPr>
          <p:nvPr>
            <p:ph type="body" idx="1"/>
          </p:nvPr>
        </p:nvSpPr>
        <p:spPr/>
        <p:txBody>
          <a:bodyPr/>
          <a:lstStyle/>
          <a:p>
            <a:r>
              <a:t>Además de postes y conductores, la red tiene equipos que cumplen funciones específicas: protecciones que detectan fallas, transformadores que reducen la media a baja tensión, seccionadores, equipos de medida, bancos de condensadores y reguladores de voltaje. Cada uno de ellos implica interacción con el personal y, por lo tanto, riesgo.</a:t>
            </a:r>
          </a:p>
        </p:txBody>
      </p:sp>
      <p:sp>
        <p:nvSpPr>
          <p:cNvPr id="4" name="Marcador de número de diapositiva 3">
            <a:extLst>
              <a:ext uri="{FF2B5EF4-FFF2-40B4-BE49-F238E27FC236}">
                <a16:creationId xmlns:a16="http://schemas.microsoft.com/office/drawing/2014/main" id="{C9725340-8A60-6224-5B18-474A3CC53A8E}"/>
              </a:ext>
            </a:extLst>
          </p:cNvPr>
          <p:cNvSpPr>
            <a:spLocks noGrp="1"/>
          </p:cNvSpPr>
          <p:nvPr>
            <p:ph type="sldNum" sz="quarter" idx="10"/>
          </p:nvPr>
        </p:nvSpPr>
        <p:spPr/>
        <p:txBody>
          <a:bodyPr/>
          <a:lstStyle/>
          <a:p>
            <a:fld id="{FC5F435B-7C44-B143-9BFD-FC26EF0D921E}" type="slidenum">
              <a:rPr lang="es-ES" smtClean="0"/>
              <a:t>14</a:t>
            </a:fld>
            <a:endParaRPr lang="es-ES"/>
          </a:p>
        </p:txBody>
      </p:sp>
    </p:spTree>
    <p:extLst>
      <p:ext uri="{BB962C8B-B14F-4D97-AF65-F5344CB8AC3E}">
        <p14:creationId xmlns:p14="http://schemas.microsoft.com/office/powerpoint/2010/main" val="3606198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0D647-3D4B-2A3F-401C-7D0351B37F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2F105E-903D-3F8F-8D9F-D89D78DBA2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C379873-A6B4-4D81-8AB2-4A2451EC7906}"/>
              </a:ext>
            </a:extLst>
          </p:cNvPr>
          <p:cNvSpPr>
            <a:spLocks noGrp="1"/>
          </p:cNvSpPr>
          <p:nvPr>
            <p:ph type="body" idx="1"/>
          </p:nvPr>
        </p:nvSpPr>
        <p:spPr/>
        <p:txBody>
          <a:bodyPr/>
          <a:lstStyle/>
          <a:p>
            <a:r>
              <a:t>Comenzamos el tema 1.2, fallas y perturbaciones. Las fallas más comunes son los cortocircuitos, las fallas a tierra, las fugas de corriente y los circuitos abiertos. Las fallas son el origen de muchos accidentes, ya que pueden energizar partes que normalmente no tienen tensión.</a:t>
            </a:r>
          </a:p>
        </p:txBody>
      </p:sp>
      <p:sp>
        <p:nvSpPr>
          <p:cNvPr id="4" name="Marcador de número de diapositiva 3">
            <a:extLst>
              <a:ext uri="{FF2B5EF4-FFF2-40B4-BE49-F238E27FC236}">
                <a16:creationId xmlns:a16="http://schemas.microsoft.com/office/drawing/2014/main" id="{1F6303AB-6F13-0D71-A58C-D0759A7430E8}"/>
              </a:ext>
            </a:extLst>
          </p:cNvPr>
          <p:cNvSpPr>
            <a:spLocks noGrp="1"/>
          </p:cNvSpPr>
          <p:nvPr>
            <p:ph type="sldNum" sz="quarter" idx="10"/>
          </p:nvPr>
        </p:nvSpPr>
        <p:spPr/>
        <p:txBody>
          <a:bodyPr/>
          <a:lstStyle/>
          <a:p>
            <a:fld id="{FC5F435B-7C44-B143-9BFD-FC26EF0D921E}" type="slidenum">
              <a:rPr lang="es-ES" smtClean="0"/>
              <a:t>15</a:t>
            </a:fld>
            <a:endParaRPr lang="es-ES"/>
          </a:p>
        </p:txBody>
      </p:sp>
    </p:spTree>
    <p:extLst>
      <p:ext uri="{BB962C8B-B14F-4D97-AF65-F5344CB8AC3E}">
        <p14:creationId xmlns:p14="http://schemas.microsoft.com/office/powerpoint/2010/main" val="4149971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C697E-9AD1-B8F8-5376-9215949FDF2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B64B77-F72B-5238-AAD1-BA1FD3B1F1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CF95B3E-1FA0-F9CE-84A8-348E651C84C5}"/>
              </a:ext>
            </a:extLst>
          </p:cNvPr>
          <p:cNvSpPr>
            <a:spLocks noGrp="1"/>
          </p:cNvSpPr>
          <p:nvPr>
            <p:ph type="body" idx="1"/>
          </p:nvPr>
        </p:nvSpPr>
        <p:spPr/>
        <p:txBody>
          <a:bodyPr/>
          <a:lstStyle/>
          <a:p>
            <a:r>
              <a:t>Las perturbaciones afectan la calidad de la energía: transitorios, interrupciones, caídas y subidas de tensión, distorsión de la forma de onda y fluctuaciones. Una sobretensión, por ejemplo, puede generar un arco entre conductores muy cercanos.</a:t>
            </a:r>
          </a:p>
        </p:txBody>
      </p:sp>
      <p:sp>
        <p:nvSpPr>
          <p:cNvPr id="4" name="Marcador de número de diapositiva 3">
            <a:extLst>
              <a:ext uri="{FF2B5EF4-FFF2-40B4-BE49-F238E27FC236}">
                <a16:creationId xmlns:a16="http://schemas.microsoft.com/office/drawing/2014/main" id="{FF20772A-89F3-B4DD-AF5E-2B8F4AA23C96}"/>
              </a:ext>
            </a:extLst>
          </p:cNvPr>
          <p:cNvSpPr>
            <a:spLocks noGrp="1"/>
          </p:cNvSpPr>
          <p:nvPr>
            <p:ph type="sldNum" sz="quarter" idx="10"/>
          </p:nvPr>
        </p:nvSpPr>
        <p:spPr/>
        <p:txBody>
          <a:bodyPr/>
          <a:lstStyle/>
          <a:p>
            <a:fld id="{FC5F435B-7C44-B143-9BFD-FC26EF0D921E}" type="slidenum">
              <a:rPr lang="es-ES" smtClean="0"/>
              <a:t>16</a:t>
            </a:fld>
            <a:endParaRPr lang="es-ES"/>
          </a:p>
        </p:txBody>
      </p:sp>
    </p:spTree>
    <p:extLst>
      <p:ext uri="{BB962C8B-B14F-4D97-AF65-F5344CB8AC3E}">
        <p14:creationId xmlns:p14="http://schemas.microsoft.com/office/powerpoint/2010/main" val="30668960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5BF38-1940-2435-BCBB-D85A86B34C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837605-BF61-227F-DD36-D9195C166C4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8BD6374-0EA4-DD69-5A48-EC3473CEF6C7}"/>
              </a:ext>
            </a:extLst>
          </p:cNvPr>
          <p:cNvSpPr>
            <a:spLocks noGrp="1"/>
          </p:cNvSpPr>
          <p:nvPr>
            <p:ph type="body" idx="1"/>
          </p:nvPr>
        </p:nvSpPr>
        <p:spPr/>
        <p:txBody>
          <a:bodyPr/>
          <a:lstStyle/>
          <a:p>
            <a:r>
              <a:t>En la red aérea existen dos tipologías principales de riesgo. La primera es la electrocución. Sus efectos directos son la muerte por choque eléctrico, la descarga eléctrica y las quemaduras o necrosis en media tensión. Sus efectos indirectos son las caídas desde altura y los incendios. En trabajo en postes, la caída posterior a una descarga es tan peligrosa como la descarga misma.</a:t>
            </a:r>
          </a:p>
        </p:txBody>
      </p:sp>
      <p:sp>
        <p:nvSpPr>
          <p:cNvPr id="4" name="Marcador de número de diapositiva 3">
            <a:extLst>
              <a:ext uri="{FF2B5EF4-FFF2-40B4-BE49-F238E27FC236}">
                <a16:creationId xmlns:a16="http://schemas.microsoft.com/office/drawing/2014/main" id="{45B682AE-6DBC-2784-01EB-EB7087E87F23}"/>
              </a:ext>
            </a:extLst>
          </p:cNvPr>
          <p:cNvSpPr>
            <a:spLocks noGrp="1"/>
          </p:cNvSpPr>
          <p:nvPr>
            <p:ph type="sldNum" sz="quarter" idx="10"/>
          </p:nvPr>
        </p:nvSpPr>
        <p:spPr/>
        <p:txBody>
          <a:bodyPr/>
          <a:lstStyle/>
          <a:p>
            <a:fld id="{FC5F435B-7C44-B143-9BFD-FC26EF0D921E}" type="slidenum">
              <a:rPr lang="es-ES" smtClean="0"/>
              <a:t>17</a:t>
            </a:fld>
            <a:endParaRPr lang="es-ES"/>
          </a:p>
        </p:txBody>
      </p:sp>
    </p:spTree>
    <p:extLst>
      <p:ext uri="{BB962C8B-B14F-4D97-AF65-F5344CB8AC3E}">
        <p14:creationId xmlns:p14="http://schemas.microsoft.com/office/powerpoint/2010/main" val="1606897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D2C20-0CDF-E98D-7A12-7E6F22691A5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7F7C216-7D10-85C5-8C25-13440C00378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2856C91-F2A9-1C9C-4343-6F739E947AAC}"/>
              </a:ext>
            </a:extLst>
          </p:cNvPr>
          <p:cNvSpPr>
            <a:spLocks noGrp="1"/>
          </p:cNvSpPr>
          <p:nvPr>
            <p:ph type="body" idx="1"/>
          </p:nvPr>
        </p:nvSpPr>
        <p:spPr/>
        <p:txBody>
          <a:bodyPr/>
          <a:lstStyle/>
          <a:p>
            <a:r>
              <a:t>La segunda tipología de riesgo es el arco eléctrico. Su efecto directo son quemaduras graves de segundo y tercer grado, tanto en baja como en media tensión. Sus efectos indirectos, igual que en la electrocución, son caídas e incendios. El arco no requiere que toques el conductor: basta con estar cerca cuando ocurre.</a:t>
            </a:r>
          </a:p>
        </p:txBody>
      </p:sp>
      <p:sp>
        <p:nvSpPr>
          <p:cNvPr id="4" name="Marcador de número de diapositiva 3">
            <a:extLst>
              <a:ext uri="{FF2B5EF4-FFF2-40B4-BE49-F238E27FC236}">
                <a16:creationId xmlns:a16="http://schemas.microsoft.com/office/drawing/2014/main" id="{C9AAB594-D3B8-B909-249B-B6D247EE3F40}"/>
              </a:ext>
            </a:extLst>
          </p:cNvPr>
          <p:cNvSpPr>
            <a:spLocks noGrp="1"/>
          </p:cNvSpPr>
          <p:nvPr>
            <p:ph type="sldNum" sz="quarter" idx="10"/>
          </p:nvPr>
        </p:nvSpPr>
        <p:spPr/>
        <p:txBody>
          <a:bodyPr/>
          <a:lstStyle/>
          <a:p>
            <a:fld id="{FC5F435B-7C44-B143-9BFD-FC26EF0D921E}" type="slidenum">
              <a:rPr lang="es-ES" smtClean="0"/>
              <a:t>19</a:t>
            </a:fld>
            <a:endParaRPr lang="es-ES"/>
          </a:p>
        </p:txBody>
      </p:sp>
    </p:spTree>
    <p:extLst>
      <p:ext uri="{BB962C8B-B14F-4D97-AF65-F5344CB8AC3E}">
        <p14:creationId xmlns:p14="http://schemas.microsoft.com/office/powerpoint/2010/main" val="3599058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9CF30-506B-7020-55E7-937A52FEB1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3BCC00-4ADB-D9B0-15AA-5A32012B636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DC3D83-091C-3E2F-5C6C-F9EBA5B9B1CA}"/>
              </a:ext>
            </a:extLst>
          </p:cNvPr>
          <p:cNvSpPr>
            <a:spLocks noGrp="1"/>
          </p:cNvSpPr>
          <p:nvPr>
            <p:ph type="body" idx="1"/>
          </p:nvPr>
        </p:nvSpPr>
        <p:spPr/>
        <p:txBody>
          <a:bodyPr/>
          <a:lstStyle/>
          <a:p>
            <a:r>
              <a:t>Iniciamos el Módulo 2: marcos normativos. En Chile, las instalaciones de consumo en baja y media tensión se rigen por el Decreto Supremo 8 de la SEC, Reglamento de Seguridad de las Instalaciones de Consumo de Energía Eléctrica, con sus pliegos técnicos RIC 1 al 19, que reemplazaron a la antigua norma NCh Elec 4/2003. Su objetivo es fijar las condiciones mínimas de seguridad para proteger a personas e instalaciones.</a:t>
            </a:r>
          </a:p>
        </p:txBody>
      </p:sp>
      <p:sp>
        <p:nvSpPr>
          <p:cNvPr id="4" name="Marcador de número de diapositiva 3">
            <a:extLst>
              <a:ext uri="{FF2B5EF4-FFF2-40B4-BE49-F238E27FC236}">
                <a16:creationId xmlns:a16="http://schemas.microsoft.com/office/drawing/2014/main" id="{2D7B1D86-043D-4FFA-A027-98F490B99564}"/>
              </a:ext>
            </a:extLst>
          </p:cNvPr>
          <p:cNvSpPr>
            <a:spLocks noGrp="1"/>
          </p:cNvSpPr>
          <p:nvPr>
            <p:ph type="sldNum" sz="quarter" idx="10"/>
          </p:nvPr>
        </p:nvSpPr>
        <p:spPr/>
        <p:txBody>
          <a:bodyPr/>
          <a:lstStyle/>
          <a:p>
            <a:fld id="{FC5F435B-7C44-B143-9BFD-FC26EF0D921E}" type="slidenum">
              <a:rPr lang="es-ES" smtClean="0"/>
              <a:t>21</a:t>
            </a:fld>
            <a:endParaRPr lang="es-ES"/>
          </a:p>
        </p:txBody>
      </p:sp>
    </p:spTree>
    <p:extLst>
      <p:ext uri="{BB962C8B-B14F-4D97-AF65-F5344CB8AC3E}">
        <p14:creationId xmlns:p14="http://schemas.microsoft.com/office/powerpoint/2010/main" val="2595780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Esta lámina resume los pliegos técnicos normativos RIC del DS 8. No es necesario memorizarlos; sí es importante saber que existen y que, para operación y mantenimiento, el pliego de referencia es el RIC N° 17.</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22</a:t>
            </a:fld>
            <a:endParaRPr lang="es-ES"/>
          </a:p>
        </p:txBody>
      </p:sp>
    </p:spTree>
    <p:extLst>
      <p:ext uri="{BB962C8B-B14F-4D97-AF65-F5344CB8AC3E}">
        <p14:creationId xmlns:p14="http://schemas.microsoft.com/office/powerpoint/2010/main" val="641219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El Título III del Decreto 109 establece las responsabilidades y enumera los pliegos de normas técnicas que lo complementan, conforme al artículo 10° de la ley. Revisa el listado en pantalla.</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24</a:t>
            </a:fld>
            <a:endParaRPr lang="es-ES"/>
          </a:p>
        </p:txBody>
      </p:sp>
    </p:spTree>
    <p:extLst>
      <p:ext uri="{BB962C8B-B14F-4D97-AF65-F5344CB8AC3E}">
        <p14:creationId xmlns:p14="http://schemas.microsoft.com/office/powerpoint/2010/main" val="2896337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¿Es obligatorio aplicar la NFPA 70E? Sí. La normativa chilena vigente la incorpora como referencia, independientemente del nivel de tensión.</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39</a:t>
            </a:fld>
            <a:endParaRPr lang="es-ES"/>
          </a:p>
        </p:txBody>
      </p:sp>
    </p:spTree>
    <p:extLst>
      <p:ext uri="{BB962C8B-B14F-4D97-AF65-F5344CB8AC3E}">
        <p14:creationId xmlns:p14="http://schemas.microsoft.com/office/powerpoint/2010/main" val="38024098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Si eres operador de sistemas de generación, transmisión o distribución, la NFPA 70E te es exigida por el Decreto 109 a través del Pliego Técnico Normativo RPTD N° 15.</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40</a:t>
            </a:fld>
            <a:endParaRPr lang="es-ES"/>
          </a:p>
        </p:txBody>
      </p:sp>
    </p:spTree>
    <p:extLst>
      <p:ext uri="{BB962C8B-B14F-4D97-AF65-F5344CB8AC3E}">
        <p14:creationId xmlns:p14="http://schemas.microsoft.com/office/powerpoint/2010/main" val="228431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Si eres operador de instalaciones de consumo final en baja y media tensión, la NFPA 70E te es exigida por el Decreto Supremo 8, a través del pliego RIC N° 17 de Operación y Mantenimiento.</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43</a:t>
            </a:fld>
            <a:endParaRPr lang="es-ES"/>
          </a:p>
        </p:txBody>
      </p:sp>
    </p:spTree>
    <p:extLst>
      <p:ext uri="{BB962C8B-B14F-4D97-AF65-F5344CB8AC3E}">
        <p14:creationId xmlns:p14="http://schemas.microsoft.com/office/powerpoint/2010/main" val="38427470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¿De qué forma podemos hacer contacto con el sistema eléctrico? Existen dos formas: contacto directo y contacto indirecto. Veamos cada una.</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52</a:t>
            </a:fld>
            <a:endParaRPr lang="es-ES"/>
          </a:p>
        </p:txBody>
      </p:sp>
    </p:spTree>
    <p:extLst>
      <p:ext uri="{BB962C8B-B14F-4D97-AF65-F5344CB8AC3E}">
        <p14:creationId xmlns:p14="http://schemas.microsoft.com/office/powerpoint/2010/main" val="2342508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Contacto directo: ocurre cuando una parte del cuerpo toca una parte del circuito que en condiciones normales está energizada, por ejemplo un conductor desnudo o un borne.</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53</a:t>
            </a:fld>
            <a:endParaRPr lang="es-ES"/>
          </a:p>
        </p:txBody>
      </p:sp>
    </p:spTree>
    <p:extLst>
      <p:ext uri="{BB962C8B-B14F-4D97-AF65-F5344CB8AC3E}">
        <p14:creationId xmlns:p14="http://schemas.microsoft.com/office/powerpoint/2010/main" val="546399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Contacto indirecto: ocurre cuando una parte del cuerpo toca una parte metálica de un equipo que normalmente está desenergizada, pero que se energizó por una falla, por ejemplo la carcasa de un equipo con aislación dañada.</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54</a:t>
            </a:fld>
            <a:endParaRPr lang="es-ES"/>
          </a:p>
        </p:txBody>
      </p:sp>
    </p:spTree>
    <p:extLst>
      <p:ext uri="{BB962C8B-B14F-4D97-AF65-F5344CB8AC3E}">
        <p14:creationId xmlns:p14="http://schemas.microsoft.com/office/powerpoint/2010/main" val="19119246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t>El pliego RIC 5 del DS 8 exige que las instalaciones cuenten con dispositivos de desconexión automática por corrientes de fuga: los protectores diferenciales. Estos detectan la diferencia entre la corriente que entra y la que sale del circuito y desconectan cuando esa diferencia supera su umbral de sensibilidad.</a:t>
            </a:r>
          </a:p>
        </p:txBody>
      </p:sp>
      <p:sp>
        <p:nvSpPr>
          <p:cNvPr id="4" name="3 Marcador de número de diapositiva"/>
          <p:cNvSpPr>
            <a:spLocks noGrp="1"/>
          </p:cNvSpPr>
          <p:nvPr>
            <p:ph type="sldNum" sz="quarter" idx="10"/>
          </p:nvPr>
        </p:nvSpPr>
        <p:spPr/>
        <p:txBody>
          <a:bodyPr/>
          <a:lstStyle/>
          <a:p>
            <a:fld id="{FC5F435B-7C44-B143-9BFD-FC26EF0D921E}" type="slidenum">
              <a:rPr lang="es-ES" smtClean="0"/>
              <a:t>55</a:t>
            </a:fld>
            <a:endParaRPr lang="es-ES"/>
          </a:p>
        </p:txBody>
      </p:sp>
    </p:spTree>
    <p:extLst>
      <p:ext uri="{BB962C8B-B14F-4D97-AF65-F5344CB8AC3E}">
        <p14:creationId xmlns:p14="http://schemas.microsoft.com/office/powerpoint/2010/main" val="2264536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t>Existen protectores diferenciales monofásicos y trifásicos. Observa sus diferencias en número de polos.</a:t>
            </a:r>
          </a:p>
        </p:txBody>
      </p:sp>
      <p:sp>
        <p:nvSpPr>
          <p:cNvPr id="4" name="3 Marcador de número de diapositiva"/>
          <p:cNvSpPr>
            <a:spLocks noGrp="1"/>
          </p:cNvSpPr>
          <p:nvPr>
            <p:ph type="sldNum" sz="quarter" idx="10"/>
          </p:nvPr>
        </p:nvSpPr>
        <p:spPr/>
        <p:txBody>
          <a:bodyPr/>
          <a:lstStyle/>
          <a:p>
            <a:fld id="{FC5F435B-7C44-B143-9BFD-FC26EF0D921E}" type="slidenum">
              <a:rPr lang="es-ES" smtClean="0"/>
              <a:t>56</a:t>
            </a:fld>
            <a:endParaRPr lang="es-ES"/>
          </a:p>
        </p:txBody>
      </p:sp>
    </p:spTree>
    <p:extLst>
      <p:ext uri="{BB962C8B-B14F-4D97-AF65-F5344CB8AC3E}">
        <p14:creationId xmlns:p14="http://schemas.microsoft.com/office/powerpoint/2010/main" val="25124973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t>Este esquema muestra el principio de funcionamiento del diferencial: mientras la corriente de ida y de vuelta sean iguales, no actúa; cuando parte de la corriente se fuga a tierra, por ejemplo a través de una persona, el dispositivo desconecta.</a:t>
            </a:r>
          </a:p>
        </p:txBody>
      </p:sp>
      <p:sp>
        <p:nvSpPr>
          <p:cNvPr id="4" name="3 Marcador de número de diapositiva"/>
          <p:cNvSpPr>
            <a:spLocks noGrp="1"/>
          </p:cNvSpPr>
          <p:nvPr>
            <p:ph type="sldNum" sz="quarter" idx="10"/>
          </p:nvPr>
        </p:nvSpPr>
        <p:spPr/>
        <p:txBody>
          <a:bodyPr/>
          <a:lstStyle/>
          <a:p>
            <a:fld id="{FC5F435B-7C44-B143-9BFD-FC26EF0D921E}" type="slidenum">
              <a:rPr lang="es-ES" smtClean="0"/>
              <a:t>57</a:t>
            </a:fld>
            <a:endParaRPr lang="es-ES"/>
          </a:p>
        </p:txBody>
      </p:sp>
    </p:spTree>
    <p:extLst>
      <p:ext uri="{BB962C8B-B14F-4D97-AF65-F5344CB8AC3E}">
        <p14:creationId xmlns:p14="http://schemas.microsoft.com/office/powerpoint/2010/main" val="7564770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t>Revisa este complemento sobre el funcionamiento y la selección de los protectores diferenciales.</a:t>
            </a:r>
          </a:p>
        </p:txBody>
      </p:sp>
      <p:sp>
        <p:nvSpPr>
          <p:cNvPr id="4" name="3 Marcador de número de diapositiva"/>
          <p:cNvSpPr>
            <a:spLocks noGrp="1"/>
          </p:cNvSpPr>
          <p:nvPr>
            <p:ph type="sldNum" sz="quarter" idx="10"/>
          </p:nvPr>
        </p:nvSpPr>
        <p:spPr/>
        <p:txBody>
          <a:bodyPr/>
          <a:lstStyle/>
          <a:p>
            <a:fld id="{FC5F435B-7C44-B143-9BFD-FC26EF0D921E}" type="slidenum">
              <a:rPr lang="es-ES" smtClean="0"/>
              <a:t>58</a:t>
            </a:fld>
            <a:endParaRPr lang="es-ES"/>
          </a:p>
        </p:txBody>
      </p:sp>
    </p:spTree>
    <p:extLst>
      <p:ext uri="{BB962C8B-B14F-4D97-AF65-F5344CB8AC3E}">
        <p14:creationId xmlns:p14="http://schemas.microsoft.com/office/powerpoint/2010/main" val="34960318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t>Según el RIC 5, las medidas de protección contra tensiones peligrosas incluyen el uso de protectores diferenciales de 30 miliamperes de sensibilidad y el empleo de tensiones reducidas de seguridad: 50 volts en ambiente seco y 24 volts en ambiente húmedo, en corriente alterna.</a:t>
            </a:r>
          </a:p>
        </p:txBody>
      </p:sp>
      <p:sp>
        <p:nvSpPr>
          <p:cNvPr id="4" name="3 Marcador de número de diapositiva"/>
          <p:cNvSpPr>
            <a:spLocks noGrp="1"/>
          </p:cNvSpPr>
          <p:nvPr>
            <p:ph type="sldNum" sz="quarter" idx="10"/>
          </p:nvPr>
        </p:nvSpPr>
        <p:spPr/>
        <p:txBody>
          <a:bodyPr/>
          <a:lstStyle/>
          <a:p>
            <a:fld id="{FC5F435B-7C44-B143-9BFD-FC26EF0D921E}" type="slidenum">
              <a:rPr lang="es-ES" smtClean="0"/>
              <a:t>59</a:t>
            </a:fld>
            <a:endParaRPr lang="es-ES"/>
          </a:p>
        </p:txBody>
      </p:sp>
    </p:spTree>
    <p:extLst>
      <p:ext uri="{BB962C8B-B14F-4D97-AF65-F5344CB8AC3E}">
        <p14:creationId xmlns:p14="http://schemas.microsoft.com/office/powerpoint/2010/main" val="2352005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E301B-CB3C-68CF-2DE8-5D6475C68F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D87EDB-800F-7866-223D-970FB48B3D6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D43884E-A7AF-408D-5AD3-F0706465C03E}"/>
              </a:ext>
            </a:extLst>
          </p:cNvPr>
          <p:cNvSpPr>
            <a:spLocks noGrp="1"/>
          </p:cNvSpPr>
          <p:nvPr>
            <p:ph type="body" idx="1"/>
          </p:nvPr>
        </p:nvSpPr>
        <p:spPr/>
        <p:txBody>
          <a:bodyPr/>
          <a:lstStyle/>
          <a:p>
            <a:r>
              <a:t>La distancia de seguridad es la mínima distancia que debe mantener cualquier parte del cuerpo del trabajador, o cualquier elemento conductor que manipule, respecto de los circuitos energizados cercanos.</a:t>
            </a:r>
          </a:p>
        </p:txBody>
      </p:sp>
      <p:sp>
        <p:nvSpPr>
          <p:cNvPr id="4" name="Marcador de número de diapositiva 3">
            <a:extLst>
              <a:ext uri="{FF2B5EF4-FFF2-40B4-BE49-F238E27FC236}">
                <a16:creationId xmlns:a16="http://schemas.microsoft.com/office/drawing/2014/main" id="{452DBADC-820A-954F-6C5E-9B5AB98CE63F}"/>
              </a:ext>
            </a:extLst>
          </p:cNvPr>
          <p:cNvSpPr>
            <a:spLocks noGrp="1"/>
          </p:cNvSpPr>
          <p:nvPr>
            <p:ph type="sldNum" sz="quarter" idx="10"/>
          </p:nvPr>
        </p:nvSpPr>
        <p:spPr/>
        <p:txBody>
          <a:bodyPr/>
          <a:lstStyle/>
          <a:p>
            <a:fld id="{FC5F435B-7C44-B143-9BFD-FC26EF0D921E}" type="slidenum">
              <a:rPr lang="es-ES" smtClean="0"/>
              <a:t>64</a:t>
            </a:fld>
            <a:endParaRPr lang="es-ES"/>
          </a:p>
        </p:txBody>
      </p:sp>
    </p:spTree>
    <p:extLst>
      <p:ext uri="{BB962C8B-B14F-4D97-AF65-F5344CB8AC3E}">
        <p14:creationId xmlns:p14="http://schemas.microsoft.com/office/powerpoint/2010/main" val="22348116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45477-FA7D-52FC-726B-9D068FD520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68F7B2-10CA-3B4B-8A02-E43AEAD60FF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4B35B0-189F-1BA1-FAF5-18343AD3033D}"/>
              </a:ext>
            </a:extLst>
          </p:cNvPr>
          <p:cNvSpPr>
            <a:spLocks noGrp="1"/>
          </p:cNvSpPr>
          <p:nvPr>
            <p:ph type="body" idx="1"/>
          </p:nvPr>
        </p:nvSpPr>
        <p:spPr/>
        <p:txBody>
          <a:bodyPr/>
          <a:lstStyle/>
          <a:p>
            <a:r>
              <a:t>Esta tabla de la NFPA 70E establece los límites de aproximación a partes energizadas. Por ejemplo, entre 751 V y 15 kV, la frontera de aproximación limitada es de 3,0 metros para conductores móviles y 1,5 metros para partes fijas, y la frontera de aproximación prohibida, que incluye movimientos inadvertidos, es de 0,7 metros. Ubica en la tabla la tensión de la red en que trabajas.</a:t>
            </a:r>
          </a:p>
        </p:txBody>
      </p:sp>
      <p:sp>
        <p:nvSpPr>
          <p:cNvPr id="4" name="Marcador de número de diapositiva 3">
            <a:extLst>
              <a:ext uri="{FF2B5EF4-FFF2-40B4-BE49-F238E27FC236}">
                <a16:creationId xmlns:a16="http://schemas.microsoft.com/office/drawing/2014/main" id="{D7FA25A7-D40E-B570-F015-4922D9E2DA39}"/>
              </a:ext>
            </a:extLst>
          </p:cNvPr>
          <p:cNvSpPr>
            <a:spLocks noGrp="1"/>
          </p:cNvSpPr>
          <p:nvPr>
            <p:ph type="sldNum" sz="quarter" idx="10"/>
          </p:nvPr>
        </p:nvSpPr>
        <p:spPr/>
        <p:txBody>
          <a:bodyPr/>
          <a:lstStyle/>
          <a:p>
            <a:fld id="{FC5F435B-7C44-B143-9BFD-FC26EF0D921E}" type="slidenum">
              <a:rPr lang="es-ES" smtClean="0"/>
              <a:t>66</a:t>
            </a:fld>
            <a:endParaRPr lang="es-ES"/>
          </a:p>
        </p:txBody>
      </p:sp>
    </p:spTree>
    <p:extLst>
      <p:ext uri="{BB962C8B-B14F-4D97-AF65-F5344CB8AC3E}">
        <p14:creationId xmlns:p14="http://schemas.microsoft.com/office/powerpoint/2010/main" val="29734257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Requisitos generales de la puesta a tierra temporal: un electrodo tipo barreno de al menos 1,5 metros de longitud y grapas o pinzas adecuadas a la geometría del elemento a conectar.</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84</a:t>
            </a:fld>
            <a:endParaRPr lang="es-ES"/>
          </a:p>
        </p:txBody>
      </p:sp>
    </p:spTree>
    <p:extLst>
      <p:ext uri="{BB962C8B-B14F-4D97-AF65-F5344CB8AC3E}">
        <p14:creationId xmlns:p14="http://schemas.microsoft.com/office/powerpoint/2010/main" val="26982031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El cable debe ser de cobre flexible, con cubierta transparente o translúcida que permita su inspección, y su calibre debe soportar como mínimo 40 kA en alta tensión, 8 kA en media tensión y 3 kA en baja tensión, durante un segundo, con temperatura final de 700 °C.</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85</a:t>
            </a:fld>
            <a:endParaRPr lang="es-ES"/>
          </a:p>
        </p:txBody>
      </p:sp>
    </p:spTree>
    <p:extLst>
      <p:ext uri="{BB962C8B-B14F-4D97-AF65-F5344CB8AC3E}">
        <p14:creationId xmlns:p14="http://schemas.microsoft.com/office/powerpoint/2010/main" val="19766466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Observa en estas imágenes un equipo de puesta a tierra temporal para media tensión con todos sus componentes.</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86</a:t>
            </a:fld>
            <a:endParaRPr lang="es-ES"/>
          </a:p>
        </p:txBody>
      </p:sp>
    </p:spTree>
    <p:extLst>
      <p:ext uri="{BB962C8B-B14F-4D97-AF65-F5344CB8AC3E}">
        <p14:creationId xmlns:p14="http://schemas.microsoft.com/office/powerpoint/2010/main" val="8342563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3F9-9AEB-B1D1-0339-3D9145692C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92D128-F0B4-3A08-5E06-9EE012670AF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10BD424-EA46-9CEA-4908-7E19885AB446}"/>
              </a:ext>
            </a:extLst>
          </p:cNvPr>
          <p:cNvSpPr>
            <a:spLocks noGrp="1"/>
          </p:cNvSpPr>
          <p:nvPr>
            <p:ph type="body" idx="1"/>
          </p:nvPr>
        </p:nvSpPr>
        <p:spPr/>
        <p:txBody>
          <a:bodyPr/>
          <a:lstStyle/>
          <a:p>
            <a:r>
              <a:t>Este es un ejemplo de puesta a tierra temporal en un sistema de baja tensión.</a:t>
            </a:r>
          </a:p>
        </p:txBody>
      </p:sp>
      <p:sp>
        <p:nvSpPr>
          <p:cNvPr id="4" name="Marcador de número de diapositiva 3">
            <a:extLst>
              <a:ext uri="{FF2B5EF4-FFF2-40B4-BE49-F238E27FC236}">
                <a16:creationId xmlns:a16="http://schemas.microsoft.com/office/drawing/2014/main" id="{B81CA259-55ED-5A94-0EC2-E0F6981E8D09}"/>
              </a:ext>
            </a:extLst>
          </p:cNvPr>
          <p:cNvSpPr>
            <a:spLocks noGrp="1"/>
          </p:cNvSpPr>
          <p:nvPr>
            <p:ph type="sldNum" sz="quarter" idx="10"/>
          </p:nvPr>
        </p:nvSpPr>
        <p:spPr/>
        <p:txBody>
          <a:bodyPr/>
          <a:lstStyle/>
          <a:p>
            <a:fld id="{FC5F435B-7C44-B143-9BFD-FC26EF0D921E}" type="slidenum">
              <a:rPr lang="es-ES" smtClean="0"/>
              <a:t>87</a:t>
            </a:fld>
            <a:endParaRPr lang="es-ES"/>
          </a:p>
        </p:txBody>
      </p:sp>
    </p:spTree>
    <p:extLst>
      <p:ext uri="{BB962C8B-B14F-4D97-AF65-F5344CB8AC3E}">
        <p14:creationId xmlns:p14="http://schemas.microsoft.com/office/powerpoint/2010/main" val="21233888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Se pueden usar cables de menor calibre solo si la corriente de falla calculada es menor que los valores indicados y el tiempo de despeje evita que el conductor supere los 700 °C. Si la corriente de falla es mayor, se debe usar un cable con capacidad suficiente.</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88</a:t>
            </a:fld>
            <a:endParaRPr lang="es-ES"/>
          </a:p>
        </p:txBody>
      </p:sp>
    </p:spTree>
    <p:extLst>
      <p:ext uri="{BB962C8B-B14F-4D97-AF65-F5344CB8AC3E}">
        <p14:creationId xmlns:p14="http://schemas.microsoft.com/office/powerpoint/2010/main" val="33840592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Aquí ves otros modelos de equipos de puesta a tierra para media tensión.</a:t>
            </a:r>
          </a:p>
        </p:txBody>
      </p:sp>
      <p:sp>
        <p:nvSpPr>
          <p:cNvPr id="4" name="Marcador de número de diapositiva 3"/>
          <p:cNvSpPr>
            <a:spLocks noGrp="1"/>
          </p:cNvSpPr>
          <p:nvPr>
            <p:ph type="sldNum" sz="quarter" idx="10"/>
          </p:nvPr>
        </p:nvSpPr>
        <p:spPr/>
        <p:txBody>
          <a:bodyPr/>
          <a:lstStyle/>
          <a:p>
            <a:fld id="{FC5F435B-7C44-B143-9BFD-FC26EF0D921E}" type="slidenum">
              <a:rPr lang="es-ES" smtClean="0"/>
              <a:t>89</a:t>
            </a:fld>
            <a:endParaRPr lang="es-ES"/>
          </a:p>
        </p:txBody>
      </p:sp>
    </p:spTree>
    <p:extLst>
      <p:ext uri="{BB962C8B-B14F-4D97-AF65-F5344CB8AC3E}">
        <p14:creationId xmlns:p14="http://schemas.microsoft.com/office/powerpoint/2010/main" val="7219819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A38F8-0708-141E-B638-DAF6E323B7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97611E-9195-D6FB-88D4-7E72324CF5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9EC736B-01C4-0108-2F33-DAADD8443F5A}"/>
              </a:ext>
            </a:extLst>
          </p:cNvPr>
          <p:cNvSpPr>
            <a:spLocks noGrp="1"/>
          </p:cNvSpPr>
          <p:nvPr>
            <p:ph type="body" idx="1"/>
          </p:nvPr>
        </p:nvSpPr>
        <p:spPr/>
        <p:txBody>
          <a:bodyPr/>
          <a:lstStyle/>
          <a:p>
            <a:r>
              <a:t>La instalación debe hacerse de modo que el liniero quede al potencial de tierra y con conexiones lo más cortas posible. La secuencia es clave: se instala desde la tierra hacia la última fase, y se retira desde las fases hacia la tierra.</a:t>
            </a:r>
          </a:p>
        </p:txBody>
      </p:sp>
      <p:sp>
        <p:nvSpPr>
          <p:cNvPr id="4" name="Marcador de número de diapositiva 3">
            <a:extLst>
              <a:ext uri="{FF2B5EF4-FFF2-40B4-BE49-F238E27FC236}">
                <a16:creationId xmlns:a16="http://schemas.microsoft.com/office/drawing/2014/main" id="{24B66ECA-5672-74ED-368F-DCE93F1FE187}"/>
              </a:ext>
            </a:extLst>
          </p:cNvPr>
          <p:cNvSpPr>
            <a:spLocks noGrp="1"/>
          </p:cNvSpPr>
          <p:nvPr>
            <p:ph type="sldNum" sz="quarter" idx="10"/>
          </p:nvPr>
        </p:nvSpPr>
        <p:spPr/>
        <p:txBody>
          <a:bodyPr/>
          <a:lstStyle/>
          <a:p>
            <a:fld id="{FC5F435B-7C44-B143-9BFD-FC26EF0D921E}" type="slidenum">
              <a:rPr lang="es-ES" smtClean="0"/>
              <a:t>90</a:t>
            </a:fld>
            <a:endParaRPr lang="es-ES"/>
          </a:p>
        </p:txBody>
      </p:sp>
    </p:spTree>
    <p:extLst>
      <p:ext uri="{BB962C8B-B14F-4D97-AF65-F5344CB8AC3E}">
        <p14:creationId xmlns:p14="http://schemas.microsoft.com/office/powerpoint/2010/main" val="13080136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E8259-3E2A-B8DA-44E0-7EAA9FD152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08099B-CE60-D24E-3A8F-431153ED8D0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9B0E82-D518-7292-5CEC-980AED530EBA}"/>
              </a:ext>
            </a:extLst>
          </p:cNvPr>
          <p:cNvSpPr>
            <a:spLocks noGrp="1"/>
          </p:cNvSpPr>
          <p:nvPr>
            <p:ph type="body" idx="1"/>
          </p:nvPr>
        </p:nvSpPr>
        <p:spPr/>
        <p:txBody>
          <a:bodyPr/>
          <a:lstStyle/>
          <a:p>
            <a:r>
              <a:t>Iniciamos el tema 3.1, tipos de equipos en la red. El desconectador fusible de media tensión es un equipo de maniobra y protección que permite aislar en forma visible tramos de circuito. La interrupción de corriente la realiza el fusible.</a:t>
            </a:r>
          </a:p>
        </p:txBody>
      </p:sp>
      <p:sp>
        <p:nvSpPr>
          <p:cNvPr id="4" name="Marcador de número de diapositiva 3">
            <a:extLst>
              <a:ext uri="{FF2B5EF4-FFF2-40B4-BE49-F238E27FC236}">
                <a16:creationId xmlns:a16="http://schemas.microsoft.com/office/drawing/2014/main" id="{75965ADE-4D6C-330B-970B-EAE9C467D542}"/>
              </a:ext>
            </a:extLst>
          </p:cNvPr>
          <p:cNvSpPr>
            <a:spLocks noGrp="1"/>
          </p:cNvSpPr>
          <p:nvPr>
            <p:ph type="sldNum" sz="quarter" idx="10"/>
          </p:nvPr>
        </p:nvSpPr>
        <p:spPr/>
        <p:txBody>
          <a:bodyPr/>
          <a:lstStyle/>
          <a:p>
            <a:fld id="{FC5F435B-7C44-B143-9BFD-FC26EF0D921E}" type="slidenum">
              <a:rPr lang="es-ES" smtClean="0"/>
              <a:t>91</a:t>
            </a:fld>
            <a:endParaRPr lang="es-ES"/>
          </a:p>
        </p:txBody>
      </p:sp>
    </p:spTree>
    <p:extLst>
      <p:ext uri="{BB962C8B-B14F-4D97-AF65-F5344CB8AC3E}">
        <p14:creationId xmlns:p14="http://schemas.microsoft.com/office/powerpoint/2010/main" val="28575337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8F8A5-4120-9A99-FE0D-08FD5E92FF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C97C29B-66A1-9D80-5F76-D714BA31CD2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4EA5DB4-2D36-5B09-0ED9-E6FC4879B80D}"/>
              </a:ext>
            </a:extLst>
          </p:cNvPr>
          <p:cNvSpPr>
            <a:spLocks noGrp="1"/>
          </p:cNvSpPr>
          <p:nvPr>
            <p:ph type="body" idx="1"/>
          </p:nvPr>
        </p:nvSpPr>
        <p:spPr/>
        <p:txBody>
          <a:bodyPr/>
          <a:lstStyle/>
          <a:p>
            <a:r>
              <a:t>Aquí ves el desconectador y el fusible por separado, y un liniero operándolo con pértiga.</a:t>
            </a:r>
          </a:p>
        </p:txBody>
      </p:sp>
      <p:sp>
        <p:nvSpPr>
          <p:cNvPr id="4" name="Marcador de número de diapositiva 3">
            <a:extLst>
              <a:ext uri="{FF2B5EF4-FFF2-40B4-BE49-F238E27FC236}">
                <a16:creationId xmlns:a16="http://schemas.microsoft.com/office/drawing/2014/main" id="{7DBF0CF9-61E4-917B-2944-678E4FBABF1E}"/>
              </a:ext>
            </a:extLst>
          </p:cNvPr>
          <p:cNvSpPr>
            <a:spLocks noGrp="1"/>
          </p:cNvSpPr>
          <p:nvPr>
            <p:ph type="sldNum" sz="quarter" idx="10"/>
          </p:nvPr>
        </p:nvSpPr>
        <p:spPr/>
        <p:txBody>
          <a:bodyPr/>
          <a:lstStyle/>
          <a:p>
            <a:fld id="{FC5F435B-7C44-B143-9BFD-FC26EF0D921E}" type="slidenum">
              <a:rPr lang="es-ES" smtClean="0"/>
              <a:t>92</a:t>
            </a:fld>
            <a:endParaRPr lang="es-ES"/>
          </a:p>
        </p:txBody>
      </p:sp>
    </p:spTree>
    <p:extLst>
      <p:ext uri="{BB962C8B-B14F-4D97-AF65-F5344CB8AC3E}">
        <p14:creationId xmlns:p14="http://schemas.microsoft.com/office/powerpoint/2010/main" val="3230449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371ED-0A84-6072-80A4-F379D2813B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E1F1CB-A31B-4A66-6910-42CA0648FE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79F482C-1DEC-D8D3-EB6B-5A5402610E96}"/>
              </a:ext>
            </a:extLst>
          </p:cNvPr>
          <p:cNvSpPr>
            <a:spLocks noGrp="1"/>
          </p:cNvSpPr>
          <p:nvPr>
            <p:ph type="body" idx="1"/>
          </p:nvPr>
        </p:nvSpPr>
        <p:spPr/>
        <p:txBody>
          <a:bodyPr/>
          <a:lstStyle/>
          <a:p>
            <a:r>
              <a:t>Los seccionadores de operación sin carga permiten aislar una parte de la red de manera segura para mantenimiento o ante una falla. Atención: no deben operarse con carga, porque se puede generar un arco.</a:t>
            </a:r>
          </a:p>
        </p:txBody>
      </p:sp>
      <p:sp>
        <p:nvSpPr>
          <p:cNvPr id="4" name="Marcador de número de diapositiva 3">
            <a:extLst>
              <a:ext uri="{FF2B5EF4-FFF2-40B4-BE49-F238E27FC236}">
                <a16:creationId xmlns:a16="http://schemas.microsoft.com/office/drawing/2014/main" id="{90128143-0581-7BFE-4AA1-550C7664CC9E}"/>
              </a:ext>
            </a:extLst>
          </p:cNvPr>
          <p:cNvSpPr>
            <a:spLocks noGrp="1"/>
          </p:cNvSpPr>
          <p:nvPr>
            <p:ph type="sldNum" sz="quarter" idx="10"/>
          </p:nvPr>
        </p:nvSpPr>
        <p:spPr/>
        <p:txBody>
          <a:bodyPr/>
          <a:lstStyle/>
          <a:p>
            <a:fld id="{FC5F435B-7C44-B143-9BFD-FC26EF0D921E}" type="slidenum">
              <a:rPr lang="es-ES" smtClean="0"/>
              <a:t>93</a:t>
            </a:fld>
            <a:endParaRPr lang="es-ES"/>
          </a:p>
        </p:txBody>
      </p:sp>
    </p:spTree>
    <p:extLst>
      <p:ext uri="{BB962C8B-B14F-4D97-AF65-F5344CB8AC3E}">
        <p14:creationId xmlns:p14="http://schemas.microsoft.com/office/powerpoint/2010/main" val="30187958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EE1E5-9BB2-9150-0E4D-2BB9C075CA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405D7E-D21D-2230-160F-E1378764DD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54E746F-BDE3-DEB9-1142-91C31E100D75}"/>
              </a:ext>
            </a:extLst>
          </p:cNvPr>
          <p:cNvSpPr>
            <a:spLocks noGrp="1"/>
          </p:cNvSpPr>
          <p:nvPr>
            <p:ph type="body" idx="1"/>
          </p:nvPr>
        </p:nvSpPr>
        <p:spPr/>
        <p:txBody>
          <a:bodyPr/>
          <a:lstStyle/>
          <a:p>
            <a:r>
              <a:t>El Alduti Rupter es un desconectador bajo carga que permite maniobras de apertura o cierre, manual o remota, en alimentadores de media tensión, para establecer límites de zona. Opera entre 14,4 y 69 kV con corrientes de 600 a 900 amperes y evita el arco o flameo.</a:t>
            </a:r>
          </a:p>
        </p:txBody>
      </p:sp>
      <p:sp>
        <p:nvSpPr>
          <p:cNvPr id="4" name="Marcador de número de diapositiva 3">
            <a:extLst>
              <a:ext uri="{FF2B5EF4-FFF2-40B4-BE49-F238E27FC236}">
                <a16:creationId xmlns:a16="http://schemas.microsoft.com/office/drawing/2014/main" id="{DC0CE09A-563F-F108-B2A8-D564B35EBB54}"/>
              </a:ext>
            </a:extLst>
          </p:cNvPr>
          <p:cNvSpPr>
            <a:spLocks noGrp="1"/>
          </p:cNvSpPr>
          <p:nvPr>
            <p:ph type="sldNum" sz="quarter" idx="10"/>
          </p:nvPr>
        </p:nvSpPr>
        <p:spPr/>
        <p:txBody>
          <a:bodyPr/>
          <a:lstStyle/>
          <a:p>
            <a:fld id="{FC5F435B-7C44-B143-9BFD-FC26EF0D921E}" type="slidenum">
              <a:rPr lang="es-ES" smtClean="0"/>
              <a:t>94</a:t>
            </a:fld>
            <a:endParaRPr lang="es-ES"/>
          </a:p>
        </p:txBody>
      </p:sp>
    </p:spTree>
    <p:extLst>
      <p:ext uri="{BB962C8B-B14F-4D97-AF65-F5344CB8AC3E}">
        <p14:creationId xmlns:p14="http://schemas.microsoft.com/office/powerpoint/2010/main" val="22327201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526E-0EC1-39A2-FBEC-7A88F4BE13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2FF725-E914-192C-CD4E-948507362D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5285B3-EDC7-7BDD-A463-6834311650AA}"/>
              </a:ext>
            </a:extLst>
          </p:cNvPr>
          <p:cNvSpPr>
            <a:spLocks noGrp="1"/>
          </p:cNvSpPr>
          <p:nvPr>
            <p:ph type="body" idx="1"/>
          </p:nvPr>
        </p:nvSpPr>
        <p:spPr/>
        <p:txBody>
          <a:bodyPr/>
          <a:lstStyle/>
          <a:p>
            <a:r>
              <a:t>Entre el 80 y el 95% de las fallas en distribución son temporales, causadas por viento o árboles. Por eso se instalan reconectadores automáticos, que normalmente se programan para reconectar tres veces. El trabajador interactúa con ellos para desconectarlos o conectarlos con pértiga, mediante el llamado 'pato amarillo'.</a:t>
            </a:r>
          </a:p>
        </p:txBody>
      </p:sp>
      <p:sp>
        <p:nvSpPr>
          <p:cNvPr id="4" name="Marcador de número de diapositiva 3">
            <a:extLst>
              <a:ext uri="{FF2B5EF4-FFF2-40B4-BE49-F238E27FC236}">
                <a16:creationId xmlns:a16="http://schemas.microsoft.com/office/drawing/2014/main" id="{AECE36BF-FF0E-DEE7-8F38-36C489B1B239}"/>
              </a:ext>
            </a:extLst>
          </p:cNvPr>
          <p:cNvSpPr>
            <a:spLocks noGrp="1"/>
          </p:cNvSpPr>
          <p:nvPr>
            <p:ph type="sldNum" sz="quarter" idx="10"/>
          </p:nvPr>
        </p:nvSpPr>
        <p:spPr/>
        <p:txBody>
          <a:bodyPr/>
          <a:lstStyle/>
          <a:p>
            <a:fld id="{FC5F435B-7C44-B143-9BFD-FC26EF0D921E}" type="slidenum">
              <a:rPr lang="es-ES" smtClean="0"/>
              <a:t>95</a:t>
            </a:fld>
            <a:endParaRPr lang="es-ES"/>
          </a:p>
        </p:txBody>
      </p:sp>
    </p:spTree>
    <p:extLst>
      <p:ext uri="{BB962C8B-B14F-4D97-AF65-F5344CB8AC3E}">
        <p14:creationId xmlns:p14="http://schemas.microsoft.com/office/powerpoint/2010/main" val="1899601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7753B-4E1D-2FF8-B36B-5024C89B53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DA48E5-21B3-894E-94E9-4FA73ED8AD4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02E6AA-634C-A522-ED97-973E9C2DE763}"/>
              </a:ext>
            </a:extLst>
          </p:cNvPr>
          <p:cNvSpPr>
            <a:spLocks noGrp="1"/>
          </p:cNvSpPr>
          <p:nvPr>
            <p:ph type="body" idx="1"/>
          </p:nvPr>
        </p:nvSpPr>
        <p:spPr/>
        <p:txBody>
          <a:bodyPr/>
          <a:lstStyle/>
          <a:p>
            <a:r>
              <a:t>A la izquierda, el 'pato amarillo' para operación manual; a la derecha, el gabinete de control del reconectador.</a:t>
            </a:r>
          </a:p>
        </p:txBody>
      </p:sp>
      <p:sp>
        <p:nvSpPr>
          <p:cNvPr id="4" name="Marcador de número de diapositiva 3">
            <a:extLst>
              <a:ext uri="{FF2B5EF4-FFF2-40B4-BE49-F238E27FC236}">
                <a16:creationId xmlns:a16="http://schemas.microsoft.com/office/drawing/2014/main" id="{E838AD9D-BECC-CBB9-A806-E8C61055D1B8}"/>
              </a:ext>
            </a:extLst>
          </p:cNvPr>
          <p:cNvSpPr>
            <a:spLocks noGrp="1"/>
          </p:cNvSpPr>
          <p:nvPr>
            <p:ph type="sldNum" sz="quarter" idx="10"/>
          </p:nvPr>
        </p:nvSpPr>
        <p:spPr/>
        <p:txBody>
          <a:bodyPr/>
          <a:lstStyle/>
          <a:p>
            <a:fld id="{FC5F435B-7C44-B143-9BFD-FC26EF0D921E}" type="slidenum">
              <a:rPr lang="es-ES" smtClean="0"/>
              <a:t>96</a:t>
            </a:fld>
            <a:endParaRPr lang="es-ES"/>
          </a:p>
        </p:txBody>
      </p:sp>
    </p:spTree>
    <p:extLst>
      <p:ext uri="{BB962C8B-B14F-4D97-AF65-F5344CB8AC3E}">
        <p14:creationId xmlns:p14="http://schemas.microsoft.com/office/powerpoint/2010/main" val="18939991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6C285-E744-B8BE-4483-CF4D876331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4933A6-1B3D-C0B9-4E48-C28E03F6B3E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1EE2C1-DC4A-0F90-93C6-54DDD9DCADA6}"/>
              </a:ext>
            </a:extLst>
          </p:cNvPr>
          <p:cNvSpPr>
            <a:spLocks noGrp="1"/>
          </p:cNvSpPr>
          <p:nvPr>
            <p:ph type="body" idx="1"/>
          </p:nvPr>
        </p:nvSpPr>
        <p:spPr/>
        <p:txBody>
          <a:bodyPr/>
          <a:lstStyle/>
          <a:p>
            <a:r>
              <a:t>Observa otros modelos de reconectadores instalados en la red.</a:t>
            </a:r>
          </a:p>
        </p:txBody>
      </p:sp>
      <p:sp>
        <p:nvSpPr>
          <p:cNvPr id="4" name="Marcador de número de diapositiva 3">
            <a:extLst>
              <a:ext uri="{FF2B5EF4-FFF2-40B4-BE49-F238E27FC236}">
                <a16:creationId xmlns:a16="http://schemas.microsoft.com/office/drawing/2014/main" id="{DE9B9F41-EF66-B3E6-D4F1-76B1002038AE}"/>
              </a:ext>
            </a:extLst>
          </p:cNvPr>
          <p:cNvSpPr>
            <a:spLocks noGrp="1"/>
          </p:cNvSpPr>
          <p:nvPr>
            <p:ph type="sldNum" sz="quarter" idx="10"/>
          </p:nvPr>
        </p:nvSpPr>
        <p:spPr/>
        <p:txBody>
          <a:bodyPr/>
          <a:lstStyle/>
          <a:p>
            <a:fld id="{FC5F435B-7C44-B143-9BFD-FC26EF0D921E}" type="slidenum">
              <a:rPr lang="es-ES" smtClean="0"/>
              <a:t>97</a:t>
            </a:fld>
            <a:endParaRPr lang="es-ES"/>
          </a:p>
        </p:txBody>
      </p:sp>
    </p:spTree>
    <p:extLst>
      <p:ext uri="{BB962C8B-B14F-4D97-AF65-F5344CB8AC3E}">
        <p14:creationId xmlns:p14="http://schemas.microsoft.com/office/powerpoint/2010/main" val="39791647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30476-4E3A-D06C-8376-8144DDF64A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A26649-C464-1B2C-6104-1065CABE3E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D9CA904-51D1-A0CD-00F7-2C88EBEB71CB}"/>
              </a:ext>
            </a:extLst>
          </p:cNvPr>
          <p:cNvSpPr>
            <a:spLocks noGrp="1"/>
          </p:cNvSpPr>
          <p:nvPr>
            <p:ph type="body" idx="1"/>
          </p:nvPr>
        </p:nvSpPr>
        <p:spPr/>
        <p:txBody>
          <a:bodyPr/>
          <a:lstStyle/>
          <a:p>
            <a:r>
              <a:t>Finalmente, el fusible NH de baja tensión cumple dos funciones: como cuchilla desconectadora y como elemento de protección. Su retiro e instalación deben hacerse con la manilla adecuada y el EPP correspondiente. Con esto terminamos el contenido del Módulo 3.</a:t>
            </a:r>
          </a:p>
        </p:txBody>
      </p:sp>
      <p:sp>
        <p:nvSpPr>
          <p:cNvPr id="4" name="Marcador de número de diapositiva 3">
            <a:extLst>
              <a:ext uri="{FF2B5EF4-FFF2-40B4-BE49-F238E27FC236}">
                <a16:creationId xmlns:a16="http://schemas.microsoft.com/office/drawing/2014/main" id="{6909F712-0E11-0C00-06DA-9A36BEB4FBB6}"/>
              </a:ext>
            </a:extLst>
          </p:cNvPr>
          <p:cNvSpPr>
            <a:spLocks noGrp="1"/>
          </p:cNvSpPr>
          <p:nvPr>
            <p:ph type="sldNum" sz="quarter" idx="10"/>
          </p:nvPr>
        </p:nvSpPr>
        <p:spPr/>
        <p:txBody>
          <a:bodyPr/>
          <a:lstStyle/>
          <a:p>
            <a:fld id="{FC5F435B-7C44-B143-9BFD-FC26EF0D921E}" type="slidenum">
              <a:rPr lang="es-ES" smtClean="0"/>
              <a:t>98</a:t>
            </a:fld>
            <a:endParaRPr lang="es-ES"/>
          </a:p>
        </p:txBody>
      </p:sp>
    </p:spTree>
    <p:extLst>
      <p:ext uri="{BB962C8B-B14F-4D97-AF65-F5344CB8AC3E}">
        <p14:creationId xmlns:p14="http://schemas.microsoft.com/office/powerpoint/2010/main" val="2232488823"/>
      </p:ext>
    </p:extLst>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 damos la bienvenida a este curso on-line asincrónico. Está organizado en tres módulos que puedes recorrer a tu propio ritmo, en aproximadamente cuatro horas de estudio. En las próximas láminas verás cómo usar el curso, sus objetivos y la ruta de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aprovechar este curso: avanza en orden y a tu ritmo; lee o escucha el guion de cada lámina; observa los videos con atención; responde las autoevaluaciones antes de mirar las respuestas; usa el botón Índice para moverte entre módulos; y al terminar, rinde la evaluación final para obtener tu certificado.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de este curso es que identifiques los riesgos eléctricos de la operación de redes aéreas de distribución y apliques las medidas de control para trabajar de forma segura. Cada módulo aporta un objetivo específico: primero los fundamentos y los riesgos; luego la normativa; y finalmente las distancias, el EPP y los equipos de maniobra.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índice del curso. Se compone de tres módulos y un cierre con la evaluación final. Te recomendamos recorrerlos en orden. Puedes volver a esta lámina en cualquier momento usando el botón Índice.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Comenzamos el Módulo 1: Fundamentos técnicos y tipos de riesgos eléctricos. Su duración estimada es de 50 min. Al terminarlo podrás: 1) Describir los componentes de una red aérea de distribución: estructuras, conductores, aisladores y equipos. 2) Distinguir los principales tipos de fallas y perturbaciones de la red. 3) Reconocer los riesgos de electrocución y arco eléctrico, y sus efectos directos e indirectos.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Repasemos las ideas clave del Módulo 1. La red comparte riesgos: Media y baja tensión suelen ir en el mismo poste: al trabajar en BT, la MT puede estar a centímetros. Protegido no es aislado: El conductor protegido de MT no garantiza aislación para una persona. Trátalo siempre como energizado. Las fallas energizan: Cortocircuitos, fallas a tierra y fugas pueden dejar con tensión partes que normalmente no la tienen. Dos riesgos principales: Electrocución y arco eléctrico. Ambos tienen efectos indirectos graves: caídas desde altura e incendios.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1. ¿Cuál es la función principal del conductor en una línea eléctrica aérea?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2. Un liniero recibe una descarga en lo alto de un poste. ¿Cuál de estos es un efecto INDIRECTO?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3. ¿Qué falla se produce cuando se unen dos conductores de distinto potencial?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4. ¿Cuál es el principal efecto directo del arco eléctrico sobre el trabajador?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 tus respuestas con la pauta. Si te equivocaste en alguna, vuelve a la lámina del tema correspondiente antes de continuar. Pregunta 1: alternativa B, Transportar la corriente eléctrica. El conductor (cobre o aluminio) transporta la corriente; las estructuras soportan y los aisladores separan. Pregunta 2: alternativa C, Caída desde altura. La caída es consecuencia indirecta de la descarga; quemaduras, fibrilación y necrosis son efectos directos. Pregunta 3: alternativa B, Cortocircuito. Un cortocircuito es la unión de puntos a distinto potencial; puede ser sólido o a través de un arco. Pregunta 4: alternativa A, Quemaduras graves de 2º y 3º grado. El arco libera una energía térmica enorme y provoca quemaduras graves aun sin contacto con el conductor.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Comenzamos el Módulo 2: Marcos normativos. Su duración estimada es de 60 min. Al terminarlo podrás: 1) Identificar la normativa chilena aplicable: DS 8 (pliegos RIC), DS 109 (pliegos RPTD) y NCh 350. 2) Explicar el propósito y el alcance de la norma NFPA 70E. 3) Relacionar corriente de arco, tiempo de despeje y energía incidente en un estudio de Arc Flash.</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Repasemos las ideas clave del Módulo 2. Consumo: DS 8: Instalaciones de consumo en BT y MT se rigen por el DS 8 y sus pliegos RIC; operación y mantenimiento: RIC N° 17. Distribución: DS 109: Producción, transporte y distribución se rigen por el DS 109; operación y mantenimiento: RPTD N° 15. NFPA 70E es exigible: Ambos reglamentos exigen procedimientos basados en la NFPA 70E (u OSHA 1910.269). Tiempo = energía: Con igual corriente de arco, más tiempo de despeje de la protección significa más energía incidente (cal/cm²).</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1. ¿Qué reglamento rige las instalaciones de consumo en baja y media tensión?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2. Para un operador de redes de distribución, ¿qué pliego exige la aplicación de la NFPA 70E?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3. Con la misma corriente de arco, si la protección demora más en despejar la falla, la energía incidente…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4. ¿Qué norma establece los requisitos de las instalaciones eléctricas provisorias en obras de construcción?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 tus respuestas con la pauta. Si te equivocaste en alguna, vuelve a la lámina del tema correspondiente antes de continuar. Pregunta 1: alternativa B, DS 8, pliegos RIC. El DS 8 de la SEC, con sus pliegos RIC 1 al 19, reemplazó a la NCh Elec 4/2003. Pregunta 2: alternativa D, RPTD N° 15. El DS 109 la exige a través del pliego RPTD N° 15 de Operación y Mantenimiento. Pregunta 3: alternativa A, Aumenta. La energía incidente crece con el tiempo de exposición: protecciones rápidas reducen el daño. Pregunta 4: alternativa B, NCh 350 Of. 2000. La NCh 350 Of. 2000 regula las instalaciones provisorias y la tierra de protección en faenas.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Comenzamos el Módulo 3: Equipos eléctricos y de operación en la red. Su duración estimada es de 110 min. Al terminarlo podrás: 1) Diferenciar contacto directo e indirecto, y las medidas de protección para cada uno. 2) Aplicar las distancias de seguridad y seleccionar el EPP según la categoría NFPA 70E. 3) Reconocer los equipos de maniobra y la puesta a tierra temporal, y su uso seguro.</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Repasemos las ideas clave del Módulo 3. Directo e indirecto: Directo: tocar algo normalmente energizado. Indirecto: tocar una masa energizada por una falla. Distancia es protección: Respeta las fronteras de aproximación de la NFPA 70E según la tensión de la línea. Verifica antes de tocar: No verificar la ausencia de tensión con el instrumento adecuado es una causa importante de muerte. Tierra: de abajo hacia arriba: La puesta a tierra temporal se instala desde la tierra a las fases y se retira de las fases a la tierra.</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1. Un trabajador toca la carcasa metálica de un equipo que se energizó por una falla de aislación. Es un contacto…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2. Según el RIC N° 5, ¿qué sensibilidad debe tener el protector diferencial para la protección de las personas?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3. ¿Cuál es la secuencia correcta para INSTALAR una puesta a tierra temporal?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4. En una línea de 12 kV, ¿cuál es la frontera de aproximación limitada a partes fijas energizadas (NFPA 70E)? Haz clic en la alternativa que consideres correcta; recibirás retroalimentación inmediata. (Usa el modo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 respuesta no es correcta. Lee la pista y vuelve a intentarlo.</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 tus respuestas con la pauta. Si te equivocaste en alguna, vuelve a la lámina del tema correspondiente antes de continuar. Pregunta 1: alternativa B, Indirecto. Es indirecto: la carcasa normalmente no tiene tensión, pero se energizó por una falla. Pregunta 2: alternativa B, 30 mA. 30 mA está bajo el umbral de fibrilación (≈40 mA) y protege ante contactos directos. Pregunta 3: alternativa B, Desde la tierra hacia la última fase. Primero se conecta a tierra y luego a las fases; para retirarla se hace al revés. Pregunta 4: alternativa C, 1,5 m. Para 751 V a 15 kV: 1,5 m a partes fijas; 3,0 m a conductores móviles; 0,7 m es la frontera prohibida.</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práctico. Imagina que tu cuadrilla debe reemplazar un fusible en un desconectador de una línea de 12 kV, con viento moderado y red de baja tensión en el mismo poste. Pausa aquí y responde las cuatro preguntas por escrito antes de pasar a la solución.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Solución propuesta. Primero, la distancia: para 12 kV la frontera de aproximación limitada a partes fijas es de 1,5 metros, y nunca debes acercarte a menos de 0,7 metros. Segundo, si hay carga, la apertura se hace con Loadbuster en pértiga para evitar el arco. Tercero, verifica la ausencia de tensión con un detector de media tensión probado antes y después. Cuarto, instala la puesta a tierra desde la tierra hacia las fases y usa guantes dieléctricos de la clase adecuada, careta y ropa ignífuga según la categoría de riesgo.</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 llegado a la evaluación final. Es un cuestionario de selección múltiple sobre los tres módulos. Para aprobar necesitas nota mínima 4,0. Antes de rendirla, repasa las ideas clave y tus autoevaluaciones.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glosario reúne los conceptos más importantes del curso. Úsalo como referencia rápida cuando lo necesites.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encontrarás las normas y reglamentos citados en el curso. Te recomendamos consultarlos en sus versiones vigentes en los sitios oficiales de la SEC y de cada organismo.</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¡Felicitaciones! Has completado el curso. Recuerda que la primera opción siempre es desenergizar, verificar y poner a tierra; y que ningún trabajo es tan urgente como para no hacerlo de forma segura.</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 con atención el siguiente video. Mientras lo ves, identifica: ¿qué condición insegura existía?, ¿qué acción insegura se cometió? y ¿qué medida de control habría evitado el accidente?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 el video de un accidente por arco eléctrico en un tablero. Observa la velocidad del evento, la energía liberada y la distancia que alcanza. Pregúntate qué elementos de protección personal habrían reducido las lesiones.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instalaciones de producción, transporte y distribución de energía rige el Decreto 109 del Ministerio de Energía, constituido por los pliegos técnicos RPTD 1 al 17. Este es el reglamento que aplica directamente a las empresas que operan redes de distribución.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instalaciones eléctricas provisorias en obras de construcción se aplica la norma NCh 350 Of. 2000, que establece los requisitos mínimos de seguridad para estas instalaciones temporales.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ves el detalle de la NCh 350 Of. 2000, sobre instalaciones eléctricas provisorias y tierra de protección.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la normativa chilena, se utiliza la norma estadounidense NFPA 70E, Norma para la Seguridad Eléctrica en Lugares de Trabajo. Nació a solicitud de OSHA en 1976 y su primera edición es de 1978. Hoy es la referencia internacional en seguridad eléctrica para trabajadores.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principio central de la NFPA 70E es que la primera opción siempre es desenergizar. Si no es posible desconectar la energía, se debe aumentar el nivel de protección del trabajador para que su cuerpo no quede expuesto a una energía calórica intolerable si se produce un arco eléctrico.</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propósito de la NFPA 70E es proveer en forma práctica un área de trabajo segura frente a los riesgos derivados del uso de la electricidad.</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norma cubre las prácticas de trabajo seguro, los requisitos de mantenimiento relacionados con la seguridad y los controles administrativos necesarios durante la instalación, inspección, operación, mantenimiento y desmantelamiento de conductores y equipos eléctricos.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un arco eléctrico? Es una descarga disruptiva en la que la corriente atraviesa completamente el aislante que separa dos conductores de diferente potencial, generalmente el aire. Se manifiesta como una columna de plasma incandescente que puede superar varios miles de grados.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Comparemos dos tipos de cortocircuito. En la falla sólida los conductores se unen directamente. En la falla por arco, la corriente circula a través del aire ionizado, liberando gran cantidad de energía en forma de calor, luz, presión y metal fundido.</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imagen muestra los efectos del arco eléctrico: radiación térmica, onda de presión, sonido intenso, metal fundido proyectado y luz intensa. Cada uno de ellos puede lesionar al trabajador.</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se produce un arco? Por contactos accidentales con partes energizadas, por la caída de herramientas que provocan un cortocircuito momentáneo, o por sobretensiones en espacios reducidos entre conductores de distintas fases, especialmente cuando estos están dañados o en mal estado.</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Vamos a la práctica. A continuación verás un video que muestra cómo se produce un arco eléctrico.</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 el video y fíjate en la secuencia: el inicio de la falla, la expansión del arco y la proyección de energía. Piensa en qué posición estaría el trabajador y qué parte de su cuerpo quedaría expuesta.</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estudio de Arc Flash relaciona cuatro variables: la corriente de cortocircuito, el tiempo de operación de las protecciones, la distancia del trabajador al punto de arco y, como resultado, la gravedad de las lesiones. Cuanto mayor sea la corriente y el tiempo, y menor la distancia, mayor será el daño.</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idea más importante del estudio de Arc Flash: para una misma corriente de arco, mientras más tiempo demore la protección en despejar la falla, mayor será la energía incidente, medida en calorías por centímetro cuadrado. Por eso la coordinación y el buen ajuste de las protecciones también son una medida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extracto del pliego RPTD N° 15, Operación y Mantenimiento. Observa en las referencias normativas la NFPA 70E y la OSHA 1910.269.</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punto 6 del RPTD 15 establece que los trabajos deben ejecutarse evitando todo peligro para las personas, con procedimientos reconocidos y validados por cada propietario u operador, basados en la NFPA 70E o en la OSHA 1910.269.</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extracto del pliego RIC N° 17. Revisa su objetivo, su alcance y, en las referencias normativas, la mención a la NFPA 70E.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punto 5 del RIC 17 indica que la seguridad de las personas que puedan entrar en contacto con niveles de tensión peligrosos depende del diseño del sistema de protecciones y de las prácticas de operación y mantenimiento, en línea con la NFPA 70E.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Iniciamos el Módulo 3: equipos eléctricos y de operación en la red. Además de postes y conductores, la red tiene equipos con los que el personal técnico interactúa en reparaciones, mantenciones, operaciones de protecciones y de maniobra, y en cortes y reposiciones de servicio programados o de emergencia.</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transformador es un componente fundamental: eleva o reduce la tensión de una red de corriente alterna. En distribución, reduce la media tensión a baja tensión para el consumo. En la práctica tiene pérdidas, por lo que su eficiencia es alta pero no perfecta.</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Revisemos los voltajes de uso en Chile. En baja tensión, las tensiones habituales entre fases son 380, 480 y 660 volts, con sus respectivas tensiones fase-neutro, como muestra la tabla.</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media tensión, las redes de distribución operan con tensiones de varios miles de volts, típicamente entre 12 y 23 kV en las redes chilenas. Estas líneas terminan en centros de transformación, donde la tensión se reduce a 380 volts.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imagen muestra una línea de media tensión típica. Identifica los aisladores, los conductores y la estructura de soporte.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los trabajos de las cuadrillas de líneas, el riesgo de contacto eléctrico siempre está presente. Los efectos del paso de la corriente por el cuerpo dependen principalmente del valor de esa corriente.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qué depende la corriente que circula por el cuerpo? De la Ley de Ohm: la corriente es directamente proporcional a la tensión e inversamente proporcional a la resistencia del circuito. Y en un accidente, ese circuito es el cuerpo de la persona.</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muestra los efectos de la corriente en el cuerpo humano. Desde 10 miliamperes la persona puede no ser capaz de soltar el conductor, y desde unos 40 miliamperes aparece el riesgo de fibrilación ventricular. Compara estas cifras con los 30 miliamperes de un diferencial y entenderás por qué se eligió ese valor.</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posibilidad de hacer contacto con la red está directamente relacionada con la distancia entre el cuerpo y la línea. Por eso debemos respetar siempre las distancias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el pliego RPTD N° 13, donde las líneas de media o baja tensión y de tensión reducida se crucen o compartan estructura, los conductores de mayor tensión deben instalarse en el nivel más alto.</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 este esquema de las distancias de seguridad alrededor de una parte energizada.</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trabajos deben ejecutarse de forma que se evite todo peligro para las personas y para terceros, con procedimientos reconocidos y validados por cada operador, basados en la NFPA 70E o en la OSHA 1910.269.</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maniobras en la red requieren dos grupos de elementos: el equipo de protección personal adecuado al nivel de tensión, y los equipos de maniobra para la operación de la red.</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uso de equipo de protección personal adecuado es un factor determinante. Recuerda que el EPP es la última barrera: no reemplaza a la desenergización ni a los procedimientos, pero puede marcar la diferencia ante una falla.</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calzado de seguridad dieléctrico debe estar certificado según la NCh 2147/2 Of. 1993. Para tensiones inferiores a 600 volts debe presentar una resistencia eléctrica superior a 1.000 megaohm.</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uso de EPP se define por categorías según la NFPA 70E. Los guantes dieléctricos son uno de los elementos más importantes de protección frente a contacto.</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guantes aislantes deben cumplir la norma IEC 60903 o EN 60903 y la NFPA 70E, y se eligen según su clase, que corresponde a la tensión máxima de utilización. Antes de cada uso deben inspeccionarse visualmente y mediante prueba de inflado.</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muestra las clases de guantes dieléctricos y la tensión de uso correspondiente a cada una.</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careta facial debe tener la clase de protección contra arco adecuada a la energía incidente del trabajo. Protege el rostro de la radiación térmica y de las proyecciones.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resume el equipo de protección personal según las categorías de la NFPA 70E. A mayor categoría, mayor es la energía incidente que el equipo debe soportar.</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maniobras de operación incluyen atención de fallas, desconexiones, verificaciones, reparaciones y mantenciones. En toda intervención existen riesgos que debemos controlar.</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causa importante de muerte por electrocución es no verificar la ausencia de tensión con el instrumento adecuado. En baja tensión se utilizan voltímetros. Verifica siempre el instrumento antes y después de la medición.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media y alta tensión se utilizan detectores unipolares, que indican la presencia de tensión por contacto o por inducción, montados en pértiga.</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detectores bipolares miden la tensión entre dos conductores de la red.</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pértiga dieléctrica permite operar equipos y realizar verificaciones a distancia y en altura, manteniendo al trabajador fuera del alcance de las partes energizadas. Debe estar limpia, seca y sin daños.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Existen pértigas telescópicas y pértigas de longitud fija. Elige la que te permita mantener la distancia de seguridad para la tensión de la línea.</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Loadbuster es una herramienta portátil que permite abrir con carga seccionadores, cortacircuitos y fusibles. Trabaja hasta 34,5 kV, con 600 amperes nominales y 900 amperes máximo. Su ventaja principal es que impide la aparición del arco eléctrico durante la apertura.</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puesta a tierra temporal se instala en líneas desenergizadas para proteger a los linieros durante los trabajos de construcción o mantenimiento, ante una reenergización accidental o tensiones inducidas.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El conductor (cobre o aluminio) transporta la corriente; las estructuras soportan y los aisladores separan.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La caída es consecuencia indirecta de la descarga; quemaduras, fibrilación y necrosis son efectos directos.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Un cortocircuito es la unión de puntos a distinto potencial; puede ser sólido o a través de un arco.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El arco libera una energía térmica enorme y provoca quemaduras graves aun sin contacto con el conductor.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El DS 8 de la SEC, con sus pliegos RIC 1 al 19, reemplazó a la NCh Elec 4/2003.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El DS 109 la exige a través del pliego RPTD N° 15 de Operación y Mantenimiento.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La energía incidente crece con el tiempo de exposición: protecciones rápidas reducen el daño.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La NCh 350 Of. 2000 regula las instalaciones provisorias y la tierra de protección en faenas.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Es indirecto: la carcasa normalmente no tiene tensión, pero se energizó por una falla.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30 mA está bajo el umbral de fibrilación (≈40 mA) y protege ante contactos directos.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Primero se conecta a tierra y luego a las fases; para retirarla se hace al revés.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¡Correcto! Para 751 V a 15 kV: 1,5 m a partes fijas; 3,0 m a conductores móviles; 0,7 m es la frontera prohibida. Haz clic en el botón para continuar.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Haga clic para modificar el estilo de subtítulo del patrón</a:t>
            </a:r>
            <a:endParaRPr lang="es-ES"/>
          </a:p>
        </p:txBody>
      </p:sp>
      <p:sp>
        <p:nvSpPr>
          <p:cNvPr id="4" name="Marcador de fecha 3"/>
          <p:cNvSpPr>
            <a:spLocks noGrp="1"/>
          </p:cNvSpPr>
          <p:nvPr>
            <p:ph type="dt" sz="half" idx="10"/>
          </p:nvPr>
        </p:nvSpPr>
        <p:spPr/>
        <p:txBody>
          <a:bodyPr/>
          <a:lstStyle/>
          <a:p>
            <a:fld id="{758BBFF4-4C82-0045-86D2-BB0D8686238B}" type="datetimeFigureOut">
              <a:rPr lang="es-ES" smtClean="0"/>
              <a:t>27/05/2025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122490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758BBFF4-4C82-0045-86D2-BB0D8686238B}" type="datetimeFigureOut">
              <a:rPr lang="es-ES" smtClean="0"/>
              <a:t>27/05/2025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2544869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758BBFF4-4C82-0045-86D2-BB0D8686238B}" type="datetimeFigureOut">
              <a:rPr lang="es-ES" smtClean="0"/>
              <a:t>27/05/2025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929259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p:txBody>
          <a:bodyPr/>
          <a:lstStyle/>
          <a:p>
            <a:fld id="{758BBFF4-4C82-0045-86D2-BB0D8686238B}" type="datetimeFigureOut">
              <a:rPr lang="es-ES" smtClean="0"/>
              <a:t>27/05/2025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4267553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p:txBody>
          <a:bodyPr/>
          <a:lstStyle/>
          <a:p>
            <a:fld id="{758BBFF4-4C82-0045-86D2-BB0D8686238B}" type="datetimeFigureOut">
              <a:rPr lang="es-ES" smtClean="0"/>
              <a:t>27/05/2025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1955123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2"/>
          <p:cNvSpPr>
            <a:spLocks noGrp="1"/>
          </p:cNvSpPr>
          <p:nvPr>
            <p:ph type="dt" sz="half" idx="10"/>
          </p:nvPr>
        </p:nvSpPr>
        <p:spPr/>
        <p:txBody>
          <a:bodyPr/>
          <a:lstStyle/>
          <a:p>
            <a:fld id="{758BBFF4-4C82-0045-86D2-BB0D8686238B}" type="datetimeFigureOut">
              <a:rPr lang="es-ES" smtClean="0"/>
              <a:t>27/05/2025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2458755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758BBFF4-4C82-0045-86D2-BB0D8686238B}" type="datetimeFigureOut">
              <a:rPr lang="es-ES" smtClean="0"/>
              <a:t>27/05/2025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427898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758BBFF4-4C82-0045-86D2-BB0D8686238B}" type="datetimeFigureOut">
              <a:rPr lang="es-ES" smtClean="0"/>
              <a:t>27/05/2025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1541221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758BBFF4-4C82-0045-86D2-BB0D8686238B}" type="datetimeFigureOut">
              <a:rPr lang="es-ES" smtClean="0"/>
              <a:t>27/05/2025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2416947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758BBFF4-4C82-0045-86D2-BB0D8686238B}" type="datetimeFigureOut">
              <a:rPr lang="es-ES" smtClean="0"/>
              <a:t>27/05/2025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3242557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758BBFF4-4C82-0045-86D2-BB0D8686238B}" type="datetimeFigureOut">
              <a:rPr lang="es-ES" smtClean="0"/>
              <a:t>27/05/2025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BE1EEB16-07D5-9E41-88C3-8F3DEBDA6B59}" type="slidenum">
              <a:rPr lang="es-ES" smtClean="0"/>
              <a:t>‹Nº›</a:t>
            </a:fld>
            <a:endParaRPr lang="es-ES"/>
          </a:p>
        </p:txBody>
      </p:sp>
    </p:spTree>
    <p:extLst>
      <p:ext uri="{BB962C8B-B14F-4D97-AF65-F5344CB8AC3E}">
        <p14:creationId xmlns:p14="http://schemas.microsoft.com/office/powerpoint/2010/main" val="3490864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Diapositiva de título">
    <p:bg>
      <p:bgPr>
        <a:solidFill>
          <a:srgbClr val="5F5F5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8238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8BBFF4-4C82-0045-86D2-BB0D8686238B}" type="datetimeFigureOut">
              <a:rPr lang="es-ES" smtClean="0"/>
              <a:t>27/05/2025</a:t>
            </a:fld>
            <a:endParaRPr lang="es-ES"/>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1EEB16-07D5-9E41-88C3-8F3DEBDA6B59}" type="slidenum">
              <a:rPr lang="es-ES" smtClean="0"/>
              <a:t>‹Nº›</a:t>
            </a:fld>
            <a:endParaRPr lang="es-ES"/>
          </a:p>
        </p:txBody>
      </p:sp>
    </p:spTree>
    <p:extLst>
      <p:ext uri="{BB962C8B-B14F-4D97-AF65-F5344CB8AC3E}">
        <p14:creationId xmlns:p14="http://schemas.microsoft.com/office/powerpoint/2010/main" val="3742069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slide" Target="slide10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slide" Target="slide10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slide" Target="slide10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jpeg"/><Relationship Id="rId4" Type="http://schemas.openxmlformats.org/officeDocument/2006/relationships/slide" Target="slide10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jpe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slide" Target="slide10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4.jpeg"/><Relationship Id="rId5" Type="http://schemas.openxmlformats.org/officeDocument/2006/relationships/slide" Target="slide10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jpeg"/><Relationship Id="rId4" Type="http://schemas.openxmlformats.org/officeDocument/2006/relationships/package" Target="../embeddings/Microsoft_Excel_Worksheet.xlsx"/><Relationship Id="rId5" Type="http://schemas.openxmlformats.org/officeDocument/2006/relationships/image" Target="../media/image16.emf"/><Relationship Id="rId6" Type="http://schemas.openxmlformats.org/officeDocument/2006/relationships/image" Target="../media/image17.jpeg"/><Relationship Id="rId7" Type="http://schemas.openxmlformats.org/officeDocument/2006/relationships/slide" Target="slide10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package" Target="../embeddings/Microsoft_Excel_Worksheet1.xlsx"/><Relationship Id="rId4" Type="http://schemas.openxmlformats.org/officeDocument/2006/relationships/image" Target="../media/image18.emf"/><Relationship Id="rId5" Type="http://schemas.openxmlformats.org/officeDocument/2006/relationships/image" Target="../media/image19.png"/><Relationship Id="rId6" Type="http://schemas.openxmlformats.org/officeDocument/2006/relationships/image" Target="../media/image20.jpg"/><Relationship Id="rId7" Type="http://schemas.openxmlformats.org/officeDocument/2006/relationships/slide" Target="slide10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package" Target="../embeddings/Microsoft_Excel_Worksheet2.xlsx"/><Relationship Id="rId4" Type="http://schemas.openxmlformats.org/officeDocument/2006/relationships/image" Target="../media/image21.emf"/><Relationship Id="rId5" Type="http://schemas.openxmlformats.org/officeDocument/2006/relationships/image" Target="../media/image22.jpg"/><Relationship Id="rId6" Type="http://schemas.openxmlformats.org/officeDocument/2006/relationships/slide" Target="slide10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4.jpg"/><Relationship Id="rId5" Type="http://schemas.openxmlformats.org/officeDocument/2006/relationships/slide" Target="slide10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5.jpg"/><Relationship Id="rId4" Type="http://schemas.openxmlformats.org/officeDocument/2006/relationships/slide" Target="slide10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 Id="rId6" Type="http://schemas.openxmlformats.org/officeDocument/2006/relationships/slide" Target="slide10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9.jpeg"/><Relationship Id="rId4" Type="http://schemas.openxmlformats.org/officeDocument/2006/relationships/slide" Target="slide10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slide" Target="slide10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1.jpeg"/><Relationship Id="rId4" Type="http://schemas.openxmlformats.org/officeDocument/2006/relationships/slide" Target="slide10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2.jpeg"/><Relationship Id="rId4" Type="http://schemas.openxmlformats.org/officeDocument/2006/relationships/image" Target="../media/image33.jpg"/><Relationship Id="rId5" Type="http://schemas.openxmlformats.org/officeDocument/2006/relationships/image" Target="../media/image34.jpg"/><Relationship Id="rId6" Type="http://schemas.openxmlformats.org/officeDocument/2006/relationships/slide" Target="slide102.xml"/></Relationships>
</file>

<file path=ppt/slides/_rels/slide18.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image" Target="../media/image35.png"/><Relationship Id="rId5" Type="http://schemas.openxmlformats.org/officeDocument/2006/relationships/notesSlide" Target="../notesSlides/notesSlide93.xml"/><Relationship Id="rId6" Type="http://schemas.openxmlformats.org/officeDocument/2006/relationships/slide" Target="slide10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6.png"/><Relationship Id="rId4" Type="http://schemas.openxmlformats.org/officeDocument/2006/relationships/image" Target="../media/image37.jpeg"/><Relationship Id="rId5" Type="http://schemas.openxmlformats.org/officeDocument/2006/relationships/slide" Target="slide102.xml"/></Relationships>
</file>

<file path=ppt/slides/_rels/slide20.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7.xml"/><Relationship Id="rId4" Type="http://schemas.openxmlformats.org/officeDocument/2006/relationships/image" Target="../media/image38.jpg"/><Relationship Id="rId5" Type="http://schemas.openxmlformats.org/officeDocument/2006/relationships/notesSlide" Target="../notesSlides/notesSlide94.xml"/><Relationship Id="rId6" Type="http://schemas.openxmlformats.org/officeDocument/2006/relationships/slide" Target="slide10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9.jpeg"/><Relationship Id="rId4" Type="http://schemas.openxmlformats.org/officeDocument/2006/relationships/slide" Target="slide10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0.jpg"/><Relationship Id="rId4" Type="http://schemas.openxmlformats.org/officeDocument/2006/relationships/slide" Target="slide10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42.jpeg"/><Relationship Id="rId4" Type="http://schemas.openxmlformats.org/officeDocument/2006/relationships/notesSlide" Target="../notesSlides/notesSlide95.xml"/><Relationship Id="rId5" Type="http://schemas.openxmlformats.org/officeDocument/2006/relationships/slide" Target="slide10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3.jpg"/><Relationship Id="rId4" Type="http://schemas.openxmlformats.org/officeDocument/2006/relationships/slide" Target="slide10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image" Target="../media/image45.jpg"/><Relationship Id="rId4" Type="http://schemas.openxmlformats.org/officeDocument/2006/relationships/notesSlide" Target="../notesSlides/notesSlide96.xml"/><Relationship Id="rId5" Type="http://schemas.openxmlformats.org/officeDocument/2006/relationships/slide" Target="slide10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97.xml"/><Relationship Id="rId4" Type="http://schemas.openxmlformats.org/officeDocument/2006/relationships/slide" Target="slide10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jpg"/><Relationship Id="rId7" Type="http://schemas.openxmlformats.org/officeDocument/2006/relationships/image" Target="../media/image51.jpeg"/><Relationship Id="rId8" Type="http://schemas.openxmlformats.org/officeDocument/2006/relationships/notesSlide" Target="../notesSlides/notesSlide98.xml"/><Relationship Id="rId9" Type="http://schemas.openxmlformats.org/officeDocument/2006/relationships/slide" Target="slide10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notesSlide" Target="../notesSlides/notesSlide99.xml"/><Relationship Id="rId5" Type="http://schemas.openxmlformats.org/officeDocument/2006/relationships/slide" Target="slide10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 Id="rId3" Type="http://schemas.openxmlformats.org/officeDocument/2006/relationships/notesSlide" Target="../notesSlides/notesSlide100.xml"/><Relationship Id="rId4" Type="http://schemas.openxmlformats.org/officeDocument/2006/relationships/slide" Target="slide10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notesSlide" Target="../notesSlides/notesSlide101.xml"/><Relationship Id="rId4" Type="http://schemas.openxmlformats.org/officeDocument/2006/relationships/slide" Target="slide10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102.xml"/><Relationship Id="rId4" Type="http://schemas.openxmlformats.org/officeDocument/2006/relationships/slide" Target="slide10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03.xml"/><Relationship Id="rId4" Type="http://schemas.openxmlformats.org/officeDocument/2006/relationships/slide" Target="slide10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104.xml"/><Relationship Id="rId4" Type="http://schemas.openxmlformats.org/officeDocument/2006/relationships/slide" Target="slide10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notesSlide" Target="../notesSlides/notesSlide105.xml"/><Relationship Id="rId4" Type="http://schemas.openxmlformats.org/officeDocument/2006/relationships/slide" Target="slide10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58.jpeg"/><Relationship Id="rId4" Type="http://schemas.openxmlformats.org/officeDocument/2006/relationships/notesSlide" Target="../notesSlides/notesSlide106.xml"/><Relationship Id="rId5" Type="http://schemas.openxmlformats.org/officeDocument/2006/relationships/slide" Target="slide102.xml"/></Relationships>
</file>

<file path=ppt/slides/_rels/slide36.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7.xml"/><Relationship Id="rId4" Type="http://schemas.openxmlformats.org/officeDocument/2006/relationships/image" Target="../media/image59.jpg"/><Relationship Id="rId5" Type="http://schemas.openxmlformats.org/officeDocument/2006/relationships/notesSlide" Target="../notesSlides/notesSlide107.xml"/><Relationship Id="rId6" Type="http://schemas.openxmlformats.org/officeDocument/2006/relationships/slide" Target="slide10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image" Target="../media/image61.jpg"/><Relationship Id="rId4" Type="http://schemas.openxmlformats.org/officeDocument/2006/relationships/image" Target="../media/image62.gif"/><Relationship Id="rId5" Type="http://schemas.openxmlformats.org/officeDocument/2006/relationships/image" Target="../media/image63.jpg"/><Relationship Id="rId6" Type="http://schemas.openxmlformats.org/officeDocument/2006/relationships/image" Target="../media/image64.png"/><Relationship Id="rId7" Type="http://schemas.openxmlformats.org/officeDocument/2006/relationships/notesSlide" Target="../notesSlides/notesSlide108.xml"/><Relationship Id="rId8" Type="http://schemas.openxmlformats.org/officeDocument/2006/relationships/slide" Target="slide10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notesSlide" Target="../notesSlides/notesSlide109.xml"/><Relationship Id="rId4" Type="http://schemas.openxmlformats.org/officeDocument/2006/relationships/slide" Target="slide10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65.jpeg"/><Relationship Id="rId4" Type="http://schemas.openxmlformats.org/officeDocument/2006/relationships/slide" Target="slide10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6.jpeg"/><Relationship Id="rId4" Type="http://schemas.openxmlformats.org/officeDocument/2006/relationships/image" Target="../media/image67.jpeg"/><Relationship Id="rId5" Type="http://schemas.openxmlformats.org/officeDocument/2006/relationships/slide" Target="slide10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110.xml"/><Relationship Id="rId4" Type="http://schemas.openxmlformats.org/officeDocument/2006/relationships/slide" Target="slide10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notesSlide" Target="../notesSlides/notesSlide111.xml"/><Relationship Id="rId4" Type="http://schemas.openxmlformats.org/officeDocument/2006/relationships/slide" Target="slide10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70.jpeg"/><Relationship Id="rId4" Type="http://schemas.openxmlformats.org/officeDocument/2006/relationships/slide" Target="slide10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notesSlide" Target="../notesSlides/notesSlide112.xml"/><Relationship Id="rId4" Type="http://schemas.openxmlformats.org/officeDocument/2006/relationships/slide" Target="slide10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notesSlide" Target="../notesSlides/notesSlide113.xml"/><Relationship Id="rId4" Type="http://schemas.openxmlformats.org/officeDocument/2006/relationships/slide" Target="slide10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73.jpeg"/><Relationship Id="rId4" Type="http://schemas.openxmlformats.org/officeDocument/2006/relationships/notesSlide" Target="../notesSlides/notesSlide114.xml"/><Relationship Id="rId5" Type="http://schemas.openxmlformats.org/officeDocument/2006/relationships/slide" Target="slide10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74.jpg"/><Relationship Id="rId4" Type="http://schemas.openxmlformats.org/officeDocument/2006/relationships/image" Target="../media/image75.jpeg"/><Relationship Id="rId5" Type="http://schemas.openxmlformats.org/officeDocument/2006/relationships/notesSlide" Target="../notesSlides/notesSlide115.xml"/><Relationship Id="rId6" Type="http://schemas.openxmlformats.org/officeDocument/2006/relationships/slide" Target="slide10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76.jpg"/><Relationship Id="rId4" Type="http://schemas.openxmlformats.org/officeDocument/2006/relationships/image" Target="../media/image77.jpeg"/><Relationship Id="rId5" Type="http://schemas.openxmlformats.org/officeDocument/2006/relationships/notesSlide" Target="../notesSlides/notesSlide116.xml"/><Relationship Id="rId6" Type="http://schemas.openxmlformats.org/officeDocument/2006/relationships/slide" Target="slide10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78.jpg"/><Relationship Id="rId4" Type="http://schemas.openxmlformats.org/officeDocument/2006/relationships/notesSlide" Target="../notesSlides/notesSlide117.xml"/><Relationship Id="rId5" Type="http://schemas.openxmlformats.org/officeDocument/2006/relationships/slide" Target="slide10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package" Target="../embeddings/Microsoft_Excel_Worksheet3.xlsx"/><Relationship Id="rId4" Type="http://schemas.openxmlformats.org/officeDocument/2006/relationships/image" Target="../media/image79.emf"/><Relationship Id="rId5" Type="http://schemas.openxmlformats.org/officeDocument/2006/relationships/image" Target="../media/image80.jpeg"/><Relationship Id="rId6" Type="http://schemas.openxmlformats.org/officeDocument/2006/relationships/notesSlide" Target="../notesSlides/notesSlide118.xml"/><Relationship Id="rId7" Type="http://schemas.openxmlformats.org/officeDocument/2006/relationships/slide" Target="slide10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81.jpeg"/><Relationship Id="rId4" Type="http://schemas.openxmlformats.org/officeDocument/2006/relationships/image" Target="../media/image82.jpeg"/><Relationship Id="rId5" Type="http://schemas.openxmlformats.org/officeDocument/2006/relationships/notesSlide" Target="../notesSlides/notesSlide119.xml"/><Relationship Id="rId6" Type="http://schemas.openxmlformats.org/officeDocument/2006/relationships/slide" Target="slide10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40.png"/><Relationship Id="rId4" Type="http://schemas.openxmlformats.org/officeDocument/2006/relationships/slide" Target="slide10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83.jpeg"/><Relationship Id="rId4" Type="http://schemas.openxmlformats.org/officeDocument/2006/relationships/image" Target="../media/image84.jpg"/><Relationship Id="rId5" Type="http://schemas.openxmlformats.org/officeDocument/2006/relationships/slide" Target="slide10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85.jpeg"/><Relationship Id="rId4" Type="http://schemas.openxmlformats.org/officeDocument/2006/relationships/image" Target="../media/image86.jpeg"/><Relationship Id="rId5" Type="http://schemas.openxmlformats.org/officeDocument/2006/relationships/slide" Target="slide10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41.png"/><Relationship Id="rId4" Type="http://schemas.openxmlformats.org/officeDocument/2006/relationships/slide" Target="slide10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87.png"/><Relationship Id="rId4" Type="http://schemas.openxmlformats.org/officeDocument/2006/relationships/image" Target="../media/image88.jpg"/><Relationship Id="rId5" Type="http://schemas.openxmlformats.org/officeDocument/2006/relationships/image" Target="../media/image89.jpeg"/><Relationship Id="rId6" Type="http://schemas.openxmlformats.org/officeDocument/2006/relationships/slide" Target="slide10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90.gif"/><Relationship Id="rId4" Type="http://schemas.openxmlformats.org/officeDocument/2006/relationships/slide" Target="slide10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91.JPG"/><Relationship Id="rId4" Type="http://schemas.openxmlformats.org/officeDocument/2006/relationships/slide" Target="slide10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92.jpeg"/><Relationship Id="rId4" Type="http://schemas.openxmlformats.org/officeDocument/2006/relationships/image" Target="../media/image93.jpeg"/><Relationship Id="rId5" Type="http://schemas.openxmlformats.org/officeDocument/2006/relationships/slide" Target="slide10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81.jpeg"/><Relationship Id="rId4" Type="http://schemas.openxmlformats.org/officeDocument/2006/relationships/image" Target="../media/image94.jpeg"/><Relationship Id="rId5" Type="http://schemas.openxmlformats.org/officeDocument/2006/relationships/notesSlide" Target="../notesSlides/notesSlide120.xml"/><Relationship Id="rId6" Type="http://schemas.openxmlformats.org/officeDocument/2006/relationships/slide" Target="slide10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81.jpeg"/><Relationship Id="rId4" Type="http://schemas.openxmlformats.org/officeDocument/2006/relationships/notesSlide" Target="../notesSlides/notesSlide121.xml"/><Relationship Id="rId5" Type="http://schemas.openxmlformats.org/officeDocument/2006/relationships/slide" Target="slide10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81.jpeg"/><Relationship Id="rId4" Type="http://schemas.openxmlformats.org/officeDocument/2006/relationships/image" Target="../media/image95.jpeg"/><Relationship Id="rId5" Type="http://schemas.openxmlformats.org/officeDocument/2006/relationships/notesSlide" Target="../notesSlides/notesSlide122.xml"/><Relationship Id="rId6" Type="http://schemas.openxmlformats.org/officeDocument/2006/relationships/slide" Target="slide10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142.png"/><Relationship Id="rId4" Type="http://schemas.openxmlformats.org/officeDocument/2006/relationships/notesSlide" Target="../notesSlides/notesSlide123.xml"/><Relationship Id="rId5" Type="http://schemas.openxmlformats.org/officeDocument/2006/relationships/slide" Target="slide10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96.jpeg"/><Relationship Id="rId4" Type="http://schemas.openxmlformats.org/officeDocument/2006/relationships/slide" Target="slide10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97.png"/><Relationship Id="rId4" Type="http://schemas.openxmlformats.org/officeDocument/2006/relationships/notesSlide" Target="../notesSlides/notesSlide124.xml"/><Relationship Id="rId5" Type="http://schemas.openxmlformats.org/officeDocument/2006/relationships/slide" Target="slide10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slide" Target="slide10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98.jpeg"/><Relationship Id="rId4" Type="http://schemas.openxmlformats.org/officeDocument/2006/relationships/notesSlide" Target="../notesSlides/notesSlide125.xml"/><Relationship Id="rId5" Type="http://schemas.openxmlformats.org/officeDocument/2006/relationships/slide" Target="slide10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google.cl/url?sa=i&amp;rct=j&amp;q=&amp;esrc=s&amp;source=images&amp;cd=&amp;cad=rja&amp;uact=8&amp;ved=0ahUKEwjbsKTJt9LUAhUJUJAKHQbyD8gQjRwIBw&amp;url=http://ecmweb.com/content/nfpa-70e-revising-standard&amp;psig=AFQjCNGqn2nxYVd4NiBOmkh7Uot_60shxw&amp;ust=1498254617569444" TargetMode="External"/><Relationship Id="rId3" Type="http://schemas.openxmlformats.org/officeDocument/2006/relationships/image" Target="../media/image143.png"/><Relationship Id="rId4" Type="http://schemas.openxmlformats.org/officeDocument/2006/relationships/notesSlide" Target="../notesSlides/notesSlide126.xml"/><Relationship Id="rId5" Type="http://schemas.openxmlformats.org/officeDocument/2006/relationships/slide" Target="slide10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jpg"/><Relationship Id="rId3" Type="http://schemas.openxmlformats.org/officeDocument/2006/relationships/image" Target="../media/image100.jpg"/><Relationship Id="rId4" Type="http://schemas.openxmlformats.org/officeDocument/2006/relationships/notesSlide" Target="../notesSlides/notesSlide127.xml"/><Relationship Id="rId5" Type="http://schemas.openxmlformats.org/officeDocument/2006/relationships/slide" Target="slide10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01.emf"/><Relationship Id="rId4" Type="http://schemas.openxmlformats.org/officeDocument/2006/relationships/notesSlide" Target="../notesSlides/notesSlide128.xml"/><Relationship Id="rId5" Type="http://schemas.openxmlformats.org/officeDocument/2006/relationships/slide" Target="slide10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jpg"/><Relationship Id="rId3" Type="http://schemas.openxmlformats.org/officeDocument/2006/relationships/notesSlide" Target="../notesSlides/notesSlide129.xml"/><Relationship Id="rId4" Type="http://schemas.openxmlformats.org/officeDocument/2006/relationships/slide" Target="slide10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notesSlide" Target="../notesSlides/notesSlide130.xml"/><Relationship Id="rId4" Type="http://schemas.openxmlformats.org/officeDocument/2006/relationships/slide" Target="slide10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jpg"/><Relationship Id="rId3" Type="http://schemas.openxmlformats.org/officeDocument/2006/relationships/notesSlide" Target="../notesSlides/notesSlide131.xml"/><Relationship Id="rId4" Type="http://schemas.openxmlformats.org/officeDocument/2006/relationships/slide" Target="slide10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jpeg"/><Relationship Id="rId3" Type="http://schemas.openxmlformats.org/officeDocument/2006/relationships/image" Target="../media/image105.jpeg"/><Relationship Id="rId4" Type="http://schemas.openxmlformats.org/officeDocument/2006/relationships/image" Target="../media/image106.jpeg"/><Relationship Id="rId5" Type="http://schemas.openxmlformats.org/officeDocument/2006/relationships/notesSlide" Target="../notesSlides/notesSlide132.xml"/><Relationship Id="rId6" Type="http://schemas.openxmlformats.org/officeDocument/2006/relationships/slide" Target="slide10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jpg"/><Relationship Id="rId3" Type="http://schemas.openxmlformats.org/officeDocument/2006/relationships/notesSlide" Target="../notesSlides/notesSlide133.xml"/><Relationship Id="rId4" Type="http://schemas.openxmlformats.org/officeDocument/2006/relationships/slide" Target="slide10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 Id="rId3" Type="http://schemas.openxmlformats.org/officeDocument/2006/relationships/notesSlide" Target="../notesSlides/notesSlide134.xml"/><Relationship Id="rId4" Type="http://schemas.openxmlformats.org/officeDocument/2006/relationships/slide" Target="slide10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jpeg"/><Relationship Id="rId3" Type="http://schemas.openxmlformats.org/officeDocument/2006/relationships/image" Target="../media/image109.jpg"/><Relationship Id="rId4" Type="http://schemas.openxmlformats.org/officeDocument/2006/relationships/notesSlide" Target="../notesSlides/notesSlide135.xml"/><Relationship Id="rId5" Type="http://schemas.openxmlformats.org/officeDocument/2006/relationships/slide" Target="slide10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jpeg"/><Relationship Id="rId3" Type="http://schemas.openxmlformats.org/officeDocument/2006/relationships/image" Target="../media/image111.jpeg"/><Relationship Id="rId4" Type="http://schemas.openxmlformats.org/officeDocument/2006/relationships/notesSlide" Target="../notesSlides/notesSlide136.xml"/><Relationship Id="rId5" Type="http://schemas.openxmlformats.org/officeDocument/2006/relationships/slide" Target="slide10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jpg"/><Relationship Id="rId3" Type="http://schemas.openxmlformats.org/officeDocument/2006/relationships/notesSlide" Target="../notesSlides/notesSlide137.xml"/><Relationship Id="rId4" Type="http://schemas.openxmlformats.org/officeDocument/2006/relationships/slide" Target="slide10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eg"/><Relationship Id="rId3" Type="http://schemas.openxmlformats.org/officeDocument/2006/relationships/notesSlide" Target="../notesSlides/notesSlide138.xml"/><Relationship Id="rId4" Type="http://schemas.openxmlformats.org/officeDocument/2006/relationships/slide" Target="slide10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jpg"/><Relationship Id="rId3" Type="http://schemas.openxmlformats.org/officeDocument/2006/relationships/image" Target="../media/image114.jpg"/><Relationship Id="rId4" Type="http://schemas.openxmlformats.org/officeDocument/2006/relationships/notesSlide" Target="../notesSlides/notesSlide139.xml"/><Relationship Id="rId5" Type="http://schemas.openxmlformats.org/officeDocument/2006/relationships/slide" Target="slide10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jpeg"/><Relationship Id="rId3" Type="http://schemas.openxmlformats.org/officeDocument/2006/relationships/image" Target="../media/image116.jpeg"/><Relationship Id="rId4" Type="http://schemas.openxmlformats.org/officeDocument/2006/relationships/notesSlide" Target="../notesSlides/notesSlide140.xml"/><Relationship Id="rId5" Type="http://schemas.openxmlformats.org/officeDocument/2006/relationships/slide" Target="slide10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jpeg"/><Relationship Id="rId3" Type="http://schemas.openxmlformats.org/officeDocument/2006/relationships/notesSlide" Target="../notesSlides/notesSlide141.xml"/><Relationship Id="rId4" Type="http://schemas.openxmlformats.org/officeDocument/2006/relationships/slide" Target="slide10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18.png"/><Relationship Id="rId4" Type="http://schemas.openxmlformats.org/officeDocument/2006/relationships/slide" Target="slide10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38.png"/><Relationship Id="rId4" Type="http://schemas.openxmlformats.org/officeDocument/2006/relationships/slide" Target="slide10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19.jpeg"/><Relationship Id="rId4" Type="http://schemas.openxmlformats.org/officeDocument/2006/relationships/image" Target="../media/image120.jpeg"/><Relationship Id="rId5" Type="http://schemas.openxmlformats.org/officeDocument/2006/relationships/slide" Target="slide10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21.jpg"/><Relationship Id="rId4" Type="http://schemas.openxmlformats.org/officeDocument/2006/relationships/slide" Target="slide10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45.png"/><Relationship Id="rId4" Type="http://schemas.openxmlformats.org/officeDocument/2006/relationships/slide" Target="slide10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22.jpeg"/><Relationship Id="rId4" Type="http://schemas.openxmlformats.org/officeDocument/2006/relationships/image" Target="../media/image123.png"/><Relationship Id="rId5" Type="http://schemas.openxmlformats.org/officeDocument/2006/relationships/slide" Target="slide10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44.png"/><Relationship Id="rId4" Type="http://schemas.openxmlformats.org/officeDocument/2006/relationships/slide" Target="slide10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24.jpg"/><Relationship Id="rId4" Type="http://schemas.openxmlformats.org/officeDocument/2006/relationships/slide" Target="slide10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25.jpg"/><Relationship Id="rId4" Type="http://schemas.openxmlformats.org/officeDocument/2006/relationships/image" Target="../media/image126.jpg"/><Relationship Id="rId5" Type="http://schemas.openxmlformats.org/officeDocument/2006/relationships/image" Target="../media/image127.jpg"/><Relationship Id="rId6" Type="http://schemas.openxmlformats.org/officeDocument/2006/relationships/slide" Target="slide10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0.jpg"/><Relationship Id="rId4" Type="http://schemas.openxmlformats.org/officeDocument/2006/relationships/slide" Target="slide10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28.jpg"/><Relationship Id="rId4" Type="http://schemas.openxmlformats.org/officeDocument/2006/relationships/image" Target="../media/image129.jpg"/><Relationship Id="rId5" Type="http://schemas.openxmlformats.org/officeDocument/2006/relationships/slide" Target="slide10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46.png"/><Relationship Id="rId4" Type="http://schemas.openxmlformats.org/officeDocument/2006/relationships/slide" Target="slide10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30.jpeg"/><Relationship Id="rId4" Type="http://schemas.openxmlformats.org/officeDocument/2006/relationships/image" Target="../media/image131.jpeg"/><Relationship Id="rId5" Type="http://schemas.openxmlformats.org/officeDocument/2006/relationships/slide" Target="slide10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29.jpg"/><Relationship Id="rId4" Type="http://schemas.openxmlformats.org/officeDocument/2006/relationships/image" Target="../media/image132.jpeg"/><Relationship Id="rId5" Type="http://schemas.openxmlformats.org/officeDocument/2006/relationships/image" Target="../media/image133.jpeg"/><Relationship Id="rId6" Type="http://schemas.openxmlformats.org/officeDocument/2006/relationships/slide" Target="slide10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34.jpeg"/><Relationship Id="rId4" Type="http://schemas.openxmlformats.org/officeDocument/2006/relationships/image" Target="../media/image135.jpg"/><Relationship Id="rId5" Type="http://schemas.openxmlformats.org/officeDocument/2006/relationships/slide" Target="slide10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 Id="rId3" Type="http://schemas.openxmlformats.org/officeDocument/2006/relationships/image" Target="../media/image139.png"/><Relationship Id="rId4" Type="http://schemas.openxmlformats.org/officeDocument/2006/relationships/image" Target="../media/image148.png"/><Relationship Id="rId5" Type="http://schemas.openxmlformats.org/officeDocument/2006/relationships/notesSlide" Target="../notesSlides/notesSlide50.xml"/><Relationship Id="rId6" Type="http://schemas.openxmlformats.org/officeDocument/2006/relationships/slide" Target="slide10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 Id="rId3" Type="http://schemas.openxmlformats.org/officeDocument/2006/relationships/image" Target="../media/image150.png"/><Relationship Id="rId4" Type="http://schemas.openxmlformats.org/officeDocument/2006/relationships/image" Target="../media/image151.png"/><Relationship Id="rId5" Type="http://schemas.openxmlformats.org/officeDocument/2006/relationships/image" Target="../media/image152.png"/><Relationship Id="rId6" Type="http://schemas.openxmlformats.org/officeDocument/2006/relationships/image" Target="../media/image153.png"/><Relationship Id="rId7" Type="http://schemas.openxmlformats.org/officeDocument/2006/relationships/image" Target="../media/image154.png"/><Relationship Id="rId8" Type="http://schemas.openxmlformats.org/officeDocument/2006/relationships/notesSlide" Target="../notesSlides/notesSlide51.xml"/><Relationship Id="rId9" Type="http://schemas.openxmlformats.org/officeDocument/2006/relationships/slide" Target="slide10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 Id="rId3" Type="http://schemas.openxmlformats.org/officeDocument/2006/relationships/notesSlide" Target="../notesSlides/notesSlide52.xml"/><Relationship Id="rId4" Type="http://schemas.openxmlformats.org/officeDocument/2006/relationships/slide" Target="slide10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slide" Target="slide103.xml"/><Relationship Id="rId4" Type="http://schemas.openxmlformats.org/officeDocument/2006/relationships/slide" Target="slide118.xml"/><Relationship Id="rId5" Type="http://schemas.openxmlformats.org/officeDocument/2006/relationships/slide" Target="slide133.xml"/><Relationship Id="rId6" Type="http://schemas.openxmlformats.org/officeDocument/2006/relationships/slide" Target="slide15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notesSlide" Target="../notesSlides/notesSlide54.xml"/><Relationship Id="rId4" Type="http://schemas.openxmlformats.org/officeDocument/2006/relationships/slide" Target="slide10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slide" Target="slide10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56.xml"/><Relationship Id="rId4" Type="http://schemas.openxmlformats.org/officeDocument/2006/relationships/slide" Target="slide107.xml"/><Relationship Id="rId5" Type="http://schemas.openxmlformats.org/officeDocument/2006/relationships/slide" Target="slide106.xml"/><Relationship Id="rId6" Type="http://schemas.openxmlformats.org/officeDocument/2006/relationships/slide" Target="slide10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08.xml"/><Relationship Id="rId4" Type="http://schemas.openxmlformats.org/officeDocument/2006/relationships/notesSlide" Target="../notesSlides/notesSlide142.xml"/><Relationship Id="rId5" Type="http://schemas.openxmlformats.org/officeDocument/2006/relationships/slide" Target="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57.xml"/><Relationship Id="rId4" Type="http://schemas.openxmlformats.org/officeDocument/2006/relationships/slide" Target="slide105.xml"/><Relationship Id="rId5" Type="http://schemas.openxmlformats.org/officeDocument/2006/relationships/slide" Target="slide10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58.xml"/><Relationship Id="rId4" Type="http://schemas.openxmlformats.org/officeDocument/2006/relationships/slide" Target="slide110.xml"/><Relationship Id="rId5" Type="http://schemas.openxmlformats.org/officeDocument/2006/relationships/slide" Target="slide109.xml"/><Relationship Id="rId6" Type="http://schemas.openxmlformats.org/officeDocument/2006/relationships/slide" Target="slide10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11.xml"/><Relationship Id="rId4" Type="http://schemas.openxmlformats.org/officeDocument/2006/relationships/notesSlide" Target="../notesSlides/notesSlide143.xml"/><Relationship Id="rId5" Type="http://schemas.openxmlformats.org/officeDocument/2006/relationships/slide" Target="slide10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59.xml"/><Relationship Id="rId4" Type="http://schemas.openxmlformats.org/officeDocument/2006/relationships/slide" Target="slide108.xml"/><Relationship Id="rId5" Type="http://schemas.openxmlformats.org/officeDocument/2006/relationships/slide" Target="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60.xml"/><Relationship Id="rId4" Type="http://schemas.openxmlformats.org/officeDocument/2006/relationships/slide" Target="slide113.xml"/><Relationship Id="rId5" Type="http://schemas.openxmlformats.org/officeDocument/2006/relationships/slide" Target="slide112.xml"/><Relationship Id="rId6" Type="http://schemas.openxmlformats.org/officeDocument/2006/relationships/slide" Target="slide10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14.xml"/><Relationship Id="rId4" Type="http://schemas.openxmlformats.org/officeDocument/2006/relationships/notesSlide" Target="../notesSlides/notesSlide144.xml"/><Relationship Id="rId5" Type="http://schemas.openxmlformats.org/officeDocument/2006/relationships/slide" Target="slide10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61.xml"/><Relationship Id="rId4" Type="http://schemas.openxmlformats.org/officeDocument/2006/relationships/slide" Target="slide111.xml"/><Relationship Id="rId5" Type="http://schemas.openxmlformats.org/officeDocument/2006/relationships/slide" Target="slide10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62.xml"/><Relationship Id="rId4" Type="http://schemas.openxmlformats.org/officeDocument/2006/relationships/slide" Target="slide115.xml"/><Relationship Id="rId5" Type="http://schemas.openxmlformats.org/officeDocument/2006/relationships/slide" Target="slide116.xml"/><Relationship Id="rId6" Type="http://schemas.openxmlformats.org/officeDocument/2006/relationships/slide" Target="slide10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17.xml"/><Relationship Id="rId4" Type="http://schemas.openxmlformats.org/officeDocument/2006/relationships/notesSlide" Target="../notesSlides/notesSlide145.xml"/><Relationship Id="rId5" Type="http://schemas.openxmlformats.org/officeDocument/2006/relationships/slide" Target="slide10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63.xml"/><Relationship Id="rId4" Type="http://schemas.openxmlformats.org/officeDocument/2006/relationships/slide" Target="slide114.xml"/><Relationship Id="rId5" Type="http://schemas.openxmlformats.org/officeDocument/2006/relationships/slide" Target="slide10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slide" Target="slide10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notesSlide" Target="../notesSlides/notesSlide65.xml"/><Relationship Id="rId4" Type="http://schemas.openxmlformats.org/officeDocument/2006/relationships/slide" Target="slide10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slide" Target="slide10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67.xml"/><Relationship Id="rId4" Type="http://schemas.openxmlformats.org/officeDocument/2006/relationships/slide" Target="slide122.xml"/><Relationship Id="rId5" Type="http://schemas.openxmlformats.org/officeDocument/2006/relationships/slide" Target="slide121.xml"/><Relationship Id="rId6" Type="http://schemas.openxmlformats.org/officeDocument/2006/relationships/slide" Target="slide10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23.xml"/><Relationship Id="rId4" Type="http://schemas.openxmlformats.org/officeDocument/2006/relationships/notesSlide" Target="../notesSlides/notesSlide146.xml"/><Relationship Id="rId5" Type="http://schemas.openxmlformats.org/officeDocument/2006/relationships/slide" Target="slide10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68.xml"/><Relationship Id="rId4" Type="http://schemas.openxmlformats.org/officeDocument/2006/relationships/slide" Target="slide120.xml"/><Relationship Id="rId5" Type="http://schemas.openxmlformats.org/officeDocument/2006/relationships/slide" Target="slide10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69.xml"/><Relationship Id="rId4" Type="http://schemas.openxmlformats.org/officeDocument/2006/relationships/slide" Target="slide125.xml"/><Relationship Id="rId5" Type="http://schemas.openxmlformats.org/officeDocument/2006/relationships/slide" Target="slide124.xml"/><Relationship Id="rId6" Type="http://schemas.openxmlformats.org/officeDocument/2006/relationships/slide" Target="slide10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26.xml"/><Relationship Id="rId4" Type="http://schemas.openxmlformats.org/officeDocument/2006/relationships/notesSlide" Target="../notesSlides/notesSlide147.xml"/><Relationship Id="rId5" Type="http://schemas.openxmlformats.org/officeDocument/2006/relationships/slide" Target="slide10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70.xml"/><Relationship Id="rId4" Type="http://schemas.openxmlformats.org/officeDocument/2006/relationships/slide" Target="slide123.xml"/><Relationship Id="rId5" Type="http://schemas.openxmlformats.org/officeDocument/2006/relationships/slide" Target="slide10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71.xml"/><Relationship Id="rId4" Type="http://schemas.openxmlformats.org/officeDocument/2006/relationships/slide" Target="slide127.xml"/><Relationship Id="rId5" Type="http://schemas.openxmlformats.org/officeDocument/2006/relationships/slide" Target="slide128.xml"/><Relationship Id="rId6" Type="http://schemas.openxmlformats.org/officeDocument/2006/relationships/slide" Target="slide10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29.xml"/><Relationship Id="rId4" Type="http://schemas.openxmlformats.org/officeDocument/2006/relationships/notesSlide" Target="../notesSlides/notesSlide148.xml"/><Relationship Id="rId5" Type="http://schemas.openxmlformats.org/officeDocument/2006/relationships/slide" Target="slide10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72.xml"/><Relationship Id="rId4" Type="http://schemas.openxmlformats.org/officeDocument/2006/relationships/slide" Target="slide126.xml"/><Relationship Id="rId5" Type="http://schemas.openxmlformats.org/officeDocument/2006/relationships/slide" Target="slide10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73.xml"/><Relationship Id="rId4" Type="http://schemas.openxmlformats.org/officeDocument/2006/relationships/slide" Target="slide131.xml"/><Relationship Id="rId5" Type="http://schemas.openxmlformats.org/officeDocument/2006/relationships/slide" Target="slide130.xml"/><Relationship Id="rId6" Type="http://schemas.openxmlformats.org/officeDocument/2006/relationships/slide" Target="slide10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32.xml"/><Relationship Id="rId4" Type="http://schemas.openxmlformats.org/officeDocument/2006/relationships/notesSlide" Target="../notesSlides/notesSlide149.xml"/><Relationship Id="rId5" Type="http://schemas.openxmlformats.org/officeDocument/2006/relationships/slide" Target="slide10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74.xml"/><Relationship Id="rId4" Type="http://schemas.openxmlformats.org/officeDocument/2006/relationships/slide" Target="slide129.xml"/><Relationship Id="rId5" Type="http://schemas.openxmlformats.org/officeDocument/2006/relationships/slide" Target="slide10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slide" Target="slide10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notesSlide" Target="../notesSlides/notesSlide76.xml"/><Relationship Id="rId4" Type="http://schemas.openxmlformats.org/officeDocument/2006/relationships/slide" Target="slide10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slide" Target="slide10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78.xml"/><Relationship Id="rId4" Type="http://schemas.openxmlformats.org/officeDocument/2006/relationships/slide" Target="slide137.xml"/><Relationship Id="rId5" Type="http://schemas.openxmlformats.org/officeDocument/2006/relationships/slide" Target="slide136.xml"/><Relationship Id="rId6" Type="http://schemas.openxmlformats.org/officeDocument/2006/relationships/slide" Target="slide10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38.xml"/><Relationship Id="rId4" Type="http://schemas.openxmlformats.org/officeDocument/2006/relationships/notesSlide" Target="../notesSlides/notesSlide150.xml"/><Relationship Id="rId5" Type="http://schemas.openxmlformats.org/officeDocument/2006/relationships/slide" Target="slide10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79.xml"/><Relationship Id="rId4" Type="http://schemas.openxmlformats.org/officeDocument/2006/relationships/slide" Target="slide135.xml"/><Relationship Id="rId5" Type="http://schemas.openxmlformats.org/officeDocument/2006/relationships/slide" Target="slide10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80.xml"/><Relationship Id="rId4" Type="http://schemas.openxmlformats.org/officeDocument/2006/relationships/slide" Target="slide140.xml"/><Relationship Id="rId5" Type="http://schemas.openxmlformats.org/officeDocument/2006/relationships/slide" Target="slide139.xml"/><Relationship Id="rId6" Type="http://schemas.openxmlformats.org/officeDocument/2006/relationships/slide" Target="slide10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41.xml"/><Relationship Id="rId4" Type="http://schemas.openxmlformats.org/officeDocument/2006/relationships/notesSlide" Target="../notesSlides/notesSlide151.xml"/><Relationship Id="rId5" Type="http://schemas.openxmlformats.org/officeDocument/2006/relationships/slide" Target="slide10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81.xml"/><Relationship Id="rId4" Type="http://schemas.openxmlformats.org/officeDocument/2006/relationships/slide" Target="slide138.xml"/><Relationship Id="rId5" Type="http://schemas.openxmlformats.org/officeDocument/2006/relationships/slide" Target="slide10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82.xml"/><Relationship Id="rId4" Type="http://schemas.openxmlformats.org/officeDocument/2006/relationships/slide" Target="slide143.xml"/><Relationship Id="rId5" Type="http://schemas.openxmlformats.org/officeDocument/2006/relationships/slide" Target="slide142.xml"/><Relationship Id="rId6" Type="http://schemas.openxmlformats.org/officeDocument/2006/relationships/slide" Target="slide10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44.xml"/><Relationship Id="rId4" Type="http://schemas.openxmlformats.org/officeDocument/2006/relationships/notesSlide" Target="../notesSlides/notesSlide152.xml"/><Relationship Id="rId5" Type="http://schemas.openxmlformats.org/officeDocument/2006/relationships/slide" Target="slide10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83.xml"/><Relationship Id="rId4" Type="http://schemas.openxmlformats.org/officeDocument/2006/relationships/slide" Target="slide141.xml"/><Relationship Id="rId5" Type="http://schemas.openxmlformats.org/officeDocument/2006/relationships/slide" Target="slide10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84.xml"/><Relationship Id="rId4" Type="http://schemas.openxmlformats.org/officeDocument/2006/relationships/slide" Target="slide146.xml"/><Relationship Id="rId5" Type="http://schemas.openxmlformats.org/officeDocument/2006/relationships/slide" Target="slide145.xml"/><Relationship Id="rId6" Type="http://schemas.openxmlformats.org/officeDocument/2006/relationships/slide" Target="slide10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slide" Target="slide147.xml"/><Relationship Id="rId4" Type="http://schemas.openxmlformats.org/officeDocument/2006/relationships/notesSlide" Target="../notesSlides/notesSlide153.xml"/><Relationship Id="rId5" Type="http://schemas.openxmlformats.org/officeDocument/2006/relationships/slide" Target="slide10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85.xml"/><Relationship Id="rId4" Type="http://schemas.openxmlformats.org/officeDocument/2006/relationships/slide" Target="slide144.xml"/><Relationship Id="rId5" Type="http://schemas.openxmlformats.org/officeDocument/2006/relationships/slide" Target="slide10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slide" Target="slide10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 Id="rId3" Type="http://schemas.openxmlformats.org/officeDocument/2006/relationships/notesSlide" Target="../notesSlides/notesSlide87.xml"/><Relationship Id="rId4" Type="http://schemas.openxmlformats.org/officeDocument/2006/relationships/slide" Target="slide10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3.png"/><Relationship Id="rId4" Type="http://schemas.openxmlformats.org/officeDocument/2006/relationships/image" Target="../media/image138.png"/><Relationship Id="rId5" Type="http://schemas.openxmlformats.org/officeDocument/2006/relationships/image" Target="../media/image144.png"/><Relationship Id="rId6" Type="http://schemas.openxmlformats.org/officeDocument/2006/relationships/notesSlide" Target="../notesSlides/notesSlide88.xml"/><Relationship Id="rId7" Type="http://schemas.openxmlformats.org/officeDocument/2006/relationships/slide" Target="slide10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 Id="rId3" Type="http://schemas.openxmlformats.org/officeDocument/2006/relationships/image" Target="../media/image139.png"/><Relationship Id="rId4" Type="http://schemas.openxmlformats.org/officeDocument/2006/relationships/image" Target="../media/image154.png"/><Relationship Id="rId5" Type="http://schemas.openxmlformats.org/officeDocument/2006/relationships/image" Target="../media/image146.png"/><Relationship Id="rId6" Type="http://schemas.openxmlformats.org/officeDocument/2006/relationships/notesSlide" Target="../notesSlides/notesSlide89.xml"/><Relationship Id="rId7" Type="http://schemas.openxmlformats.org/officeDocument/2006/relationships/slide" Target="slide10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slide" Target="slide10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notesSlide" Target="../notesSlides/notesSlide91.xml"/><Relationship Id="rId4" Type="http://schemas.openxmlformats.org/officeDocument/2006/relationships/slide" Target="slide10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png"/><Relationship Id="rId3" Type="http://schemas.openxmlformats.org/officeDocument/2006/relationships/notesSlide" Target="../notesSlides/notesSlide92.xml"/><Relationship Id="rId4" Type="http://schemas.openxmlformats.org/officeDocument/2006/relationships/slide" Target="slide10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2E83"/>
        </a:solidFill>
        <a:effectLst/>
      </p:bgPr>
    </p:bg>
    <p:spTree>
      <p:nvGrpSpPr>
        <p:cNvPr id="1" name=""/>
        <p:cNvGrpSpPr/>
        <p:nvPr/>
      </p:nvGrpSpPr>
      <p:grpSpPr>
        <a:xfrm>
          <a:off x="0" y="0"/>
          <a:ext cx="0" cy="0"/>
          <a:chOff x="0" y="0"/>
          <a:chExt cx="0" cy="0"/>
        </a:xfrm>
      </p:grpSpPr>
      <p:pic>
        <p:nvPicPr>
          <p:cNvPr id="5" name="Imagen 4" descr="Cat N° VTT-1/7 Pértiga Telescopica 7 Tramos 9,16mt Marca TEREX RITZ |  Comulsa Chile">
            <a:extLst>
              <a:ext uri="{FF2B5EF4-FFF2-40B4-BE49-F238E27FC236}">
                <a16:creationId xmlns:a16="http://schemas.microsoft.com/office/drawing/2014/main" id="{99FEF8FA-567B-C2D3-CD18-238AA61063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4625408" y="1417320"/>
            <a:ext cx="3969951" cy="402336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6" name="Rounded Rectangle 5"/>
          <p:cNvSpPr/>
          <p:nvPr/>
        </p:nvSpPr>
        <p:spPr>
          <a:xfrm>
            <a:off x="548640" y="548640"/>
            <a:ext cx="274320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 name="Imagen 1" descr="http://www.copamutual.cl/site/images/stories/logo_mutual_250px.jpg">
            <a:extLst>
              <a:ext uri="{FF2B5EF4-FFF2-40B4-BE49-F238E27FC236}">
                <a16:creationId xmlns:a16="http://schemas.microsoft.com/office/drawing/2014/main" id="{1FD79F52-035F-87C7-1E11-6718F94B042F}"/>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800408" y="685800"/>
            <a:ext cx="2239662" cy="1325880"/>
          </a:xfrm>
          <a:prstGeom prst="rect">
            <a:avLst/>
          </a:prstGeom>
          <a:noFill/>
        </p:spPr>
      </p:pic>
      <p:sp>
        <p:nvSpPr>
          <p:cNvPr id="7" name="TextBox 6"/>
          <p:cNvSpPr txBox="1"/>
          <p:nvPr/>
        </p:nvSpPr>
        <p:spPr>
          <a:xfrm>
            <a:off x="548640" y="2606040"/>
            <a:ext cx="3711008" cy="365760"/>
          </a:xfrm>
          <a:prstGeom prst="rect">
            <a:avLst/>
          </a:prstGeom>
          <a:noFill/>
        </p:spPr>
        <p:txBody>
          <a:bodyPr wrap="square" anchor="t" lIns="0" rIns="0" tIns="0" bIns="0">
            <a:spAutoFit/>
          </a:bodyPr>
          <a:lstStyle/>
          <a:p>
            <a:pPr algn="l"/>
            <a:r>
              <a:rPr sz="1400" b="1" i="0">
                <a:solidFill>
                  <a:srgbClr val="F2A900"/>
                </a:solidFill>
                <a:latin typeface="Calibri"/>
              </a:rPr>
              <a:t>CURSO ON-LINE ASINCRÓNICO</a:t>
            </a:r>
          </a:p>
        </p:txBody>
      </p:sp>
      <p:sp>
        <p:nvSpPr>
          <p:cNvPr id="8" name="TextBox 7"/>
          <p:cNvSpPr txBox="1"/>
          <p:nvPr/>
        </p:nvSpPr>
        <p:spPr>
          <a:xfrm>
            <a:off x="548640" y="3017520"/>
            <a:ext cx="3711008" cy="2377440"/>
          </a:xfrm>
          <a:prstGeom prst="rect">
            <a:avLst/>
          </a:prstGeom>
          <a:noFill/>
        </p:spPr>
        <p:txBody>
          <a:bodyPr wrap="square" anchor="t" lIns="0" rIns="0" tIns="0" bIns="0">
            <a:spAutoFit/>
          </a:bodyPr>
          <a:lstStyle/>
          <a:p>
            <a:pPr algn="l"/>
            <a:r>
              <a:rPr sz="2600" b="1" i="0">
                <a:solidFill>
                  <a:srgbClr val="FFFFFF"/>
                </a:solidFill>
                <a:latin typeface="Calibri"/>
              </a:rPr>
              <a:t>Riesgos eléctricos en operación de redes de distribución aérea en baja y media tensión</a:t>
            </a:r>
          </a:p>
        </p:txBody>
      </p:sp>
      <p:sp>
        <p:nvSpPr>
          <p:cNvPr id="9" name="TextBox 8"/>
          <p:cNvSpPr txBox="1"/>
          <p:nvPr/>
        </p:nvSpPr>
        <p:spPr>
          <a:xfrm>
            <a:off x="548640" y="5806440"/>
            <a:ext cx="3711008" cy="365760"/>
          </a:xfrm>
          <a:prstGeom prst="rect">
            <a:avLst/>
          </a:prstGeom>
          <a:noFill/>
        </p:spPr>
        <p:txBody>
          <a:bodyPr wrap="square" anchor="t" lIns="0" rIns="0" tIns="0" bIns="0">
            <a:spAutoFit/>
          </a:bodyPr>
          <a:lstStyle/>
          <a:p>
            <a:pPr algn="l"/>
            <a:r>
              <a:rPr sz="1400" b="1" i="0">
                <a:solidFill>
                  <a:srgbClr val="F2A900"/>
                </a:solidFill>
                <a:latin typeface="Calibri"/>
              </a:rPr>
              <a:t>SSGI OTEC</a:t>
            </a:r>
          </a:p>
        </p:txBody>
      </p:sp>
    </p:spTree>
    <p:extLst>
      <p:ext uri="{BB962C8B-B14F-4D97-AF65-F5344CB8AC3E}">
        <p14:creationId xmlns:p14="http://schemas.microsoft.com/office/powerpoint/2010/main" val="2638865437"/>
      </p:ext>
    </p:extLst>
  </p:cSld>
  <p:clrMapOvr>
    <a:masterClrMapping/>
  </p:clrMapOvr>
  <p:transition>
    <p:wheel spokes="3"/>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n 7"/>
          <p:cNvPicPr>
            <a:picLocks noChangeAspect="1"/>
          </p:cNvPicPr>
          <p:nvPr/>
        </p:nvPicPr>
        <p:blipFill>
          <a:blip r:embed="rId3"/>
          <a:stretch>
            <a:fillRect/>
          </a:stretch>
        </p:blipFill>
        <p:spPr>
          <a:xfrm>
            <a:off x="548640" y="2814319"/>
            <a:ext cx="3916656" cy="2571834"/>
          </a:xfrm>
          <a:prstGeom prst="rect">
            <a:avLst/>
          </a:prstGeom>
        </p:spPr>
      </p:pic>
      <p:pic>
        <p:nvPicPr>
          <p:cNvPr id="6146" name="Picture 2">
            <a:extLst>
              <a:ext uri="{FF2B5EF4-FFF2-40B4-BE49-F238E27FC236}">
                <a16:creationId xmlns:a16="http://schemas.microsoft.com/office/drawing/2014/main" id="{75BBDADD-6F05-3C9E-43A3-9534B09F8D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9616" y="2814319"/>
            <a:ext cx="3855743" cy="2571834"/>
          </a:xfrm>
          <a:prstGeom prst="rect">
            <a:avLst/>
          </a:prstGeom>
          <a:noFill/>
          <a:extLst>
            <a:ext uri="{909E8E84-426E-40DD-AFC4-6F175D3DCCD1}">
              <a14:hiddenFill xmlns:a14="http://schemas.microsoft.com/office/drawing/2010/main">
                <a:solidFill>
                  <a:srgbClr val="FFFFFF"/>
                </a:solidFill>
              </a14:hiddenFill>
            </a:ext>
          </a:extLst>
        </p:spPr>
      </p:pic>
      <p:sp>
        <p:nvSpPr>
          <p:cNvPr id="614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1.0 LA ENERGÍA ELÉCTRICA</a:t>
            </a:r>
          </a:p>
        </p:txBody>
      </p:sp>
      <p:sp>
        <p:nvSpPr>
          <p:cNvPr id="614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¿Qué es la energía eléctrica?</a:t>
            </a:r>
          </a:p>
        </p:txBody>
      </p:sp>
      <p:sp>
        <p:nvSpPr>
          <p:cNvPr id="6149" name="Cuerpo"/>
          <p:cNvSpPr txBox="1"/>
          <p:nvPr/>
        </p:nvSpPr>
        <p:spPr>
          <a:xfrm>
            <a:off x="548640" y="1463040"/>
            <a:ext cx="8046720" cy="1122680"/>
          </a:xfrm>
          <a:prstGeom prst="rect">
            <a:avLst/>
          </a:prstGeom>
          <a:noFill/>
        </p:spPr>
        <p:txBody>
          <a:bodyPr wrap="square" lIns="0" rIns="0" tIns="0" bIns="0">
            <a:spAutoFit/>
          </a:bodyPr>
          <a:lstStyle/>
          <a:p>
            <a:pPr>
              <a:spcAft>
                <a:spcPts val="800"/>
              </a:spcAft>
            </a:pPr>
            <a:r>
              <a:rPr sz="1600" b="0">
                <a:solidFill>
                  <a:srgbClr val="222233"/>
                </a:solidFill>
                <a:latin typeface="Calibri"/>
              </a:rPr>
              <a:t>Se denomina energía eléctrica a la forma de energía que resulta de la existencia de una diferencia de potencial entre dos puntos, lo que permite establecer una corriente eléctrica entre ambos cuando se los pone en contacto por medio de un conductor eléctrico.</a:t>
            </a:r>
          </a:p>
        </p:txBody>
      </p:sp>
      <p:sp>
        <p:nvSpPr>
          <p:cNvPr id="615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615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615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a:t>
            </a:r>
          </a:p>
        </p:txBody>
      </p:sp>
    </p:spTree>
    <p:extLst>
      <p:ext uri="{BB962C8B-B14F-4D97-AF65-F5344CB8AC3E}">
        <p14:creationId xmlns:p14="http://schemas.microsoft.com/office/powerpoint/2010/main" val="139271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8" name="Picture 4" descr="Redes Aereas de Distribución en Baja Tensión">
            <a:extLst>
              <a:ext uri="{FF2B5EF4-FFF2-40B4-BE49-F238E27FC236}">
                <a16:creationId xmlns:a16="http://schemas.microsoft.com/office/drawing/2014/main" id="{33D7BFF4-A28F-1949-9282-106B5CD48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1500" y="2570480"/>
            <a:ext cx="5500999" cy="3693160"/>
          </a:xfrm>
          <a:prstGeom prst="rect">
            <a:avLst/>
          </a:prstGeom>
          <a:noFill/>
          <a:extLst>
            <a:ext uri="{909E8E84-426E-40DD-AFC4-6F175D3DCCD1}">
              <a14:hiddenFill xmlns:a14="http://schemas.microsoft.com/office/drawing/2010/main">
                <a:solidFill>
                  <a:srgbClr val="FFFFFF"/>
                </a:solidFill>
              </a14:hiddenFill>
            </a:ext>
          </a:extLst>
        </p:spPr>
      </p:pic>
      <p:sp>
        <p:nvSpPr>
          <p:cNvPr id="102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103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Línea eléctrica aérea</a:t>
            </a:r>
          </a:p>
        </p:txBody>
      </p:sp>
      <p:sp>
        <p:nvSpPr>
          <p:cNvPr id="1031" name="Cuerpo"/>
          <p:cNvSpPr txBox="1"/>
          <p:nvPr/>
        </p:nvSpPr>
        <p:spPr>
          <a:xfrm>
            <a:off x="548640" y="1463040"/>
            <a:ext cx="8046720" cy="878839"/>
          </a:xfrm>
          <a:prstGeom prst="rect">
            <a:avLst/>
          </a:prstGeom>
          <a:noFill/>
        </p:spPr>
        <p:txBody>
          <a:bodyPr wrap="square" lIns="0" rIns="0" tIns="0" bIns="0">
            <a:spAutoFit/>
          </a:bodyPr>
          <a:lstStyle/>
          <a:p>
            <a:pPr>
              <a:spcAft>
                <a:spcPts val="800"/>
              </a:spcAft>
            </a:pPr>
            <a:r>
              <a:rPr sz="1600" b="0">
                <a:solidFill>
                  <a:srgbClr val="222233"/>
                </a:solidFill>
                <a:latin typeface="Calibri"/>
              </a:rPr>
              <a:t>Se denomina línea eléctrica aérea al conjunto de conductores, materiales aislantes, sistemas de soporte y estructuras que permiten conducir la energía eléctrica de un punto a otro.</a:t>
            </a:r>
          </a:p>
        </p:txBody>
      </p:sp>
      <p:sp>
        <p:nvSpPr>
          <p:cNvPr id="1032"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3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3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a:t>
            </a:r>
          </a:p>
        </p:txBody>
      </p:sp>
    </p:spTree>
    <p:extLst>
      <p:ext uri="{BB962C8B-B14F-4D97-AF65-F5344CB8AC3E}">
        <p14:creationId xmlns:p14="http://schemas.microsoft.com/office/powerpoint/2010/main" val="1244566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8" name="Picture 4" descr="Poste FRP de Media y Baja Tensión – Metalur">
            <a:extLst>
              <a:ext uri="{FF2B5EF4-FFF2-40B4-BE49-F238E27FC236}">
                <a16:creationId xmlns:a16="http://schemas.microsoft.com/office/drawing/2014/main" id="{B1948689-2FD7-4692-82E4-8586DFD8F7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091" b="21858"/>
          <a:stretch/>
        </p:blipFill>
        <p:spPr bwMode="auto">
          <a:xfrm>
            <a:off x="6206203" y="2915920"/>
            <a:ext cx="2389156" cy="263530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ínea De Alimentación Eléctrica Con Postes De Hormigón. Fotos, retratos,  imágenes y fotografía de archivo libres de derecho. Image 46656688">
            <a:extLst>
              <a:ext uri="{FF2B5EF4-FFF2-40B4-BE49-F238E27FC236}">
                <a16:creationId xmlns:a16="http://schemas.microsoft.com/office/drawing/2014/main" id="{C93A3E55-206B-34C0-D2E9-ED215FD0AD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39" y="2915920"/>
            <a:ext cx="2554462" cy="26353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ostes eléctricos de madera contra un cielo azul oscuro. En América  12146589 Foto de stock en Vecteezy">
            <a:extLst>
              <a:ext uri="{FF2B5EF4-FFF2-40B4-BE49-F238E27FC236}">
                <a16:creationId xmlns:a16="http://schemas.microsoft.com/office/drawing/2014/main" id="{269F837B-E709-CE40-589D-692D22FB96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7422" y="2915920"/>
            <a:ext cx="2554460" cy="2635309"/>
          </a:xfrm>
          <a:prstGeom prst="rect">
            <a:avLst/>
          </a:prstGeom>
          <a:noFill/>
          <a:extLst>
            <a:ext uri="{909E8E84-426E-40DD-AFC4-6F175D3DCCD1}">
              <a14:hiddenFill xmlns:a14="http://schemas.microsoft.com/office/drawing/2010/main">
                <a:solidFill>
                  <a:srgbClr val="FFFFFF"/>
                </a:solidFill>
              </a14:hiddenFill>
            </a:ext>
          </a:extLst>
        </p:spPr>
      </p:pic>
      <p:sp>
        <p:nvSpPr>
          <p:cNvPr id="103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103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Estructuras de soporte</a:t>
            </a:r>
          </a:p>
        </p:txBody>
      </p:sp>
      <p:sp>
        <p:nvSpPr>
          <p:cNvPr id="1035" name="Cuerpo"/>
          <p:cNvSpPr txBox="1"/>
          <p:nvPr/>
        </p:nvSpPr>
        <p:spPr>
          <a:xfrm>
            <a:off x="548640" y="1463040"/>
            <a:ext cx="8046720" cy="1224280"/>
          </a:xfrm>
          <a:prstGeom prst="rect">
            <a:avLst/>
          </a:prstGeom>
          <a:noFill/>
        </p:spPr>
        <p:txBody>
          <a:bodyPr wrap="square" lIns="0" rIns="0" tIns="0" bIns="0">
            <a:spAutoFit/>
          </a:bodyPr>
          <a:lstStyle/>
          <a:p>
            <a:pPr>
              <a:spcAft>
                <a:spcPts val="800"/>
              </a:spcAft>
            </a:pPr>
            <a:r>
              <a:rPr sz="1600" b="0">
                <a:solidFill>
                  <a:srgbClr val="222233"/>
                </a:solidFill>
                <a:latin typeface="Calibri"/>
              </a:rPr>
              <a:t>Las líneas aéreas de media y baja tensión se soportan sobre estructuras como torres y postes de hormigón, acero u otros materiales, que resisten los esfuerzos mecánicos y de cimentación.</a:t>
            </a:r>
          </a:p>
          <a:p>
            <a:pPr>
              <a:spcAft>
                <a:spcPts val="800"/>
              </a:spcAft>
            </a:pPr>
            <a:r>
              <a:rPr sz="1600" b="0">
                <a:solidFill>
                  <a:srgbClr val="222233"/>
                </a:solidFill>
                <a:latin typeface="Calibri"/>
              </a:rPr>
              <a:t>Habitualmente, en una misma estructura se montan los sistemas de M.T. y B.T.</a:t>
            </a:r>
          </a:p>
        </p:txBody>
      </p:sp>
      <p:sp>
        <p:nvSpPr>
          <p:cNvPr id="1036" name="TextBox 1035"/>
          <p:cNvSpPr txBox="1"/>
          <p:nvPr/>
        </p:nvSpPr>
        <p:spPr>
          <a:xfrm>
            <a:off x="274319" y="5596949"/>
            <a:ext cx="3103102" cy="274320"/>
          </a:xfrm>
          <a:prstGeom prst="rect">
            <a:avLst/>
          </a:prstGeom>
          <a:noFill/>
        </p:spPr>
        <p:txBody>
          <a:bodyPr wrap="square" anchor="t" lIns="0" rIns="0" tIns="0" bIns="0">
            <a:spAutoFit/>
          </a:bodyPr>
          <a:lstStyle/>
          <a:p>
            <a:pPr algn="ctr"/>
            <a:r>
              <a:rPr sz="1200" b="1" i="0">
                <a:solidFill>
                  <a:srgbClr val="6A4C9C"/>
                </a:solidFill>
                <a:latin typeface="Calibri"/>
              </a:rPr>
              <a:t>Poste de fibra</a:t>
            </a:r>
          </a:p>
        </p:txBody>
      </p:sp>
      <p:sp>
        <p:nvSpPr>
          <p:cNvPr id="1037" name="TextBox 1036"/>
          <p:cNvSpPr txBox="1"/>
          <p:nvPr/>
        </p:nvSpPr>
        <p:spPr>
          <a:xfrm>
            <a:off x="3103102" y="5596949"/>
            <a:ext cx="3103100" cy="274320"/>
          </a:xfrm>
          <a:prstGeom prst="rect">
            <a:avLst/>
          </a:prstGeom>
          <a:noFill/>
        </p:spPr>
        <p:txBody>
          <a:bodyPr wrap="square" anchor="t" lIns="0" rIns="0" tIns="0" bIns="0">
            <a:spAutoFit/>
          </a:bodyPr>
          <a:lstStyle/>
          <a:p>
            <a:pPr algn="ctr"/>
            <a:r>
              <a:rPr sz="1200" b="1" i="0">
                <a:solidFill>
                  <a:srgbClr val="6A4C9C"/>
                </a:solidFill>
                <a:latin typeface="Calibri"/>
              </a:rPr>
              <a:t>Poste de hormigón</a:t>
            </a:r>
          </a:p>
        </p:txBody>
      </p:sp>
      <p:sp>
        <p:nvSpPr>
          <p:cNvPr id="1038" name="TextBox 1037"/>
          <p:cNvSpPr txBox="1"/>
          <p:nvPr/>
        </p:nvSpPr>
        <p:spPr>
          <a:xfrm>
            <a:off x="5931883" y="5596949"/>
            <a:ext cx="2937796" cy="274320"/>
          </a:xfrm>
          <a:prstGeom prst="rect">
            <a:avLst/>
          </a:prstGeom>
          <a:noFill/>
        </p:spPr>
        <p:txBody>
          <a:bodyPr wrap="square" anchor="t" lIns="0" rIns="0" tIns="0" bIns="0">
            <a:spAutoFit/>
          </a:bodyPr>
          <a:lstStyle/>
          <a:p>
            <a:pPr algn="ctr"/>
            <a:r>
              <a:rPr sz="1200" b="1" i="0">
                <a:solidFill>
                  <a:srgbClr val="6A4C9C"/>
                </a:solidFill>
                <a:latin typeface="Calibri"/>
              </a:rPr>
              <a:t>Poste de madera</a:t>
            </a:r>
          </a:p>
        </p:txBody>
      </p:sp>
      <p:sp>
        <p:nvSpPr>
          <p:cNvPr id="1039"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40"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41"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a:t>
            </a:r>
          </a:p>
        </p:txBody>
      </p:sp>
    </p:spTree>
    <p:extLst>
      <p:ext uri="{BB962C8B-B14F-4D97-AF65-F5344CB8AC3E}">
        <p14:creationId xmlns:p14="http://schemas.microsoft.com/office/powerpoint/2010/main" val="3912620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292" name="Picture 4" descr="Qué es un conductor eléctrico - Blog">
            <a:extLst>
              <a:ext uri="{FF2B5EF4-FFF2-40B4-BE49-F238E27FC236}">
                <a16:creationId xmlns:a16="http://schemas.microsoft.com/office/drawing/2014/main" id="{70D591A0-2C17-2112-0BA6-E03390D22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320" y="3362960"/>
            <a:ext cx="5801360" cy="2900680"/>
          </a:xfrm>
          <a:prstGeom prst="rect">
            <a:avLst/>
          </a:prstGeom>
          <a:noFill/>
          <a:extLst>
            <a:ext uri="{909E8E84-426E-40DD-AFC4-6F175D3DCCD1}">
              <a14:hiddenFill xmlns:a14="http://schemas.microsoft.com/office/drawing/2010/main">
                <a:solidFill>
                  <a:srgbClr val="FFFFFF"/>
                </a:solidFill>
              </a14:hiddenFill>
            </a:ext>
          </a:extLst>
        </p:spPr>
      </p:pic>
      <p:sp>
        <p:nvSpPr>
          <p:cNvPr id="1229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1229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Conductores</a:t>
            </a:r>
          </a:p>
        </p:txBody>
      </p:sp>
      <p:sp>
        <p:nvSpPr>
          <p:cNvPr id="12295" name="Cuerpo"/>
          <p:cNvSpPr txBox="1"/>
          <p:nvPr/>
        </p:nvSpPr>
        <p:spPr>
          <a:xfrm>
            <a:off x="548640" y="1463040"/>
            <a:ext cx="8046720" cy="1671320"/>
          </a:xfrm>
          <a:prstGeom prst="rect">
            <a:avLst/>
          </a:prstGeom>
          <a:noFill/>
        </p:spPr>
        <p:txBody>
          <a:bodyPr wrap="square" lIns="0" rIns="0" tIns="0" bIns="0">
            <a:spAutoFit/>
          </a:bodyPr>
          <a:lstStyle/>
          <a:p>
            <a:pPr>
              <a:spcAft>
                <a:spcPts val="800"/>
              </a:spcAft>
            </a:pPr>
            <a:r>
              <a:rPr sz="1600" b="0">
                <a:solidFill>
                  <a:srgbClr val="222233"/>
                </a:solidFill>
                <a:latin typeface="Calibri"/>
              </a:rPr>
              <a:t>El conductor es la parte fundamental de una línea: un elemento metálico, como cobre o aluminio, cuya función es transportar la corriente.</a:t>
            </a:r>
          </a:p>
          <a:p>
            <a:pPr marL="256032" indent="-256032">
              <a:spcAft>
                <a:spcPts val="800"/>
              </a:spcAft>
              <a:buClr>
                <a:srgbClr val="6A4C9C"/>
              </a:buClr>
              <a:buFont typeface="Arial"/>
              <a:buChar char="•"/>
            </a:pPr>
            <a:r>
              <a:rPr sz="1600" b="0">
                <a:solidFill>
                  <a:srgbClr val="222233"/>
                </a:solidFill>
                <a:latin typeface="Calibri"/>
              </a:rPr>
              <a:t>Alambre: sección circular sólida única.</a:t>
            </a:r>
          </a:p>
          <a:p>
            <a:pPr marL="256032" indent="-256032">
              <a:spcAft>
                <a:spcPts val="800"/>
              </a:spcAft>
              <a:buClr>
                <a:srgbClr val="6A4C9C"/>
              </a:buClr>
              <a:buFont typeface="Arial"/>
              <a:buChar char="•"/>
            </a:pPr>
            <a:r>
              <a:rPr sz="1600" b="0">
                <a:solidFill>
                  <a:srgbClr val="222233"/>
                </a:solidFill>
                <a:latin typeface="Calibri"/>
              </a:rPr>
              <a:t>Cable: sección formada por varios alambres.</a:t>
            </a:r>
          </a:p>
          <a:p>
            <a:pPr marL="256032" indent="-256032">
              <a:spcAft>
                <a:spcPts val="800"/>
              </a:spcAft>
              <a:buClr>
                <a:srgbClr val="6A4C9C"/>
              </a:buClr>
              <a:buFont typeface="Arial"/>
              <a:buChar char="•"/>
            </a:pPr>
            <a:r>
              <a:rPr sz="1600" b="0">
                <a:solidFill>
                  <a:srgbClr val="222233"/>
                </a:solidFill>
                <a:latin typeface="Calibri"/>
              </a:rPr>
              <a:t>Barra: sección rectangular.</a:t>
            </a:r>
          </a:p>
        </p:txBody>
      </p:sp>
      <p:sp>
        <p:nvSpPr>
          <p:cNvPr id="12296"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229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29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a:t>
            </a:r>
          </a:p>
        </p:txBody>
      </p:sp>
    </p:spTree>
    <p:extLst>
      <p:ext uri="{BB962C8B-B14F-4D97-AF65-F5344CB8AC3E}">
        <p14:creationId xmlns:p14="http://schemas.microsoft.com/office/powerpoint/2010/main" val="3872962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2" descr="Cable Preensamblado 2x25 2x16 Aluminio - ZMS CABLE">
            <a:extLst>
              <a:ext uri="{FF2B5EF4-FFF2-40B4-BE49-F238E27FC236}">
                <a16:creationId xmlns:a16="http://schemas.microsoft.com/office/drawing/2014/main" id="{E4067904-4825-E0CB-9A2A-CDFAE9B25C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522" t="17436"/>
          <a:stretch/>
        </p:blipFill>
        <p:spPr bwMode="auto">
          <a:xfrm>
            <a:off x="5592316" y="2712720"/>
            <a:ext cx="916399" cy="171450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descr="Interfaz de usuario gráfica, Texto, Aplicación, Chat o mensaje de texto&#10;&#10;Descripción generada automáticamente">
            <a:extLst>
              <a:ext uri="{FF2B5EF4-FFF2-40B4-BE49-F238E27FC236}">
                <a16:creationId xmlns:a16="http://schemas.microsoft.com/office/drawing/2014/main" id="{9D4C403F-AA3C-D0E4-1C91-875C5A10777D}"/>
              </a:ext>
            </a:extLst>
          </p:cNvPr>
          <p:cNvPicPr>
            <a:picLocks noChangeAspect="1"/>
          </p:cNvPicPr>
          <p:nvPr/>
        </p:nvPicPr>
        <p:blipFill rotWithShape="1">
          <a:blip r:embed="rId4"/>
          <a:srcRect l="29055" t="27037" r="41077" b="43273"/>
          <a:stretch/>
        </p:blipFill>
        <p:spPr bwMode="auto">
          <a:xfrm>
            <a:off x="548640" y="2712720"/>
            <a:ext cx="3539323" cy="1714502"/>
          </a:xfrm>
          <a:prstGeom prst="rect">
            <a:avLst/>
          </a:prstGeom>
          <a:ln>
            <a:noFill/>
          </a:ln>
          <a:extLst>
            <a:ext uri="{53640926-AAD7-44D8-BBD7-CCE9431645EC}">
              <a14:shadowObscured xmlns:a14="http://schemas.microsoft.com/office/drawing/2010/main"/>
            </a:ext>
          </a:extLst>
        </p:spPr>
      </p:pic>
      <p:pic>
        <p:nvPicPr>
          <p:cNvPr id="5" name="Picture 2" descr="Cable Preensamblado 2x25 2x16 Aluminio - ZMS CABLE">
            <a:extLst>
              <a:ext uri="{FF2B5EF4-FFF2-40B4-BE49-F238E27FC236}">
                <a16:creationId xmlns:a16="http://schemas.microsoft.com/office/drawing/2014/main" id="{6848CC09-448D-34EF-5C9C-C6C642A90A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574" r="71763"/>
          <a:stretch/>
        </p:blipFill>
        <p:spPr bwMode="auto">
          <a:xfrm>
            <a:off x="4362283" y="2712720"/>
            <a:ext cx="955713" cy="1714502"/>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B2B644DD-249A-0DDA-36D6-DB324241CD0C}"/>
              </a:ext>
            </a:extLst>
          </p:cNvPr>
          <p:cNvPicPr>
            <a:picLocks noChangeAspect="1"/>
          </p:cNvPicPr>
          <p:nvPr/>
        </p:nvPicPr>
        <p:blipFill>
          <a:blip r:embed="rId5"/>
          <a:srcRect l="23278" t="28707" r="30858" b="16125"/>
          <a:stretch/>
        </p:blipFill>
        <p:spPr>
          <a:xfrm>
            <a:off x="6783036" y="2712720"/>
            <a:ext cx="1812323" cy="1714502"/>
          </a:xfrm>
          <a:prstGeom prst="rect">
            <a:avLst/>
          </a:prstGeom>
        </p:spPr>
      </p:pic>
      <p:sp>
        <p:nvSpPr>
          <p:cNvPr id="102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102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Conductores aislados de B.T.</a:t>
            </a:r>
          </a:p>
        </p:txBody>
      </p:sp>
      <p:sp>
        <p:nvSpPr>
          <p:cNvPr id="1029" name="Cuerpo"/>
          <p:cNvSpPr txBox="1"/>
          <p:nvPr/>
        </p:nvSpPr>
        <p:spPr>
          <a:xfrm>
            <a:off x="548640" y="1463040"/>
            <a:ext cx="8046720" cy="1021080"/>
          </a:xfrm>
          <a:prstGeom prst="rect">
            <a:avLst/>
          </a:prstGeom>
          <a:noFill/>
        </p:spPr>
        <p:txBody>
          <a:bodyPr wrap="square" lIns="0" rIns="0" tIns="0" bIns="0">
            <a:spAutoFit/>
          </a:bodyPr>
          <a:lstStyle/>
          <a:p>
            <a:pPr>
              <a:spcAft>
                <a:spcPts val="400"/>
              </a:spcAft>
            </a:pPr>
            <a:r>
              <a:rPr sz="1700" b="1">
                <a:solidFill>
                  <a:srgbClr val="4B2E83"/>
                </a:solidFill>
                <a:latin typeface="Calibri"/>
              </a:rPr>
              <a:t>Conductores de sistemas de distribución de B.T.</a:t>
            </a:r>
          </a:p>
          <a:p>
            <a:pPr>
              <a:spcAft>
                <a:spcPts val="800"/>
              </a:spcAft>
            </a:pPr>
            <a:r>
              <a:rPr sz="1600" b="0">
                <a:solidFill>
                  <a:srgbClr val="222233"/>
                </a:solidFill>
                <a:latin typeface="Calibri"/>
              </a:rPr>
              <a:t>Están representados por conductores monofásicos o trifásicos de cable de aluminio en diferentes calibres milimétricos.</a:t>
            </a:r>
          </a:p>
        </p:txBody>
      </p:sp>
      <p:sp>
        <p:nvSpPr>
          <p:cNvPr id="1030"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3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3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a:t>
            </a:r>
          </a:p>
        </p:txBody>
      </p:sp>
    </p:spTree>
    <p:extLst>
      <p:ext uri="{BB962C8B-B14F-4D97-AF65-F5344CB8AC3E}">
        <p14:creationId xmlns:p14="http://schemas.microsoft.com/office/powerpoint/2010/main" val="1197146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52" name="Picture 4" descr="CABLE DE COBRE DESNUDO 25 MM2 | ORIGINAL INDECO">
            <a:extLst>
              <a:ext uri="{FF2B5EF4-FFF2-40B4-BE49-F238E27FC236}">
                <a16:creationId xmlns:a16="http://schemas.microsoft.com/office/drawing/2014/main" id="{2F16E06E-8358-449D-A178-0DE9754B7E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142" y="2326640"/>
            <a:ext cx="4187217" cy="337803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lambre Desnudo de 14 Awg PHELPS DODGE R-031">
            <a:extLst>
              <a:ext uri="{FF2B5EF4-FFF2-40B4-BE49-F238E27FC236}">
                <a16:creationId xmlns:a16="http://schemas.microsoft.com/office/drawing/2014/main" id="{ECE2416E-0674-D6F5-E97A-0884EFCDFA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 y="2326640"/>
            <a:ext cx="3585182" cy="3378038"/>
          </a:xfrm>
          <a:prstGeom prst="rect">
            <a:avLst/>
          </a:prstGeom>
          <a:noFill/>
          <a:extLst>
            <a:ext uri="{909E8E84-426E-40DD-AFC4-6F175D3DCCD1}">
              <a14:hiddenFill xmlns:a14="http://schemas.microsoft.com/office/drawing/2010/main">
                <a:solidFill>
                  <a:srgbClr val="FFFFFF"/>
                </a:solidFill>
              </a14:hiddenFill>
            </a:ext>
          </a:extLst>
        </p:spPr>
      </p:pic>
      <p:sp>
        <p:nvSpPr>
          <p:cNvPr id="205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205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Conductores desnudos de B.T.</a:t>
            </a:r>
          </a:p>
        </p:txBody>
      </p:sp>
      <p:sp>
        <p:nvSpPr>
          <p:cNvPr id="2059" name="Cuerpo"/>
          <p:cNvSpPr txBox="1"/>
          <p:nvPr/>
        </p:nvSpPr>
        <p:spPr>
          <a:xfrm>
            <a:off x="548640" y="1463040"/>
            <a:ext cx="8046720" cy="635000"/>
          </a:xfrm>
          <a:prstGeom prst="rect">
            <a:avLst/>
          </a:prstGeom>
          <a:noFill/>
        </p:spPr>
        <p:txBody>
          <a:bodyPr wrap="square" lIns="0" rIns="0" tIns="0" bIns="0">
            <a:spAutoFit/>
          </a:bodyPr>
          <a:lstStyle/>
          <a:p>
            <a:pPr>
              <a:spcAft>
                <a:spcPts val="800"/>
              </a:spcAft>
            </a:pPr>
            <a:r>
              <a:rPr sz="1600" b="0">
                <a:solidFill>
                  <a:srgbClr val="222233"/>
                </a:solidFill>
                <a:latin typeface="Calibri"/>
              </a:rPr>
              <a:t>Están representados por conductores monofásicos o trifásicos de cobre o aluminio en diferentes calibres milimétricos.</a:t>
            </a:r>
          </a:p>
        </p:txBody>
      </p:sp>
      <p:sp>
        <p:nvSpPr>
          <p:cNvPr id="2060" name="TextBox 2059"/>
          <p:cNvSpPr txBox="1"/>
          <p:nvPr/>
        </p:nvSpPr>
        <p:spPr>
          <a:xfrm>
            <a:off x="274320" y="5750398"/>
            <a:ext cx="4133822" cy="274320"/>
          </a:xfrm>
          <a:prstGeom prst="rect">
            <a:avLst/>
          </a:prstGeom>
          <a:noFill/>
        </p:spPr>
        <p:txBody>
          <a:bodyPr wrap="square" anchor="t" lIns="0" rIns="0" tIns="0" bIns="0">
            <a:spAutoFit/>
          </a:bodyPr>
          <a:lstStyle/>
          <a:p>
            <a:pPr algn="ctr"/>
            <a:r>
              <a:rPr sz="1200" b="1" i="0">
                <a:solidFill>
                  <a:srgbClr val="6A4C9C"/>
                </a:solidFill>
                <a:latin typeface="Calibri"/>
              </a:rPr>
              <a:t>Alambre</a:t>
            </a:r>
          </a:p>
        </p:txBody>
      </p:sp>
      <p:sp>
        <p:nvSpPr>
          <p:cNvPr id="2061" name="TextBox 2060"/>
          <p:cNvSpPr txBox="1"/>
          <p:nvPr/>
        </p:nvSpPr>
        <p:spPr>
          <a:xfrm>
            <a:off x="4133822" y="5750398"/>
            <a:ext cx="4735857" cy="274320"/>
          </a:xfrm>
          <a:prstGeom prst="rect">
            <a:avLst/>
          </a:prstGeom>
          <a:noFill/>
        </p:spPr>
        <p:txBody>
          <a:bodyPr wrap="square" anchor="t" lIns="0" rIns="0" tIns="0" bIns="0">
            <a:spAutoFit/>
          </a:bodyPr>
          <a:lstStyle/>
          <a:p>
            <a:pPr algn="ctr"/>
            <a:r>
              <a:rPr sz="1200" b="1" i="0">
                <a:solidFill>
                  <a:srgbClr val="6A4C9C"/>
                </a:solidFill>
                <a:latin typeface="Calibri"/>
              </a:rPr>
              <a:t>Cable</a:t>
            </a:r>
          </a:p>
        </p:txBody>
      </p:sp>
      <p:sp>
        <p:nvSpPr>
          <p:cNvPr id="2062"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06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06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12</a:t>
            </a:r>
          </a:p>
        </p:txBody>
      </p:sp>
    </p:spTree>
    <p:extLst>
      <p:ext uri="{BB962C8B-B14F-4D97-AF65-F5344CB8AC3E}">
        <p14:creationId xmlns:p14="http://schemas.microsoft.com/office/powerpoint/2010/main" val="344996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C1EDFBA-68A5-C05C-5956-D269F34D2728}"/>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71E788C4-1C4A-E8D4-A899-C622B9FA0C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5079" y="2522002"/>
            <a:ext cx="2780280" cy="313987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Objeto 13">
            <a:extLst>
              <a:ext uri="{FF2B5EF4-FFF2-40B4-BE49-F238E27FC236}">
                <a16:creationId xmlns:a16="http://schemas.microsoft.com/office/drawing/2014/main" id="{57D0F4CA-210A-8F02-1080-38C4022D7E66}"/>
              </a:ext>
            </a:extLst>
          </p:cNvPr>
          <p:cNvGraphicFramePr>
            <a:graphicFrameLocks noChangeAspect="1"/>
          </p:cNvGraphicFramePr>
          <p:nvPr>
            <p:extLst>
              <p:ext uri="{D42A27DB-BD31-4B8C-83A1-F6EECF244321}">
                <p14:modId xmlns:p14="http://schemas.microsoft.com/office/powerpoint/2010/main" val="74231677"/>
              </p:ext>
            </p:extLst>
          </p:nvPr>
        </p:nvGraphicFramePr>
        <p:xfrm>
          <a:off x="548640" y="2522002"/>
          <a:ext cx="4992119" cy="3139874"/>
        </p:xfrm>
        <a:graphic>
          <a:graphicData uri="http://schemas.openxmlformats.org/presentationml/2006/ole">
            <mc:AlternateContent xmlns:mc="http://schemas.openxmlformats.org/markup-compatibility/2006">
              <mc:Choice xmlns:v="urn:schemas-microsoft-com:vml" Requires="v">
                <p:oleObj name="Worksheet" r:id="rId4" imgW="3726074" imgH="2522330" progId="Excel.Sheet.12">
                  <p:embed/>
                </p:oleObj>
              </mc:Choice>
              <mc:Fallback>
                <p:oleObj name="Worksheet" r:id="rId4" imgW="3726074" imgH="2522330" progId="Excel.Sheet.12">
                  <p:embed/>
                  <p:pic>
                    <p:nvPicPr>
                      <p:cNvPr id="14" name="Objeto 13">
                        <a:extLst>
                          <a:ext uri="{FF2B5EF4-FFF2-40B4-BE49-F238E27FC236}">
                            <a16:creationId xmlns:a16="http://schemas.microsoft.com/office/drawing/2014/main" id="{57D0F4CA-210A-8F02-1080-38C4022D7E66}"/>
                          </a:ext>
                        </a:extLst>
                      </p:cNvPr>
                      <p:cNvPicPr/>
                      <p:nvPr/>
                    </p:nvPicPr>
                    <p:blipFill>
                      <a:blip r:embed="rId5"/>
                      <a:stretch>
                        <a:fillRect/>
                      </a:stretch>
                    </p:blipFill>
                    <p:spPr>
                      <a:xfrm>
                        <a:off x="548640" y="2522002"/>
                        <a:ext cx="4992119" cy="3139874"/>
                      </a:xfrm>
                      <a:prstGeom prst="rect">
                        <a:avLst/>
                      </a:prstGeom>
                    </p:spPr>
                  </p:pic>
                </p:oleObj>
              </mc:Fallback>
            </mc:AlternateContent>
          </a:graphicData>
        </a:graphic>
      </p:graphicFrame>
      <p:sp>
        <p:nvSpPr>
          <p:cNvPr id="307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307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Calibres de conductores desnudos de B.T.</a:t>
            </a:r>
          </a:p>
        </p:txBody>
      </p:sp>
      <p:sp>
        <p:nvSpPr>
          <p:cNvPr id="3077" name="TextBox 3076"/>
          <p:cNvSpPr txBox="1"/>
          <p:nvPr/>
        </p:nvSpPr>
        <p:spPr>
          <a:xfrm>
            <a:off x="548640" y="1417320"/>
            <a:ext cx="8046720" cy="365760"/>
          </a:xfrm>
          <a:prstGeom prst="rect">
            <a:avLst/>
          </a:prstGeom>
          <a:noFill/>
        </p:spPr>
        <p:txBody>
          <a:bodyPr wrap="square" anchor="t" lIns="0" rIns="0" tIns="0" bIns="0">
            <a:spAutoFit/>
          </a:bodyPr>
          <a:lstStyle/>
          <a:p>
            <a:pPr algn="l"/>
            <a:r>
              <a:rPr sz="1500" b="0" i="0">
                <a:solidFill>
                  <a:srgbClr val="5A5A6E"/>
                </a:solidFill>
                <a:latin typeface="Calibri"/>
              </a:rPr>
              <a:t>Calibres habituales y su disponibilidad como alambre o cable.</a:t>
            </a:r>
          </a:p>
        </p:txBody>
      </p:sp>
      <p:sp>
        <p:nvSpPr>
          <p:cNvPr id="3078" name="Botón Índice">
            <a:hlinkClick action="ppaction://hlinksldjump" r:id="rId7"/>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307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308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13</a:t>
            </a:r>
          </a:p>
        </p:txBody>
      </p:sp>
    </p:spTree>
    <p:extLst>
      <p:ext uri="{BB962C8B-B14F-4D97-AF65-F5344CB8AC3E}">
        <p14:creationId xmlns:p14="http://schemas.microsoft.com/office/powerpoint/2010/main" val="1282251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9A41EE-82EB-F678-5E23-634968CD2508}"/>
            </a:ext>
          </a:extLst>
        </p:cNvPr>
        <p:cNvGrpSpPr/>
        <p:nvPr/>
      </p:nvGrpSpPr>
      <p:grpSpPr>
        <a:xfrm>
          <a:off x="0" y="0"/>
          <a:ext cx="0" cy="0"/>
          <a:chOff x="0" y="0"/>
          <a:chExt cx="0" cy="0"/>
        </a:xfrm>
      </p:grpSpPr>
      <p:graphicFrame>
        <p:nvGraphicFramePr>
          <p:cNvPr id="20" name="Objeto 19">
            <a:extLst>
              <a:ext uri="{FF2B5EF4-FFF2-40B4-BE49-F238E27FC236}">
                <a16:creationId xmlns:a16="http://schemas.microsoft.com/office/drawing/2014/main" id="{19A2CAF4-D14A-95F7-C564-654B340AF6FE}"/>
              </a:ext>
            </a:extLst>
          </p:cNvPr>
          <p:cNvGraphicFramePr>
            <a:graphicFrameLocks noChangeAspect="1"/>
          </p:cNvGraphicFramePr>
          <p:nvPr>
            <p:extLst>
              <p:ext uri="{D42A27DB-BD31-4B8C-83A1-F6EECF244321}">
                <p14:modId xmlns:p14="http://schemas.microsoft.com/office/powerpoint/2010/main" val="2242469082"/>
              </p:ext>
            </p:extLst>
          </p:nvPr>
        </p:nvGraphicFramePr>
        <p:xfrm>
          <a:off x="548639" y="2672080"/>
          <a:ext cx="2992074" cy="1931145"/>
        </p:xfrm>
        <a:graphic>
          <a:graphicData uri="http://schemas.openxmlformats.org/presentationml/2006/ole">
            <mc:AlternateContent xmlns:mc="http://schemas.openxmlformats.org/markup-compatibility/2006">
              <mc:Choice xmlns:v="urn:schemas-microsoft-com:vml" Requires="v">
                <p:oleObj name="Worksheet" r:id="rId3" imgW="2964357" imgH="1912746" progId="Excel.Sheet.12">
                  <p:embed/>
                </p:oleObj>
              </mc:Choice>
              <mc:Fallback>
                <p:oleObj name="Worksheet" r:id="rId3" imgW="2964357" imgH="1912746" progId="Excel.Sheet.12">
                  <p:embed/>
                  <p:pic>
                    <p:nvPicPr>
                      <p:cNvPr id="20" name="Objeto 19">
                        <a:extLst>
                          <a:ext uri="{FF2B5EF4-FFF2-40B4-BE49-F238E27FC236}">
                            <a16:creationId xmlns:a16="http://schemas.microsoft.com/office/drawing/2014/main" id="{19A2CAF4-D14A-95F7-C564-654B340AF6FE}"/>
                          </a:ext>
                        </a:extLst>
                      </p:cNvPr>
                      <p:cNvPicPr/>
                      <p:nvPr/>
                    </p:nvPicPr>
                    <p:blipFill>
                      <a:blip r:embed="rId4"/>
                      <a:stretch>
                        <a:fillRect/>
                      </a:stretch>
                    </p:blipFill>
                    <p:spPr>
                      <a:xfrm>
                        <a:off x="548639" y="2672080"/>
                        <a:ext cx="2992074" cy="1931145"/>
                      </a:xfrm>
                      <a:prstGeom prst="rect">
                        <a:avLst/>
                      </a:prstGeom>
                    </p:spPr>
                  </p:pic>
                </p:oleObj>
              </mc:Fallback>
            </mc:AlternateContent>
          </a:graphicData>
        </a:graphic>
      </p:graphicFrame>
      <p:pic>
        <p:nvPicPr>
          <p:cNvPr id="21" name="Imagen 20">
            <a:extLst>
              <a:ext uri="{FF2B5EF4-FFF2-40B4-BE49-F238E27FC236}">
                <a16:creationId xmlns:a16="http://schemas.microsoft.com/office/drawing/2014/main" id="{4F536671-28F7-0C98-0782-4E89FDBD5B20}"/>
              </a:ext>
            </a:extLst>
          </p:cNvPr>
          <p:cNvPicPr>
            <a:picLocks noChangeAspect="1"/>
          </p:cNvPicPr>
          <p:nvPr/>
        </p:nvPicPr>
        <p:blipFill>
          <a:blip r:embed="rId5"/>
          <a:stretch>
            <a:fillRect/>
          </a:stretch>
        </p:blipFill>
        <p:spPr>
          <a:xfrm>
            <a:off x="6664214" y="2672080"/>
            <a:ext cx="1931145" cy="1931145"/>
          </a:xfrm>
          <a:prstGeom prst="rect">
            <a:avLst/>
          </a:prstGeom>
        </p:spPr>
      </p:pic>
      <p:pic>
        <p:nvPicPr>
          <p:cNvPr id="4" name="Imagen 3" descr="Imagen que contiene exterior, alambre, colgando, firmar&#10;&#10;Descripción generada automáticamente">
            <a:extLst>
              <a:ext uri="{FF2B5EF4-FFF2-40B4-BE49-F238E27FC236}">
                <a16:creationId xmlns:a16="http://schemas.microsoft.com/office/drawing/2014/main" id="{554BE4C0-6664-52F9-92D5-7EFD4C353DBD}"/>
              </a:ext>
            </a:extLst>
          </p:cNvPr>
          <p:cNvPicPr>
            <a:picLocks noChangeAspect="1"/>
          </p:cNvPicPr>
          <p:nvPr/>
        </p:nvPicPr>
        <p:blipFill>
          <a:blip r:embed="rId6"/>
          <a:stretch>
            <a:fillRect/>
          </a:stretch>
        </p:blipFill>
        <p:spPr>
          <a:xfrm>
            <a:off x="3815034" y="2672080"/>
            <a:ext cx="2574860" cy="1931145"/>
          </a:xfrm>
          <a:prstGeom prst="rect">
            <a:avLst/>
          </a:prstGeom>
        </p:spPr>
      </p:pic>
      <p:sp>
        <p:nvSpPr>
          <p:cNvPr id="2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2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Conductores de aluminio protegido de M.T.</a:t>
            </a:r>
          </a:p>
        </p:txBody>
      </p:sp>
      <p:sp>
        <p:nvSpPr>
          <p:cNvPr id="24" name="Cuerpo"/>
          <p:cNvSpPr txBox="1"/>
          <p:nvPr/>
        </p:nvSpPr>
        <p:spPr>
          <a:xfrm>
            <a:off x="548640" y="1463040"/>
            <a:ext cx="8046720" cy="980440"/>
          </a:xfrm>
          <a:prstGeom prst="rect">
            <a:avLst/>
          </a:prstGeom>
          <a:noFill/>
        </p:spPr>
        <p:txBody>
          <a:bodyPr wrap="square" lIns="0" rIns="0" tIns="0" bIns="0">
            <a:spAutoFit/>
          </a:bodyPr>
          <a:lstStyle/>
          <a:p>
            <a:pPr>
              <a:spcAft>
                <a:spcPts val="800"/>
              </a:spcAft>
            </a:pPr>
            <a:r>
              <a:rPr sz="1600" b="0">
                <a:solidFill>
                  <a:srgbClr val="222233"/>
                </a:solidFill>
                <a:latin typeface="Calibri"/>
              </a:rPr>
              <a:t>Están representados por conductores monopolares de aluminio protegido en diferentes calibres.</a:t>
            </a:r>
          </a:p>
          <a:p>
            <a:pPr>
              <a:spcAft>
                <a:spcPts val="800"/>
              </a:spcAft>
            </a:pPr>
            <a:r>
              <a:rPr sz="1600" b="1">
                <a:solidFill>
                  <a:srgbClr val="4B2E83"/>
                </a:solidFill>
                <a:latin typeface="Calibri"/>
              </a:rPr>
              <a:t>Protegido no significa aislado: trátalo siempre como energizado.</a:t>
            </a:r>
          </a:p>
        </p:txBody>
      </p:sp>
      <p:sp>
        <p:nvSpPr>
          <p:cNvPr id="25" name="Botón Índice">
            <a:hlinkClick action="ppaction://hlinksldjump" r:id="rId7"/>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6"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7"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14</a:t>
            </a:r>
          </a:p>
        </p:txBody>
      </p:sp>
    </p:spTree>
    <p:extLst>
      <p:ext uri="{BB962C8B-B14F-4D97-AF65-F5344CB8AC3E}">
        <p14:creationId xmlns:p14="http://schemas.microsoft.com/office/powerpoint/2010/main" val="3961542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B1B02F-4B9E-BA7C-B95B-6AA16EF9084C}"/>
            </a:ext>
          </a:extLst>
        </p:cNvPr>
        <p:cNvGrpSpPr/>
        <p:nvPr/>
      </p:nvGrpSpPr>
      <p:grpSpPr>
        <a:xfrm>
          <a:off x="0" y="0"/>
          <a:ext cx="0" cy="0"/>
          <a:chOff x="0" y="0"/>
          <a:chExt cx="0" cy="0"/>
        </a:xfrm>
      </p:grpSpPr>
      <p:graphicFrame>
        <p:nvGraphicFramePr>
          <p:cNvPr id="16" name="Objeto 15">
            <a:extLst>
              <a:ext uri="{FF2B5EF4-FFF2-40B4-BE49-F238E27FC236}">
                <a16:creationId xmlns:a16="http://schemas.microsoft.com/office/drawing/2014/main" id="{8B7DC277-6355-EAB1-F85E-9FDC71131207}"/>
              </a:ext>
            </a:extLst>
          </p:cNvPr>
          <p:cNvGraphicFramePr>
            <a:graphicFrameLocks noChangeAspect="1"/>
          </p:cNvGraphicFramePr>
          <p:nvPr>
            <p:extLst>
              <p:ext uri="{D42A27DB-BD31-4B8C-83A1-F6EECF244321}">
                <p14:modId xmlns:p14="http://schemas.microsoft.com/office/powerpoint/2010/main" val="3584692438"/>
              </p:ext>
            </p:extLst>
          </p:nvPr>
        </p:nvGraphicFramePr>
        <p:xfrm>
          <a:off x="548640" y="2326640"/>
          <a:ext cx="3479744" cy="3219491"/>
        </p:xfrm>
        <a:graphic>
          <a:graphicData uri="http://schemas.openxmlformats.org/presentationml/2006/ole">
            <mc:AlternateContent xmlns:mc="http://schemas.openxmlformats.org/markup-compatibility/2006">
              <mc:Choice xmlns:v="urn:schemas-microsoft-com:vml" Requires="v">
                <p:oleObj name="Worksheet" r:id="rId3" imgW="3893643" imgH="4564459" progId="Excel.Sheet.12">
                  <p:embed/>
                </p:oleObj>
              </mc:Choice>
              <mc:Fallback>
                <p:oleObj name="Worksheet" r:id="rId3" imgW="3893643" imgH="4564459" progId="Excel.Sheet.12">
                  <p:embed/>
                  <p:pic>
                    <p:nvPicPr>
                      <p:cNvPr id="16" name="Objeto 15">
                        <a:extLst>
                          <a:ext uri="{FF2B5EF4-FFF2-40B4-BE49-F238E27FC236}">
                            <a16:creationId xmlns:a16="http://schemas.microsoft.com/office/drawing/2014/main" id="{8B7DC277-6355-EAB1-F85E-9FDC71131207}"/>
                          </a:ext>
                        </a:extLst>
                      </p:cNvPr>
                      <p:cNvPicPr/>
                      <p:nvPr/>
                    </p:nvPicPr>
                    <p:blipFill>
                      <a:blip r:embed="rId4"/>
                      <a:stretch>
                        <a:fillRect/>
                      </a:stretch>
                    </p:blipFill>
                    <p:spPr>
                      <a:xfrm>
                        <a:off x="548640" y="2326640"/>
                        <a:ext cx="3479744" cy="3219491"/>
                      </a:xfrm>
                      <a:prstGeom prst="rect">
                        <a:avLst/>
                      </a:prstGeom>
                    </p:spPr>
                  </p:pic>
                </p:oleObj>
              </mc:Fallback>
            </mc:AlternateContent>
          </a:graphicData>
        </a:graphic>
      </p:graphicFrame>
      <p:pic>
        <p:nvPicPr>
          <p:cNvPr id="4" name="Imagen 3">
            <a:extLst>
              <a:ext uri="{FF2B5EF4-FFF2-40B4-BE49-F238E27FC236}">
                <a16:creationId xmlns:a16="http://schemas.microsoft.com/office/drawing/2014/main" id="{E5C97C70-F475-0FD6-E6A5-B36D95370BDF}"/>
              </a:ext>
            </a:extLst>
          </p:cNvPr>
          <p:cNvPicPr>
            <a:picLocks noChangeAspect="1"/>
          </p:cNvPicPr>
          <p:nvPr/>
        </p:nvPicPr>
        <p:blipFill>
          <a:blip r:embed="rId5"/>
          <a:stretch>
            <a:fillRect/>
          </a:stretch>
        </p:blipFill>
        <p:spPr>
          <a:xfrm>
            <a:off x="4302704" y="2326640"/>
            <a:ext cx="4292655" cy="3219491"/>
          </a:xfrm>
          <a:prstGeom prst="rect">
            <a:avLst/>
          </a:prstGeom>
        </p:spPr>
      </p:pic>
      <p:sp>
        <p:nvSpPr>
          <p:cNvPr id="1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1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Conductores desnudos de M.T.</a:t>
            </a:r>
          </a:p>
        </p:txBody>
      </p:sp>
      <p:sp>
        <p:nvSpPr>
          <p:cNvPr id="19" name="Cuerpo"/>
          <p:cNvSpPr txBox="1"/>
          <p:nvPr/>
        </p:nvSpPr>
        <p:spPr>
          <a:xfrm>
            <a:off x="548640" y="1463040"/>
            <a:ext cx="8046720" cy="635000"/>
          </a:xfrm>
          <a:prstGeom prst="rect">
            <a:avLst/>
          </a:prstGeom>
          <a:noFill/>
        </p:spPr>
        <p:txBody>
          <a:bodyPr wrap="square" lIns="0" rIns="0" tIns="0" bIns="0">
            <a:spAutoFit/>
          </a:bodyPr>
          <a:lstStyle/>
          <a:p>
            <a:pPr>
              <a:spcAft>
                <a:spcPts val="800"/>
              </a:spcAft>
            </a:pPr>
            <a:r>
              <a:rPr sz="1600" b="0">
                <a:solidFill>
                  <a:srgbClr val="222233"/>
                </a:solidFill>
                <a:latin typeface="Calibri"/>
              </a:rPr>
              <a:t>Están representados por conductores monopolares de cobre y de aluminio en diferentes calibres.</a:t>
            </a:r>
          </a:p>
        </p:txBody>
      </p:sp>
      <p:sp>
        <p:nvSpPr>
          <p:cNvPr id="20"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15</a:t>
            </a:r>
          </a:p>
        </p:txBody>
      </p:sp>
    </p:spTree>
    <p:extLst>
      <p:ext uri="{BB962C8B-B14F-4D97-AF65-F5344CB8AC3E}">
        <p14:creationId xmlns:p14="http://schemas.microsoft.com/office/powerpoint/2010/main" val="205317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7905AC5-4514-04FC-14AC-AAD5ABE54AF2}"/>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C2002487-2139-0066-A0D1-071AB26DA2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8640" y="2712720"/>
            <a:ext cx="4491168" cy="2041870"/>
          </a:xfrm>
          <a:prstGeom prst="rect">
            <a:avLst/>
          </a:prstGeom>
          <a:noFill/>
        </p:spPr>
      </p:pic>
      <p:pic>
        <p:nvPicPr>
          <p:cNvPr id="4" name="Imagen 3" descr="Interfaz de usuario gráfica, Aplicación&#10;&#10;Descripción generada automáticamente">
            <a:extLst>
              <a:ext uri="{FF2B5EF4-FFF2-40B4-BE49-F238E27FC236}">
                <a16:creationId xmlns:a16="http://schemas.microsoft.com/office/drawing/2014/main" id="{908039EF-78CC-5768-7F6D-5CD4B03479FE}"/>
              </a:ext>
            </a:extLst>
          </p:cNvPr>
          <p:cNvPicPr>
            <a:picLocks noChangeAspect="1"/>
          </p:cNvPicPr>
          <p:nvPr/>
        </p:nvPicPr>
        <p:blipFill rotWithShape="1">
          <a:blip r:embed="rId4"/>
          <a:srcRect l="67879" t="47129" r="9266" b="27582"/>
          <a:stretch/>
        </p:blipFill>
        <p:spPr bwMode="auto">
          <a:xfrm>
            <a:off x="5314128" y="2712720"/>
            <a:ext cx="3281231" cy="2041870"/>
          </a:xfrm>
          <a:prstGeom prst="rect">
            <a:avLst/>
          </a:prstGeom>
          <a:ln>
            <a:noFill/>
          </a:ln>
          <a:extLst>
            <a:ext uri="{53640926-AAD7-44D8-BBD7-CCE9431645EC}">
              <a14:shadowObscured xmlns:a14="http://schemas.microsoft.com/office/drawing/2010/main"/>
            </a:ext>
          </a:extLst>
        </p:spPr>
      </p:pic>
      <p:sp>
        <p:nvSpPr>
          <p:cNvPr id="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Sistemas de aislación en B.T.</a:t>
            </a:r>
          </a:p>
        </p:txBody>
      </p:sp>
      <p:sp>
        <p:nvSpPr>
          <p:cNvPr id="7" name="Cuerpo"/>
          <p:cNvSpPr txBox="1"/>
          <p:nvPr/>
        </p:nvSpPr>
        <p:spPr>
          <a:xfrm>
            <a:off x="548640" y="1463040"/>
            <a:ext cx="8046720" cy="1021080"/>
          </a:xfrm>
          <a:prstGeom prst="rect">
            <a:avLst/>
          </a:prstGeom>
          <a:noFill/>
        </p:spPr>
        <p:txBody>
          <a:bodyPr wrap="square" lIns="0" rIns="0" tIns="0" bIns="0">
            <a:spAutoFit/>
          </a:bodyPr>
          <a:lstStyle/>
          <a:p>
            <a:pPr>
              <a:spcAft>
                <a:spcPts val="800"/>
              </a:spcAft>
            </a:pPr>
            <a:r>
              <a:rPr sz="1600" b="0">
                <a:solidFill>
                  <a:srgbClr val="222233"/>
                </a:solidFill>
                <a:latin typeface="Calibri"/>
              </a:rPr>
              <a:t>En B.T. y M.T. la aislación está dada por distintos tipos de aisladores, según el nivel de tensión de servicio de la línea.</a:t>
            </a:r>
          </a:p>
          <a:p>
            <a:pPr>
              <a:spcBef>
                <a:spcPts val="600"/>
              </a:spcBef>
              <a:spcAft>
                <a:spcPts val="400"/>
              </a:spcAft>
            </a:pPr>
            <a:r>
              <a:rPr sz="1700" b="1">
                <a:solidFill>
                  <a:srgbClr val="4B2E83"/>
                </a:solidFill>
                <a:latin typeface="Calibri"/>
              </a:rPr>
              <a:t>Aisladores de B.T. para conductores de aluminio preensamblado</a:t>
            </a:r>
          </a:p>
        </p:txBody>
      </p:sp>
      <p:sp>
        <p:nvSpPr>
          <p:cNvPr id="8" name="TextBox 7"/>
          <p:cNvSpPr txBox="1"/>
          <p:nvPr/>
        </p:nvSpPr>
        <p:spPr>
          <a:xfrm>
            <a:off x="274320" y="4800310"/>
            <a:ext cx="5039808" cy="274320"/>
          </a:xfrm>
          <a:prstGeom prst="rect">
            <a:avLst/>
          </a:prstGeom>
          <a:noFill/>
        </p:spPr>
        <p:txBody>
          <a:bodyPr wrap="square" anchor="t" lIns="0" rIns="0" tIns="0" bIns="0">
            <a:spAutoFit/>
          </a:bodyPr>
          <a:lstStyle/>
          <a:p>
            <a:pPr algn="ctr"/>
            <a:r>
              <a:rPr sz="1200" b="1" i="0">
                <a:solidFill>
                  <a:srgbClr val="6A4C9C"/>
                </a:solidFill>
                <a:latin typeface="Calibri"/>
              </a:rPr>
              <a:t>Aislador de suspensión</a:t>
            </a:r>
          </a:p>
        </p:txBody>
      </p:sp>
      <p:sp>
        <p:nvSpPr>
          <p:cNvPr id="9" name="TextBox 8"/>
          <p:cNvSpPr txBox="1"/>
          <p:nvPr/>
        </p:nvSpPr>
        <p:spPr>
          <a:xfrm>
            <a:off x="5039808" y="4800310"/>
            <a:ext cx="3829871" cy="274320"/>
          </a:xfrm>
          <a:prstGeom prst="rect">
            <a:avLst/>
          </a:prstGeom>
          <a:noFill/>
        </p:spPr>
        <p:txBody>
          <a:bodyPr wrap="square" anchor="t" lIns="0" rIns="0" tIns="0" bIns="0">
            <a:spAutoFit/>
          </a:bodyPr>
          <a:lstStyle/>
          <a:p>
            <a:pPr algn="ctr"/>
            <a:r>
              <a:rPr sz="1200" b="1" i="0">
                <a:solidFill>
                  <a:srgbClr val="6A4C9C"/>
                </a:solidFill>
                <a:latin typeface="Calibri"/>
              </a:rPr>
              <a:t>Aislador de anclaje</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16</a:t>
            </a:r>
          </a:p>
        </p:txBody>
      </p:sp>
    </p:spTree>
    <p:extLst>
      <p:ext uri="{BB962C8B-B14F-4D97-AF65-F5344CB8AC3E}">
        <p14:creationId xmlns:p14="http://schemas.microsoft.com/office/powerpoint/2010/main" val="1835305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A216D93-EC67-7C3B-DAFC-941321843630}"/>
            </a:ext>
          </a:extLst>
        </p:cNvPr>
        <p:cNvGrpSpPr/>
        <p:nvPr/>
      </p:nvGrpSpPr>
      <p:grpSpPr>
        <a:xfrm>
          <a:off x="0" y="0"/>
          <a:ext cx="0" cy="0"/>
          <a:chOff x="0" y="0"/>
          <a:chExt cx="0" cy="0"/>
        </a:xfrm>
      </p:grpSpPr>
      <p:pic>
        <p:nvPicPr>
          <p:cNvPr id="5" name="Imagen 4" descr="Captura de pantalla de un celular&#10;&#10;Descripción generada automáticamente">
            <a:extLst>
              <a:ext uri="{FF2B5EF4-FFF2-40B4-BE49-F238E27FC236}">
                <a16:creationId xmlns:a16="http://schemas.microsoft.com/office/drawing/2014/main" id="{67E1BEC4-794B-E106-A913-0D2D5CC3E3FE}"/>
              </a:ext>
            </a:extLst>
          </p:cNvPr>
          <p:cNvPicPr>
            <a:picLocks noChangeAspect="1"/>
          </p:cNvPicPr>
          <p:nvPr/>
        </p:nvPicPr>
        <p:blipFill rotWithShape="1">
          <a:blip r:embed="rId3"/>
          <a:srcRect l="27155" t="52302" r="31886" b="14706"/>
          <a:stretch/>
        </p:blipFill>
        <p:spPr bwMode="auto">
          <a:xfrm>
            <a:off x="548640" y="2269087"/>
            <a:ext cx="8046720" cy="3645705"/>
          </a:xfrm>
          <a:prstGeom prst="rect">
            <a:avLst/>
          </a:prstGeom>
          <a:ln>
            <a:noFill/>
          </a:ln>
          <a:extLst>
            <a:ext uri="{53640926-AAD7-44D8-BBD7-CCE9431645EC}">
              <a14:shadowObscured xmlns:a14="http://schemas.microsoft.com/office/drawing/2010/main"/>
            </a:ext>
          </a:extLst>
        </p:spPr>
      </p:pic>
      <p:sp>
        <p:nvSpPr>
          <p:cNvPr id="6"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7"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Aisladores de B.T. para conductores aéreos</a:t>
            </a:r>
          </a:p>
        </p:txBody>
      </p:sp>
      <p:sp>
        <p:nvSpPr>
          <p:cNvPr id="8" name="TextBox 7"/>
          <p:cNvSpPr txBox="1"/>
          <p:nvPr/>
        </p:nvSpPr>
        <p:spPr>
          <a:xfrm>
            <a:off x="548640" y="1417320"/>
            <a:ext cx="8046720" cy="365760"/>
          </a:xfrm>
          <a:prstGeom prst="rect">
            <a:avLst/>
          </a:prstGeom>
          <a:noFill/>
        </p:spPr>
        <p:txBody>
          <a:bodyPr wrap="square" anchor="t" lIns="0" rIns="0" tIns="0" bIns="0">
            <a:spAutoFit/>
          </a:bodyPr>
          <a:lstStyle/>
          <a:p>
            <a:pPr algn="l"/>
            <a:r>
              <a:rPr sz="1500" b="0" i="0">
                <a:solidFill>
                  <a:srgbClr val="5A5A6E"/>
                </a:solidFill>
                <a:latin typeface="Calibri"/>
              </a:rPr>
              <a:t>Aislador de suspensión (izquierda) y aislador de empalme (derecha).</a:t>
            </a:r>
          </a:p>
        </p:txBody>
      </p:sp>
      <p:sp>
        <p:nvSpPr>
          <p:cNvPr id="9"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1"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17</a:t>
            </a:r>
          </a:p>
        </p:txBody>
      </p:sp>
    </p:spTree>
    <p:extLst>
      <p:ext uri="{BB962C8B-B14F-4D97-AF65-F5344CB8AC3E}">
        <p14:creationId xmlns:p14="http://schemas.microsoft.com/office/powerpoint/2010/main" val="4103015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594FEF5-A38E-93DB-08B5-69DED4623024}"/>
            </a:ext>
          </a:extLst>
        </p:cNvPr>
        <p:cNvGrpSpPr/>
        <p:nvPr/>
      </p:nvGrpSpPr>
      <p:grpSpPr>
        <a:xfrm>
          <a:off x="0" y="0"/>
          <a:ext cx="0" cy="0"/>
          <a:chOff x="0" y="0"/>
          <a:chExt cx="0" cy="0"/>
        </a:xfrm>
      </p:grpSpPr>
      <p:pic>
        <p:nvPicPr>
          <p:cNvPr id="3" name="Imagen 2" descr="Interfaz de usuario gráfica, Texto&#10;&#10;Descripción generada automáticamente">
            <a:extLst>
              <a:ext uri="{FF2B5EF4-FFF2-40B4-BE49-F238E27FC236}">
                <a16:creationId xmlns:a16="http://schemas.microsoft.com/office/drawing/2014/main" id="{92C610FA-6C13-A453-265F-9B355673DB0C}"/>
              </a:ext>
            </a:extLst>
          </p:cNvPr>
          <p:cNvPicPr>
            <a:picLocks noChangeAspect="1"/>
          </p:cNvPicPr>
          <p:nvPr/>
        </p:nvPicPr>
        <p:blipFill rotWithShape="1">
          <a:blip r:embed="rId3"/>
          <a:srcRect l="3168" t="37819" r="55646" b="8268"/>
          <a:stretch/>
        </p:blipFill>
        <p:spPr bwMode="auto">
          <a:xfrm>
            <a:off x="548640" y="3017520"/>
            <a:ext cx="2176055" cy="1602150"/>
          </a:xfrm>
          <a:prstGeom prst="rect">
            <a:avLst/>
          </a:prstGeom>
          <a:ln>
            <a:noFill/>
          </a:ln>
          <a:extLst>
            <a:ext uri="{53640926-AAD7-44D8-BBD7-CCE9431645EC}">
              <a14:shadowObscured xmlns:a14="http://schemas.microsoft.com/office/drawing/2010/main"/>
            </a:ext>
          </a:extLst>
        </p:spPr>
      </p:pic>
      <p:pic>
        <p:nvPicPr>
          <p:cNvPr id="4" name="Imagen 3" descr="Interfaz de usuario gráfica, Sitio web&#10;&#10;Descripción generada automáticamente">
            <a:extLst>
              <a:ext uri="{FF2B5EF4-FFF2-40B4-BE49-F238E27FC236}">
                <a16:creationId xmlns:a16="http://schemas.microsoft.com/office/drawing/2014/main" id="{ED493BD0-1C60-83FD-24C5-58F1A5BB4998}"/>
              </a:ext>
            </a:extLst>
          </p:cNvPr>
          <p:cNvPicPr>
            <a:picLocks noChangeAspect="1"/>
          </p:cNvPicPr>
          <p:nvPr/>
        </p:nvPicPr>
        <p:blipFill rotWithShape="1">
          <a:blip r:embed="rId4"/>
          <a:srcRect t="55924" r="58135" b="7051"/>
          <a:stretch/>
        </p:blipFill>
        <p:spPr bwMode="auto">
          <a:xfrm>
            <a:off x="2999015" y="3017520"/>
            <a:ext cx="3220502" cy="1602150"/>
          </a:xfrm>
          <a:prstGeom prst="rect">
            <a:avLst/>
          </a:prstGeom>
          <a:ln>
            <a:noFill/>
          </a:ln>
          <a:extLst>
            <a:ext uri="{53640926-AAD7-44D8-BBD7-CCE9431645EC}">
              <a14:shadowObscured xmlns:a14="http://schemas.microsoft.com/office/drawing/2010/main"/>
            </a:ext>
          </a:extLst>
        </p:spPr>
      </p:pic>
      <p:pic>
        <p:nvPicPr>
          <p:cNvPr id="6" name="Imagen 5" descr="Interfaz de usuario gráfica, Sitio web&#10;&#10;Descripción generada automáticamente">
            <a:extLst>
              <a:ext uri="{FF2B5EF4-FFF2-40B4-BE49-F238E27FC236}">
                <a16:creationId xmlns:a16="http://schemas.microsoft.com/office/drawing/2014/main" id="{7033340E-9F56-17F1-DA7A-71A937AD5DBB}"/>
              </a:ext>
            </a:extLst>
          </p:cNvPr>
          <p:cNvPicPr>
            <a:picLocks noChangeAspect="1"/>
          </p:cNvPicPr>
          <p:nvPr/>
        </p:nvPicPr>
        <p:blipFill rotWithShape="1">
          <a:blip r:embed="rId5"/>
          <a:srcRect l="47748" t="53510" r="29396" b="15510"/>
          <a:stretch/>
        </p:blipFill>
        <p:spPr bwMode="auto">
          <a:xfrm>
            <a:off x="6493837" y="3017520"/>
            <a:ext cx="2101522" cy="1602150"/>
          </a:xfrm>
          <a:prstGeom prst="rect">
            <a:avLst/>
          </a:prstGeom>
          <a:ln>
            <a:noFill/>
          </a:ln>
          <a:extLst>
            <a:ext uri="{53640926-AAD7-44D8-BBD7-CCE9431645EC}">
              <a14:shadowObscured xmlns:a14="http://schemas.microsoft.com/office/drawing/2010/main"/>
            </a:ext>
          </a:extLst>
        </p:spPr>
      </p:pic>
      <p:sp>
        <p:nvSpPr>
          <p:cNvPr id="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Aisladores de M.T.</a:t>
            </a:r>
          </a:p>
        </p:txBody>
      </p:sp>
      <p:sp>
        <p:nvSpPr>
          <p:cNvPr id="9" name="Cuerpo"/>
          <p:cNvSpPr txBox="1"/>
          <p:nvPr/>
        </p:nvSpPr>
        <p:spPr>
          <a:xfrm>
            <a:off x="548640" y="1463040"/>
            <a:ext cx="8046720" cy="1325880"/>
          </a:xfrm>
          <a:prstGeom prst="rect">
            <a:avLst/>
          </a:prstGeom>
          <a:noFill/>
        </p:spPr>
        <p:txBody>
          <a:bodyPr wrap="square" lIns="0" rIns="0" tIns="0" bIns="0">
            <a:spAutoFit/>
          </a:bodyPr>
          <a:lstStyle/>
          <a:p>
            <a:pPr>
              <a:spcAft>
                <a:spcPts val="800"/>
              </a:spcAft>
            </a:pPr>
            <a:r>
              <a:rPr sz="1600" b="0">
                <a:solidFill>
                  <a:srgbClr val="222233"/>
                </a:solidFill>
                <a:latin typeface="Calibri"/>
              </a:rPr>
              <a:t>En media tensión los aisladores son de mayor tamaño, porque deben soportar tensiones más altas.</a:t>
            </a:r>
          </a:p>
          <a:p>
            <a:pPr marL="256032" indent="-256032">
              <a:spcAft>
                <a:spcPts val="800"/>
              </a:spcAft>
              <a:buClr>
                <a:srgbClr val="6A4C9C"/>
              </a:buClr>
              <a:buFont typeface="Arial"/>
              <a:buChar char="•"/>
            </a:pPr>
            <a:r>
              <a:rPr sz="1600" b="0">
                <a:solidFill>
                  <a:srgbClr val="222233"/>
                </a:solidFill>
                <a:latin typeface="Calibri"/>
              </a:rPr>
              <a:t>Aisladores de suspensión.</a:t>
            </a:r>
          </a:p>
          <a:p>
            <a:pPr marL="256032" indent="-256032">
              <a:spcAft>
                <a:spcPts val="800"/>
              </a:spcAft>
              <a:buClr>
                <a:srgbClr val="6A4C9C"/>
              </a:buClr>
              <a:buFont typeface="Arial"/>
              <a:buChar char="•"/>
            </a:pPr>
            <a:r>
              <a:rPr sz="1600" b="0">
                <a:solidFill>
                  <a:srgbClr val="222233"/>
                </a:solidFill>
                <a:latin typeface="Calibri"/>
              </a:rPr>
              <a:t>Aisladores de retención.</a:t>
            </a:r>
          </a:p>
        </p:txBody>
      </p:sp>
      <p:sp>
        <p:nvSpPr>
          <p:cNvPr id="10"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18</a:t>
            </a:r>
          </a:p>
        </p:txBody>
      </p:sp>
    </p:spTree>
    <p:extLst>
      <p:ext uri="{BB962C8B-B14F-4D97-AF65-F5344CB8AC3E}">
        <p14:creationId xmlns:p14="http://schemas.microsoft.com/office/powerpoint/2010/main" val="152397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D869FA7-C464-8320-DC4D-F3C1E361590B}"/>
            </a:ext>
          </a:extLst>
        </p:cNvPr>
        <p:cNvGrpSpPr/>
        <p:nvPr/>
      </p:nvGrpSpPr>
      <p:grpSpPr>
        <a:xfrm>
          <a:off x="0" y="0"/>
          <a:ext cx="0" cy="0"/>
          <a:chOff x="0" y="0"/>
          <a:chExt cx="0" cy="0"/>
        </a:xfrm>
      </p:grpSpPr>
      <p:pic>
        <p:nvPicPr>
          <p:cNvPr id="4102" name="Picture 6" descr="Mantenimiento de línea de media tensión (aéreas y subterráneas) – Engynd  Ingeniería Y Servicios SPA.">
            <a:extLst>
              <a:ext uri="{FF2B5EF4-FFF2-40B4-BE49-F238E27FC236}">
                <a16:creationId xmlns:a16="http://schemas.microsoft.com/office/drawing/2014/main" id="{75CE8E1C-8283-732A-08BB-5FF8194C66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2040" y="2359151"/>
            <a:ext cx="3703320" cy="2962656"/>
          </a:xfrm>
          <a:prstGeom prst="rect">
            <a:avLst/>
          </a:prstGeom>
          <a:noFill/>
          <a:extLst>
            <a:ext uri="{909E8E84-426E-40DD-AFC4-6F175D3DCCD1}">
              <a14:hiddenFill xmlns:a14="http://schemas.microsoft.com/office/drawing/2010/main">
                <a:solidFill>
                  <a:srgbClr val="FFFFFF"/>
                </a:solidFill>
              </a14:hiddenFill>
            </a:ext>
          </a:extLst>
        </p:spPr>
      </p:pic>
      <p:sp>
        <p:nvSpPr>
          <p:cNvPr id="410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1.1 SISTEMAS ELÉCTRICOS AÉREOS DE DISTRIBUCIÓN</a:t>
            </a:r>
          </a:p>
        </p:txBody>
      </p:sp>
      <p:sp>
        <p:nvSpPr>
          <p:cNvPr id="410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Equipos de un sistema aéreo</a:t>
            </a:r>
          </a:p>
        </p:txBody>
      </p:sp>
      <p:sp>
        <p:nvSpPr>
          <p:cNvPr id="4105" name="Cuerpo"/>
          <p:cNvSpPr txBox="1"/>
          <p:nvPr/>
        </p:nvSpPr>
        <p:spPr>
          <a:xfrm>
            <a:off x="548640" y="1463040"/>
            <a:ext cx="4023360" cy="3439159"/>
          </a:xfrm>
          <a:prstGeom prst="rect">
            <a:avLst/>
          </a:prstGeom>
          <a:noFill/>
        </p:spPr>
        <p:txBody>
          <a:bodyPr wrap="square" lIns="0" rIns="0" tIns="0" bIns="0">
            <a:spAutoFit/>
          </a:bodyPr>
          <a:lstStyle/>
          <a:p>
            <a:pPr>
              <a:spcAft>
                <a:spcPts val="800"/>
              </a:spcAft>
            </a:pPr>
            <a:r>
              <a:rPr sz="1600" b="0">
                <a:solidFill>
                  <a:srgbClr val="222233"/>
                </a:solidFill>
                <a:latin typeface="Calibri"/>
              </a:rPr>
              <a:t>Además de postes y conductores, la red aérea está conformada por equipos que cumplen distintas funciones:</a:t>
            </a:r>
          </a:p>
          <a:p>
            <a:pPr marL="256032" indent="-256032">
              <a:spcAft>
                <a:spcPts val="800"/>
              </a:spcAft>
              <a:buClr>
                <a:srgbClr val="6A4C9C"/>
              </a:buClr>
              <a:buFont typeface="Arial"/>
              <a:buChar char="•"/>
            </a:pPr>
            <a:r>
              <a:rPr sz="1600" b="0">
                <a:solidFill>
                  <a:srgbClr val="222233"/>
                </a:solidFill>
                <a:latin typeface="Calibri"/>
              </a:rPr>
              <a:t>Equipos de protección que discriminan condiciones de falla.</a:t>
            </a:r>
          </a:p>
          <a:p>
            <a:pPr marL="256032" indent="-256032">
              <a:spcAft>
                <a:spcPts val="800"/>
              </a:spcAft>
              <a:buClr>
                <a:srgbClr val="6A4C9C"/>
              </a:buClr>
              <a:buFont typeface="Arial"/>
              <a:buChar char="•"/>
            </a:pPr>
            <a:r>
              <a:rPr sz="1600" b="0">
                <a:solidFill>
                  <a:srgbClr val="222233"/>
                </a:solidFill>
                <a:latin typeface="Calibri"/>
              </a:rPr>
              <a:t>Transformadores que reducen la M.T. a B.T.</a:t>
            </a:r>
          </a:p>
          <a:p>
            <a:pPr marL="256032" indent="-256032">
              <a:spcAft>
                <a:spcPts val="800"/>
              </a:spcAft>
              <a:buClr>
                <a:srgbClr val="6A4C9C"/>
              </a:buClr>
              <a:buFont typeface="Arial"/>
              <a:buChar char="•"/>
            </a:pPr>
            <a:r>
              <a:rPr sz="1600" b="0">
                <a:solidFill>
                  <a:srgbClr val="222233"/>
                </a:solidFill>
                <a:latin typeface="Calibri"/>
              </a:rPr>
              <a:t>Seccionadores de líneas.</a:t>
            </a:r>
          </a:p>
          <a:p>
            <a:pPr marL="256032" indent="-256032">
              <a:spcAft>
                <a:spcPts val="800"/>
              </a:spcAft>
              <a:buClr>
                <a:srgbClr val="6A4C9C"/>
              </a:buClr>
              <a:buFont typeface="Arial"/>
              <a:buChar char="•"/>
            </a:pPr>
            <a:r>
              <a:rPr sz="1600" b="0">
                <a:solidFill>
                  <a:srgbClr val="222233"/>
                </a:solidFill>
                <a:latin typeface="Calibri"/>
              </a:rPr>
              <a:t>Equipos de medida.</a:t>
            </a:r>
          </a:p>
          <a:p>
            <a:pPr marL="256032" indent="-256032">
              <a:spcAft>
                <a:spcPts val="800"/>
              </a:spcAft>
              <a:buClr>
                <a:srgbClr val="6A4C9C"/>
              </a:buClr>
              <a:buFont typeface="Arial"/>
              <a:buChar char="•"/>
            </a:pPr>
            <a:r>
              <a:rPr sz="1600" b="0">
                <a:solidFill>
                  <a:srgbClr val="222233"/>
                </a:solidFill>
                <a:latin typeface="Calibri"/>
              </a:rPr>
              <a:t>Bancos de condensadores.</a:t>
            </a:r>
          </a:p>
          <a:p>
            <a:pPr marL="256032" indent="-256032">
              <a:spcAft>
                <a:spcPts val="800"/>
              </a:spcAft>
              <a:buClr>
                <a:srgbClr val="6A4C9C"/>
              </a:buClr>
              <a:buFont typeface="Arial"/>
              <a:buChar char="•"/>
            </a:pPr>
            <a:r>
              <a:rPr sz="1600" b="0">
                <a:solidFill>
                  <a:srgbClr val="222233"/>
                </a:solidFill>
                <a:latin typeface="Calibri"/>
              </a:rPr>
              <a:t>Reguladores de voltaje.</a:t>
            </a:r>
          </a:p>
        </p:txBody>
      </p:sp>
      <p:sp>
        <p:nvSpPr>
          <p:cNvPr id="4106"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410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410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19</a:t>
            </a:r>
          </a:p>
        </p:txBody>
      </p:sp>
    </p:spTree>
    <p:extLst>
      <p:ext uri="{BB962C8B-B14F-4D97-AF65-F5344CB8AC3E}">
        <p14:creationId xmlns:p14="http://schemas.microsoft.com/office/powerpoint/2010/main" val="2542545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7726926-74E4-4D7C-527A-6019D78541E4}"/>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FB0011E4-7E87-3E5A-7C32-96FA56F0C1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2040" y="2581078"/>
            <a:ext cx="3703320" cy="2518802"/>
          </a:xfrm>
          <a:prstGeom prst="rect">
            <a:avLst/>
          </a:prstGeom>
          <a:noFill/>
          <a:extLst>
            <a:ext uri="{909E8E84-426E-40DD-AFC4-6F175D3DCCD1}">
              <a14:hiddenFill xmlns:a14="http://schemas.microsoft.com/office/drawing/2010/main">
                <a:solidFill>
                  <a:srgbClr val="FFFFFF"/>
                </a:solidFill>
              </a14:hiddenFill>
            </a:ext>
          </a:extLst>
        </p:spPr>
      </p:pic>
      <p:sp>
        <p:nvSpPr>
          <p:cNvPr id="819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1.2 FALLAS Y PERTURBACIONES EN LA RED</a:t>
            </a:r>
          </a:p>
        </p:txBody>
      </p:sp>
      <p:sp>
        <p:nvSpPr>
          <p:cNvPr id="819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¿Qué tipos de fallas existen?</a:t>
            </a:r>
          </a:p>
        </p:txBody>
      </p:sp>
      <p:sp>
        <p:nvSpPr>
          <p:cNvPr id="8197" name="Cuerpo"/>
          <p:cNvSpPr txBox="1"/>
          <p:nvPr/>
        </p:nvSpPr>
        <p:spPr>
          <a:xfrm>
            <a:off x="548640" y="1463040"/>
            <a:ext cx="4023360" cy="2016759"/>
          </a:xfrm>
          <a:prstGeom prst="rect">
            <a:avLst/>
          </a:prstGeom>
          <a:noFill/>
        </p:spPr>
        <p:txBody>
          <a:bodyPr wrap="square" lIns="0" rIns="0" tIns="0" bIns="0">
            <a:spAutoFit/>
          </a:bodyPr>
          <a:lstStyle/>
          <a:p>
            <a:pPr marL="256032" indent="-256032">
              <a:spcAft>
                <a:spcPts val="800"/>
              </a:spcAft>
              <a:buClr>
                <a:srgbClr val="6A4C9C"/>
              </a:buClr>
              <a:buFont typeface="Arial"/>
              <a:buChar char="•"/>
            </a:pPr>
            <a:r>
              <a:rPr sz="1600" b="0">
                <a:solidFill>
                  <a:srgbClr val="222233"/>
                </a:solidFill>
                <a:latin typeface="Calibri"/>
              </a:rPr>
              <a:t>Cortocircuitos.</a:t>
            </a:r>
          </a:p>
          <a:p>
            <a:pPr marL="256032" indent="-256032">
              <a:spcAft>
                <a:spcPts val="800"/>
              </a:spcAft>
              <a:buClr>
                <a:srgbClr val="6A4C9C"/>
              </a:buClr>
              <a:buFont typeface="Arial"/>
              <a:buChar char="•"/>
            </a:pPr>
            <a:r>
              <a:rPr sz="1600" b="0">
                <a:solidFill>
                  <a:srgbClr val="222233"/>
                </a:solidFill>
                <a:latin typeface="Calibri"/>
              </a:rPr>
              <a:t>Fallas a tierra.</a:t>
            </a:r>
          </a:p>
          <a:p>
            <a:pPr marL="256032" indent="-256032">
              <a:spcAft>
                <a:spcPts val="800"/>
              </a:spcAft>
              <a:buClr>
                <a:srgbClr val="6A4C9C"/>
              </a:buClr>
              <a:buFont typeface="Arial"/>
              <a:buChar char="•"/>
            </a:pPr>
            <a:r>
              <a:rPr sz="1600" b="0">
                <a:solidFill>
                  <a:srgbClr val="222233"/>
                </a:solidFill>
                <a:latin typeface="Calibri"/>
              </a:rPr>
              <a:t>Fugas de corriente.</a:t>
            </a:r>
          </a:p>
          <a:p>
            <a:pPr marL="256032" indent="-256032">
              <a:spcAft>
                <a:spcPts val="800"/>
              </a:spcAft>
              <a:buClr>
                <a:srgbClr val="6A4C9C"/>
              </a:buClr>
              <a:buFont typeface="Arial"/>
              <a:buChar char="•"/>
            </a:pPr>
            <a:r>
              <a:rPr sz="1600" b="0">
                <a:solidFill>
                  <a:srgbClr val="222233"/>
                </a:solidFill>
                <a:latin typeface="Calibri"/>
              </a:rPr>
              <a:t>Circuitos abiertos.</a:t>
            </a:r>
          </a:p>
          <a:p>
            <a:pPr>
              <a:spcAft>
                <a:spcPts val="800"/>
              </a:spcAft>
            </a:pPr>
            <a:r>
              <a:rPr sz="1600" b="1">
                <a:solidFill>
                  <a:srgbClr val="4B2E83"/>
                </a:solidFill>
                <a:latin typeface="Calibri"/>
              </a:rPr>
              <a:t>Una falla puede energizar partes que normalmente no tienen tensión.</a:t>
            </a:r>
          </a:p>
        </p:txBody>
      </p:sp>
      <p:sp>
        <p:nvSpPr>
          <p:cNvPr id="819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819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820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20</a:t>
            </a:r>
          </a:p>
        </p:txBody>
      </p:sp>
    </p:spTree>
    <p:extLst>
      <p:ext uri="{BB962C8B-B14F-4D97-AF65-F5344CB8AC3E}">
        <p14:creationId xmlns:p14="http://schemas.microsoft.com/office/powerpoint/2010/main" val="2091853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CCAA7F5-B20F-DADD-7087-D46F7C9635BF}"/>
            </a:ext>
          </a:extLst>
        </p:cNvPr>
        <p:cNvGrpSpPr/>
        <p:nvPr/>
      </p:nvGrpSpPr>
      <p:grpSpPr>
        <a:xfrm>
          <a:off x="0" y="0"/>
          <a:ext cx="0" cy="0"/>
          <a:chOff x="0" y="0"/>
          <a:chExt cx="0" cy="0"/>
        </a:xfrm>
      </p:grpSpPr>
      <p:pic>
        <p:nvPicPr>
          <p:cNvPr id="9218" name="Picture 2" descr="Supresor de Picos Hi-Protect: tu aliado contra sobretensiones">
            <a:extLst>
              <a:ext uri="{FF2B5EF4-FFF2-40B4-BE49-F238E27FC236}">
                <a16:creationId xmlns:a16="http://schemas.microsoft.com/office/drawing/2014/main" id="{947055DC-B087-B84B-51B2-007B63A63E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2040" y="3277588"/>
            <a:ext cx="3703320" cy="1125783"/>
          </a:xfrm>
          <a:prstGeom prst="rect">
            <a:avLst/>
          </a:prstGeom>
          <a:noFill/>
          <a:extLst>
            <a:ext uri="{909E8E84-426E-40DD-AFC4-6F175D3DCCD1}">
              <a14:hiddenFill xmlns:a14="http://schemas.microsoft.com/office/drawing/2010/main">
                <a:solidFill>
                  <a:srgbClr val="FFFFFF"/>
                </a:solidFill>
              </a14:hiddenFill>
            </a:ext>
          </a:extLst>
        </p:spPr>
      </p:pic>
      <p:sp>
        <p:nvSpPr>
          <p:cNvPr id="921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1.2 FALLAS Y PERTURBACIONES EN LA RED</a:t>
            </a:r>
          </a:p>
        </p:txBody>
      </p:sp>
      <p:sp>
        <p:nvSpPr>
          <p:cNvPr id="922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¿Qué tipos de perturbaciones existen?</a:t>
            </a:r>
          </a:p>
        </p:txBody>
      </p:sp>
      <p:sp>
        <p:nvSpPr>
          <p:cNvPr id="9221" name="Cuerpo"/>
          <p:cNvSpPr txBox="1"/>
          <p:nvPr/>
        </p:nvSpPr>
        <p:spPr>
          <a:xfrm>
            <a:off x="548640" y="1463040"/>
            <a:ext cx="4023360" cy="2118360"/>
          </a:xfrm>
          <a:prstGeom prst="rect">
            <a:avLst/>
          </a:prstGeom>
          <a:noFill/>
        </p:spPr>
        <p:txBody>
          <a:bodyPr wrap="square" lIns="0" rIns="0" tIns="0" bIns="0">
            <a:spAutoFit/>
          </a:bodyPr>
          <a:lstStyle/>
          <a:p>
            <a:pPr marL="256032" indent="-256032">
              <a:spcAft>
                <a:spcPts val="800"/>
              </a:spcAft>
              <a:buClr>
                <a:srgbClr val="6A4C9C"/>
              </a:buClr>
              <a:buFont typeface="Arial"/>
              <a:buChar char="•"/>
            </a:pPr>
            <a:r>
              <a:rPr sz="1600" b="0">
                <a:solidFill>
                  <a:srgbClr val="222233"/>
                </a:solidFill>
                <a:latin typeface="Calibri"/>
              </a:rPr>
              <a:t>Transitorios.</a:t>
            </a:r>
          </a:p>
          <a:p>
            <a:pPr marL="256032" indent="-256032">
              <a:spcAft>
                <a:spcPts val="800"/>
              </a:spcAft>
              <a:buClr>
                <a:srgbClr val="6A4C9C"/>
              </a:buClr>
              <a:buFont typeface="Arial"/>
              <a:buChar char="•"/>
            </a:pPr>
            <a:r>
              <a:rPr sz="1600" b="0">
                <a:solidFill>
                  <a:srgbClr val="222233"/>
                </a:solidFill>
                <a:latin typeface="Calibri"/>
              </a:rPr>
              <a:t>Interrupción.</a:t>
            </a:r>
          </a:p>
          <a:p>
            <a:pPr marL="256032" indent="-256032">
              <a:spcAft>
                <a:spcPts val="800"/>
              </a:spcAft>
              <a:buClr>
                <a:srgbClr val="6A4C9C"/>
              </a:buClr>
              <a:buFont typeface="Arial"/>
              <a:buChar char="•"/>
            </a:pPr>
            <a:r>
              <a:rPr sz="1600" b="0">
                <a:solidFill>
                  <a:srgbClr val="222233"/>
                </a:solidFill>
                <a:latin typeface="Calibri"/>
              </a:rPr>
              <a:t>Caída de tensión o mínima tensión.</a:t>
            </a:r>
          </a:p>
          <a:p>
            <a:pPr marL="256032" indent="-256032">
              <a:spcAft>
                <a:spcPts val="800"/>
              </a:spcAft>
              <a:buClr>
                <a:srgbClr val="6A4C9C"/>
              </a:buClr>
              <a:buFont typeface="Arial"/>
              <a:buChar char="•"/>
            </a:pPr>
            <a:r>
              <a:rPr sz="1600" b="0">
                <a:solidFill>
                  <a:srgbClr val="222233"/>
                </a:solidFill>
                <a:latin typeface="Calibri"/>
              </a:rPr>
              <a:t>Subida de tensión o sobretensión.</a:t>
            </a:r>
          </a:p>
          <a:p>
            <a:pPr marL="256032" indent="-256032">
              <a:spcAft>
                <a:spcPts val="800"/>
              </a:spcAft>
              <a:buClr>
                <a:srgbClr val="6A4C9C"/>
              </a:buClr>
              <a:buFont typeface="Arial"/>
              <a:buChar char="•"/>
            </a:pPr>
            <a:r>
              <a:rPr sz="1600" b="0">
                <a:solidFill>
                  <a:srgbClr val="222233"/>
                </a:solidFill>
                <a:latin typeface="Calibri"/>
              </a:rPr>
              <a:t>Distorsión de la forma de onda.</a:t>
            </a:r>
          </a:p>
          <a:p>
            <a:pPr marL="256032" indent="-256032">
              <a:spcAft>
                <a:spcPts val="800"/>
              </a:spcAft>
              <a:buClr>
                <a:srgbClr val="6A4C9C"/>
              </a:buClr>
              <a:buFont typeface="Arial"/>
              <a:buChar char="•"/>
            </a:pPr>
            <a:r>
              <a:rPr sz="1600" b="0">
                <a:solidFill>
                  <a:srgbClr val="222233"/>
                </a:solidFill>
                <a:latin typeface="Calibri"/>
              </a:rPr>
              <a:t>Fluctuaciones de tensión.</a:t>
            </a:r>
          </a:p>
        </p:txBody>
      </p:sp>
      <p:sp>
        <p:nvSpPr>
          <p:cNvPr id="9222"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22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922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21</a:t>
            </a:r>
          </a:p>
        </p:txBody>
      </p:sp>
    </p:spTree>
    <p:extLst>
      <p:ext uri="{BB962C8B-B14F-4D97-AF65-F5344CB8AC3E}">
        <p14:creationId xmlns:p14="http://schemas.microsoft.com/office/powerpoint/2010/main" val="691927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FF7ACC-A8C6-86B1-4B8B-85CF8C43AA03}"/>
            </a:ext>
          </a:extLst>
        </p:cNvPr>
        <p:cNvGrpSpPr/>
        <p:nvPr/>
      </p:nvGrpSpPr>
      <p:grpSpPr>
        <a:xfrm>
          <a:off x="0" y="0"/>
          <a:ext cx="0" cy="0"/>
          <a:chOff x="0" y="0"/>
          <a:chExt cx="0" cy="0"/>
        </a:xfrm>
      </p:grpSpPr>
      <p:pic>
        <p:nvPicPr>
          <p:cNvPr id="10242" name="Picture 2">
            <a:extLst>
              <a:ext uri="{FF2B5EF4-FFF2-40B4-BE49-F238E27FC236}">
                <a16:creationId xmlns:a16="http://schemas.microsoft.com/office/drawing/2014/main" id="{E8DFAE73-73E3-0381-2837-D4F4617B5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0547" y="2771991"/>
            <a:ext cx="1666304" cy="1022683"/>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allaron a un hombre electrocutado colgando de un poste - Qué Pasa">
            <a:extLst>
              <a:ext uri="{FF2B5EF4-FFF2-40B4-BE49-F238E27FC236}">
                <a16:creationId xmlns:a16="http://schemas.microsoft.com/office/drawing/2014/main" id="{180DBDE8-3072-FF3F-EB15-51776338B6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0547" y="4068995"/>
            <a:ext cx="1666304" cy="2194644"/>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342F9EED-8A20-3B3E-91F7-5D813BC27573}"/>
              </a:ext>
            </a:extLst>
          </p:cNvPr>
          <p:cNvPicPr>
            <a:picLocks noChangeAspect="1"/>
          </p:cNvPicPr>
          <p:nvPr/>
        </p:nvPicPr>
        <p:blipFill>
          <a:blip r:embed="rId5"/>
          <a:stretch>
            <a:fillRect/>
          </a:stretch>
        </p:blipFill>
        <p:spPr>
          <a:xfrm>
            <a:off x="5910547" y="1417319"/>
            <a:ext cx="1666304" cy="1080351"/>
          </a:xfrm>
          <a:prstGeom prst="rect">
            <a:avLst/>
          </a:prstGeom>
        </p:spPr>
      </p:pic>
      <p:sp>
        <p:nvSpPr>
          <p:cNvPr id="1024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1.3 TIPOS DE RIESGOS EN LA RED AÉREA</a:t>
            </a:r>
          </a:p>
        </p:txBody>
      </p:sp>
      <p:sp>
        <p:nvSpPr>
          <p:cNvPr id="1024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Riesgo 1: electrocución</a:t>
            </a:r>
          </a:p>
        </p:txBody>
      </p:sp>
      <p:sp>
        <p:nvSpPr>
          <p:cNvPr id="10247" name="Cuerpo"/>
          <p:cNvSpPr txBox="1"/>
          <p:nvPr/>
        </p:nvSpPr>
        <p:spPr>
          <a:xfrm>
            <a:off x="548640" y="1463040"/>
            <a:ext cx="4023360" cy="3622039"/>
          </a:xfrm>
          <a:prstGeom prst="rect">
            <a:avLst/>
          </a:prstGeom>
          <a:noFill/>
        </p:spPr>
        <p:txBody>
          <a:bodyPr wrap="square" lIns="0" rIns="0" tIns="0" bIns="0">
            <a:spAutoFit/>
          </a:bodyPr>
          <a:lstStyle/>
          <a:p>
            <a:pPr>
              <a:spcAft>
                <a:spcPts val="800"/>
              </a:spcAft>
            </a:pPr>
            <a:r>
              <a:rPr sz="1600" b="0">
                <a:solidFill>
                  <a:srgbClr val="222233"/>
                </a:solidFill>
                <a:latin typeface="Calibri"/>
              </a:rPr>
              <a:t>En la red aérea existen dos tipologías de riesgo. La primera es la electrocución.</a:t>
            </a:r>
          </a:p>
          <a:p>
            <a:pPr>
              <a:spcBef>
                <a:spcPts val="600"/>
              </a:spcBef>
              <a:spcAft>
                <a:spcPts val="400"/>
              </a:spcAft>
            </a:pPr>
            <a:r>
              <a:rPr sz="1700" b="1">
                <a:solidFill>
                  <a:srgbClr val="4B2E83"/>
                </a:solidFill>
                <a:latin typeface="Calibri"/>
              </a:rPr>
              <a:t>Efectos directos</a:t>
            </a:r>
          </a:p>
          <a:p>
            <a:pPr marL="256032" indent="-256032">
              <a:spcAft>
                <a:spcPts val="800"/>
              </a:spcAft>
              <a:buClr>
                <a:srgbClr val="6A4C9C"/>
              </a:buClr>
              <a:buFont typeface="Arial"/>
              <a:buChar char="•"/>
            </a:pPr>
            <a:r>
              <a:rPr sz="1600" b="0">
                <a:solidFill>
                  <a:srgbClr val="222233"/>
                </a:solidFill>
                <a:latin typeface="Calibri"/>
              </a:rPr>
              <a:t>Electrocución o muerte por choque eléctrico.</a:t>
            </a:r>
          </a:p>
          <a:p>
            <a:pPr marL="256032" indent="-256032">
              <a:spcAft>
                <a:spcPts val="800"/>
              </a:spcAft>
              <a:buClr>
                <a:srgbClr val="6A4C9C"/>
              </a:buClr>
              <a:buFont typeface="Arial"/>
              <a:buChar char="•"/>
            </a:pPr>
            <a:r>
              <a:rPr sz="1600" b="0">
                <a:solidFill>
                  <a:srgbClr val="222233"/>
                </a:solidFill>
                <a:latin typeface="Calibri"/>
              </a:rPr>
              <a:t>Descarga eléctrica.</a:t>
            </a:r>
          </a:p>
          <a:p>
            <a:pPr marL="256032" indent="-256032">
              <a:spcAft>
                <a:spcPts val="800"/>
              </a:spcAft>
              <a:buClr>
                <a:srgbClr val="6A4C9C"/>
              </a:buClr>
              <a:buFont typeface="Arial"/>
              <a:buChar char="•"/>
            </a:pPr>
            <a:r>
              <a:rPr sz="1600" b="0">
                <a:solidFill>
                  <a:srgbClr val="222233"/>
                </a:solidFill>
                <a:latin typeface="Calibri"/>
              </a:rPr>
              <a:t>Quemaduras (B.T.) o necrosis (M.T.).</a:t>
            </a:r>
          </a:p>
          <a:p>
            <a:pPr>
              <a:spcBef>
                <a:spcPts val="600"/>
              </a:spcBef>
              <a:spcAft>
                <a:spcPts val="400"/>
              </a:spcAft>
            </a:pPr>
            <a:r>
              <a:rPr sz="1700" b="1">
                <a:solidFill>
                  <a:srgbClr val="4B2E83"/>
                </a:solidFill>
                <a:latin typeface="Calibri"/>
              </a:rPr>
              <a:t>Efectos indirectos</a:t>
            </a:r>
          </a:p>
          <a:p>
            <a:pPr marL="256032" indent="-256032">
              <a:spcAft>
                <a:spcPts val="800"/>
              </a:spcAft>
              <a:buClr>
                <a:srgbClr val="6A4C9C"/>
              </a:buClr>
              <a:buFont typeface="Arial"/>
              <a:buChar char="•"/>
            </a:pPr>
            <a:r>
              <a:rPr sz="1600" b="0">
                <a:solidFill>
                  <a:srgbClr val="222233"/>
                </a:solidFill>
                <a:latin typeface="Calibri"/>
              </a:rPr>
              <a:t>Caídas.</a:t>
            </a:r>
          </a:p>
          <a:p>
            <a:pPr marL="256032" indent="-256032">
              <a:spcAft>
                <a:spcPts val="800"/>
              </a:spcAft>
              <a:buClr>
                <a:srgbClr val="6A4C9C"/>
              </a:buClr>
              <a:buFont typeface="Arial"/>
              <a:buChar char="•"/>
            </a:pPr>
            <a:r>
              <a:rPr sz="1600" b="0">
                <a:solidFill>
                  <a:srgbClr val="222233"/>
                </a:solidFill>
                <a:latin typeface="Calibri"/>
              </a:rPr>
              <a:t>Incendios.</a:t>
            </a:r>
          </a:p>
        </p:txBody>
      </p:sp>
      <p:sp>
        <p:nvSpPr>
          <p:cNvPr id="10248"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24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25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22</a:t>
            </a:r>
          </a:p>
        </p:txBody>
      </p:sp>
    </p:spTree>
    <p:extLst>
      <p:ext uri="{BB962C8B-B14F-4D97-AF65-F5344CB8AC3E}">
        <p14:creationId xmlns:p14="http://schemas.microsoft.com/office/powerpoint/2010/main" val="4024274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videoplaybackA26EYOA3">
            <a:hlinkClick r:id="" action="ppaction://media"/>
            <a:extLst>
              <a:ext uri="{FF2B5EF4-FFF2-40B4-BE49-F238E27FC236}">
                <a16:creationId xmlns:a16="http://schemas.microsoft.com/office/drawing/2014/main" id="{67F93EAB-92B2-4603-9728-C234FE98620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790869" y="1920240"/>
            <a:ext cx="5562260" cy="4343400"/>
          </a:xfrm>
          <a:prstGeom prst="rect">
            <a:avLst/>
          </a:prstGeom>
        </p:spPr>
      </p:pic>
      <p:sp>
        <p:nvSpPr>
          <p:cNvPr id="1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1.3 TIPOS DE RIESGOS EN LA RED AÉREA</a:t>
            </a:r>
          </a:p>
        </p:txBody>
      </p:sp>
      <p:sp>
        <p:nvSpPr>
          <p:cNvPr id="1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Video: accidente por electrocución</a:t>
            </a:r>
          </a:p>
        </p:txBody>
      </p:sp>
      <p:sp>
        <p:nvSpPr>
          <p:cNvPr id="15" name="TextBox 14"/>
          <p:cNvSpPr txBox="1"/>
          <p:nvPr/>
        </p:nvSpPr>
        <p:spPr>
          <a:xfrm>
            <a:off x="548640" y="1417320"/>
            <a:ext cx="8046720" cy="365760"/>
          </a:xfrm>
          <a:prstGeom prst="rect">
            <a:avLst/>
          </a:prstGeom>
          <a:noFill/>
        </p:spPr>
        <p:txBody>
          <a:bodyPr wrap="square" anchor="t" lIns="0" rIns="0" tIns="0" bIns="0">
            <a:spAutoFit/>
          </a:bodyPr>
          <a:lstStyle/>
          <a:p>
            <a:pPr algn="l"/>
            <a:r>
              <a:rPr sz="1500" b="0" i="0">
                <a:solidFill>
                  <a:srgbClr val="5A5A6E"/>
                </a:solidFill>
                <a:latin typeface="Calibri"/>
              </a:rPr>
              <a:t>Identifica la condición insegura, la acción insegura y la medida que habría evitado el accidente.</a:t>
            </a:r>
          </a:p>
        </p:txBody>
      </p:sp>
      <p:sp>
        <p:nvSpPr>
          <p:cNvPr id="16"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23</a:t>
            </a:r>
          </a:p>
        </p:txBody>
      </p:sp>
    </p:spTree>
    <p:extLst>
      <p:ext uri="{BB962C8B-B14F-4D97-AF65-F5344CB8AC3E}">
        <p14:creationId xmlns:p14="http://schemas.microsoft.com/office/powerpoint/2010/main" val="144380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009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FB82DA-F1D0-9E2A-ABA9-B5AC0CA8D00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4395D236-83BD-3D27-B240-7470BC083702}"/>
              </a:ext>
            </a:extLst>
          </p:cNvPr>
          <p:cNvPicPr>
            <a:picLocks noChangeAspect="1"/>
          </p:cNvPicPr>
          <p:nvPr/>
        </p:nvPicPr>
        <p:blipFill>
          <a:blip r:embed="rId3"/>
          <a:stretch>
            <a:fillRect/>
          </a:stretch>
        </p:blipFill>
        <p:spPr>
          <a:xfrm>
            <a:off x="4892040" y="1558313"/>
            <a:ext cx="3703320" cy="1191811"/>
          </a:xfrm>
          <a:prstGeom prst="rect">
            <a:avLst/>
          </a:prstGeom>
        </p:spPr>
      </p:pic>
      <p:pic>
        <p:nvPicPr>
          <p:cNvPr id="11268" name="Picture 4" descr="Arco eléctrico: directrices para la prevención de un riesgo muy grave |  Prevención Integral &amp; ORP Conference">
            <a:extLst>
              <a:ext uri="{FF2B5EF4-FFF2-40B4-BE49-F238E27FC236}">
                <a16:creationId xmlns:a16="http://schemas.microsoft.com/office/drawing/2014/main" id="{64C8335C-82B2-AC61-1448-2A836171B5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2040" y="3024445"/>
            <a:ext cx="3703320" cy="3098201"/>
          </a:xfrm>
          <a:prstGeom prst="rect">
            <a:avLst/>
          </a:prstGeom>
          <a:noFill/>
          <a:extLst>
            <a:ext uri="{909E8E84-426E-40DD-AFC4-6F175D3DCCD1}">
              <a14:hiddenFill xmlns:a14="http://schemas.microsoft.com/office/drawing/2010/main">
                <a:solidFill>
                  <a:srgbClr val="FFFFFF"/>
                </a:solidFill>
              </a14:hiddenFill>
            </a:ext>
          </a:extLst>
        </p:spPr>
      </p:pic>
      <p:sp>
        <p:nvSpPr>
          <p:cNvPr id="1126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1.3 TIPOS DE RIESGOS EN LA RED AÉREA</a:t>
            </a:r>
          </a:p>
        </p:txBody>
      </p:sp>
      <p:sp>
        <p:nvSpPr>
          <p:cNvPr id="1127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Riesgo 2: arco eléctrico</a:t>
            </a:r>
          </a:p>
        </p:txBody>
      </p:sp>
      <p:sp>
        <p:nvSpPr>
          <p:cNvPr id="11271" name="Cuerpo"/>
          <p:cNvSpPr txBox="1"/>
          <p:nvPr/>
        </p:nvSpPr>
        <p:spPr>
          <a:xfrm>
            <a:off x="548640" y="1463040"/>
            <a:ext cx="4023360" cy="2687320"/>
          </a:xfrm>
          <a:prstGeom prst="rect">
            <a:avLst/>
          </a:prstGeom>
          <a:noFill/>
        </p:spPr>
        <p:txBody>
          <a:bodyPr wrap="square" lIns="0" rIns="0" tIns="0" bIns="0">
            <a:spAutoFit/>
          </a:bodyPr>
          <a:lstStyle/>
          <a:p>
            <a:pPr>
              <a:spcAft>
                <a:spcPts val="400"/>
              </a:spcAft>
            </a:pPr>
            <a:r>
              <a:rPr sz="1700" b="1">
                <a:solidFill>
                  <a:srgbClr val="4B2E83"/>
                </a:solidFill>
                <a:latin typeface="Calibri"/>
              </a:rPr>
              <a:t>Efectos directos</a:t>
            </a:r>
          </a:p>
          <a:p>
            <a:pPr marL="256032" indent="-256032">
              <a:spcAft>
                <a:spcPts val="800"/>
              </a:spcAft>
              <a:buClr>
                <a:srgbClr val="6A4C9C"/>
              </a:buClr>
              <a:buFont typeface="Arial"/>
              <a:buChar char="•"/>
            </a:pPr>
            <a:r>
              <a:rPr sz="1600" b="0">
                <a:solidFill>
                  <a:srgbClr val="222233"/>
                </a:solidFill>
                <a:latin typeface="Calibri"/>
              </a:rPr>
              <a:t>Quemaduras graves de 2º y 3º grado, en B.T. y en M.T.</a:t>
            </a:r>
          </a:p>
          <a:p>
            <a:pPr>
              <a:spcBef>
                <a:spcPts val="600"/>
              </a:spcBef>
              <a:spcAft>
                <a:spcPts val="400"/>
              </a:spcAft>
            </a:pPr>
            <a:r>
              <a:rPr sz="1700" b="1">
                <a:solidFill>
                  <a:srgbClr val="4B2E83"/>
                </a:solidFill>
                <a:latin typeface="Calibri"/>
              </a:rPr>
              <a:t>Efectos indirectos</a:t>
            </a:r>
          </a:p>
          <a:p>
            <a:pPr marL="256032" indent="-256032">
              <a:spcAft>
                <a:spcPts val="800"/>
              </a:spcAft>
              <a:buClr>
                <a:srgbClr val="6A4C9C"/>
              </a:buClr>
              <a:buFont typeface="Arial"/>
              <a:buChar char="•"/>
            </a:pPr>
            <a:r>
              <a:rPr sz="1600" b="0">
                <a:solidFill>
                  <a:srgbClr val="222233"/>
                </a:solidFill>
                <a:latin typeface="Calibri"/>
              </a:rPr>
              <a:t>Caídas.</a:t>
            </a:r>
          </a:p>
          <a:p>
            <a:pPr marL="256032" indent="-256032">
              <a:spcAft>
                <a:spcPts val="800"/>
              </a:spcAft>
              <a:buClr>
                <a:srgbClr val="6A4C9C"/>
              </a:buClr>
              <a:buFont typeface="Arial"/>
              <a:buChar char="•"/>
            </a:pPr>
            <a:r>
              <a:rPr sz="1600" b="0">
                <a:solidFill>
                  <a:srgbClr val="222233"/>
                </a:solidFill>
                <a:latin typeface="Calibri"/>
              </a:rPr>
              <a:t>Incendios.</a:t>
            </a:r>
          </a:p>
          <a:p>
            <a:pPr>
              <a:spcAft>
                <a:spcPts val="800"/>
              </a:spcAft>
            </a:pPr>
            <a:r>
              <a:rPr sz="1600" b="1">
                <a:solidFill>
                  <a:srgbClr val="4B2E83"/>
                </a:solidFill>
                <a:latin typeface="Calibri"/>
              </a:rPr>
              <a:t>El arco no requiere contacto: basta estar cerca cuando ocurre.</a:t>
            </a:r>
          </a:p>
        </p:txBody>
      </p:sp>
      <p:sp>
        <p:nvSpPr>
          <p:cNvPr id="11272"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27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127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24</a:t>
            </a:r>
          </a:p>
        </p:txBody>
      </p:sp>
    </p:spTree>
    <p:extLst>
      <p:ext uri="{BB962C8B-B14F-4D97-AF65-F5344CB8AC3E}">
        <p14:creationId xmlns:p14="http://schemas.microsoft.com/office/powerpoint/2010/main" val="1967021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Accidente en Tablero 1">
            <a:hlinkClick r:id="" action="ppaction://media"/>
            <a:extLst>
              <a:ext uri="{FF2B5EF4-FFF2-40B4-BE49-F238E27FC236}">
                <a16:creationId xmlns:a16="http://schemas.microsoft.com/office/drawing/2014/main" id="{D8BDAD89-233C-489A-9193-BE3FDCC3ADF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675876" y="1920240"/>
            <a:ext cx="5792246" cy="4343400"/>
          </a:xfrm>
          <a:prstGeom prst="rect">
            <a:avLst/>
          </a:prstGeom>
        </p:spPr>
      </p:pic>
      <p:sp>
        <p:nvSpPr>
          <p:cNvPr id="1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1.3 TIPOS DE RIESGOS EN LA RED AÉREA</a:t>
            </a:r>
          </a:p>
        </p:txBody>
      </p:sp>
      <p:sp>
        <p:nvSpPr>
          <p:cNvPr id="1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Video: accidente por arco eléctrico</a:t>
            </a:r>
          </a:p>
        </p:txBody>
      </p:sp>
      <p:sp>
        <p:nvSpPr>
          <p:cNvPr id="15" name="TextBox 14"/>
          <p:cNvSpPr txBox="1"/>
          <p:nvPr/>
        </p:nvSpPr>
        <p:spPr>
          <a:xfrm>
            <a:off x="548640" y="1417320"/>
            <a:ext cx="8046720" cy="365760"/>
          </a:xfrm>
          <a:prstGeom prst="rect">
            <a:avLst/>
          </a:prstGeom>
          <a:noFill/>
        </p:spPr>
        <p:txBody>
          <a:bodyPr wrap="square" anchor="t" lIns="0" rIns="0" tIns="0" bIns="0">
            <a:spAutoFit/>
          </a:bodyPr>
          <a:lstStyle/>
          <a:p>
            <a:pPr algn="l"/>
            <a:r>
              <a:rPr sz="1500" b="0" i="0">
                <a:solidFill>
                  <a:srgbClr val="5A5A6E"/>
                </a:solidFill>
                <a:latin typeface="Calibri"/>
              </a:rPr>
              <a:t>Observa la velocidad del evento, la energía liberada y la distancia que alcanza.</a:t>
            </a:r>
          </a:p>
        </p:txBody>
      </p:sp>
      <p:sp>
        <p:nvSpPr>
          <p:cNvPr id="16"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25</a:t>
            </a:r>
          </a:p>
        </p:txBody>
      </p:sp>
    </p:spTree>
    <p:extLst>
      <p:ext uri="{BB962C8B-B14F-4D97-AF65-F5344CB8AC3E}">
        <p14:creationId xmlns:p14="http://schemas.microsoft.com/office/powerpoint/2010/main" val="138974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972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E048434-7FE0-F65A-AA0D-384BB8889CAF}"/>
            </a:ext>
          </a:extLst>
        </p:cNvPr>
        <p:cNvGrpSpPr/>
        <p:nvPr/>
      </p:nvGrpSpPr>
      <p:grpSpPr>
        <a:xfrm>
          <a:off x="0" y="0"/>
          <a:ext cx="0" cy="0"/>
          <a:chOff x="0" y="0"/>
          <a:chExt cx="0" cy="0"/>
        </a:xfrm>
      </p:grpSpPr>
      <p:pic>
        <p:nvPicPr>
          <p:cNvPr id="13314" name="Picture 2" descr="Seguridad eléctrica en el lugar de trabajo • Electricistas de la Fuente">
            <a:extLst>
              <a:ext uri="{FF2B5EF4-FFF2-40B4-BE49-F238E27FC236}">
                <a16:creationId xmlns:a16="http://schemas.microsoft.com/office/drawing/2014/main" id="{CD4653C7-C63C-8CD9-5A08-8390154E57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8365" y="3545839"/>
            <a:ext cx="4587268" cy="2717800"/>
          </a:xfrm>
          <a:prstGeom prst="rect">
            <a:avLst/>
          </a:prstGeom>
          <a:noFill/>
          <a:extLst>
            <a:ext uri="{909E8E84-426E-40DD-AFC4-6F175D3DCCD1}">
              <a14:hiddenFill xmlns:a14="http://schemas.microsoft.com/office/drawing/2010/main">
                <a:solidFill>
                  <a:srgbClr val="FFFFFF"/>
                </a:solidFill>
              </a14:hiddenFill>
            </a:ext>
          </a:extLst>
        </p:spPr>
      </p:pic>
      <p:sp>
        <p:nvSpPr>
          <p:cNvPr id="1331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2.1 NORMATIVA VIGENTE EN CHILE</a:t>
            </a:r>
          </a:p>
        </p:txBody>
      </p:sp>
      <p:sp>
        <p:nvSpPr>
          <p:cNvPr id="1331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Decreto Supremo 8 (SEC)</a:t>
            </a:r>
          </a:p>
        </p:txBody>
      </p:sp>
      <p:sp>
        <p:nvSpPr>
          <p:cNvPr id="13317" name="Cuerpo"/>
          <p:cNvSpPr txBox="1"/>
          <p:nvPr/>
        </p:nvSpPr>
        <p:spPr>
          <a:xfrm>
            <a:off x="548640" y="1463040"/>
            <a:ext cx="8046720" cy="1854200"/>
          </a:xfrm>
          <a:prstGeom prst="rect">
            <a:avLst/>
          </a:prstGeom>
          <a:noFill/>
        </p:spPr>
        <p:txBody>
          <a:bodyPr wrap="square" lIns="0" rIns="0" tIns="0" bIns="0">
            <a:spAutoFit/>
          </a:bodyPr>
          <a:lstStyle/>
          <a:p>
            <a:pPr>
              <a:spcAft>
                <a:spcPts val="400"/>
              </a:spcAft>
            </a:pPr>
            <a:r>
              <a:rPr sz="1700" b="1">
                <a:solidFill>
                  <a:srgbClr val="4B2E83"/>
                </a:solidFill>
                <a:latin typeface="Calibri"/>
              </a:rPr>
              <a:t>Normativa para instalaciones de consumo en baja y media tensión</a:t>
            </a:r>
          </a:p>
          <a:p>
            <a:pPr>
              <a:spcAft>
                <a:spcPts val="800"/>
              </a:spcAft>
            </a:pPr>
            <a:r>
              <a:rPr sz="1600" b="0">
                <a:solidFill>
                  <a:srgbClr val="222233"/>
                </a:solidFill>
                <a:latin typeface="Calibri"/>
              </a:rPr>
              <a:t>Reglamento de Seguridad de las Instalaciones de Consumo de Energía Eléctrica, con sus pliegos normativos RIC 01 al 19, en reemplazo de la norma NCh Elec 4/2003.</a:t>
            </a:r>
          </a:p>
          <a:p>
            <a:pPr>
              <a:spcAft>
                <a:spcPts val="800"/>
              </a:spcAft>
            </a:pPr>
            <a:r>
              <a:rPr sz="1600" b="0">
                <a:solidFill>
                  <a:srgbClr val="222233"/>
                </a:solidFill>
                <a:latin typeface="Calibri"/>
              </a:rPr>
              <a:t>Su objetivo es fijar las condiciones mínimas de seguridad de las instalaciones en B.T. y M.T., para salvaguardar a las personas y las instalaciones.</a:t>
            </a:r>
          </a:p>
        </p:txBody>
      </p:sp>
      <p:sp>
        <p:nvSpPr>
          <p:cNvPr id="1331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331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332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33</a:t>
            </a:r>
          </a:p>
        </p:txBody>
      </p:sp>
    </p:spTree>
    <p:extLst>
      <p:ext uri="{BB962C8B-B14F-4D97-AF65-F5344CB8AC3E}">
        <p14:creationId xmlns:p14="http://schemas.microsoft.com/office/powerpoint/2010/main" val="4001881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59751B4-4796-FFF0-9CA0-A0A6109037A2}"/>
              </a:ext>
            </a:extLst>
          </p:cNvPr>
          <p:cNvPicPr>
            <a:picLocks noChangeAspect="1"/>
          </p:cNvPicPr>
          <p:nvPr/>
        </p:nvPicPr>
        <p:blipFill rotWithShape="1">
          <a:blip r:embed="rId3"/>
          <a:srcRect l="38980" t="24512" r="15102" b="11995"/>
          <a:stretch/>
        </p:blipFill>
        <p:spPr>
          <a:xfrm>
            <a:off x="1456509" y="1417320"/>
            <a:ext cx="6230980" cy="4846320"/>
          </a:xfrm>
          <a:prstGeom prst="rect">
            <a:avLst/>
          </a:prstGeom>
        </p:spPr>
      </p:pic>
      <p:sp>
        <p:nvSpPr>
          <p:cNvPr id="6"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2.1 NORMATIVA VIGENTE EN CHILE</a:t>
            </a:r>
          </a:p>
        </p:txBody>
      </p:sp>
      <p:sp>
        <p:nvSpPr>
          <p:cNvPr id="7"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Pliegos técnicos normativos del DS 8</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34</a:t>
            </a:r>
          </a:p>
        </p:txBody>
      </p:sp>
    </p:spTree>
    <p:extLst>
      <p:ext uri="{BB962C8B-B14F-4D97-AF65-F5344CB8AC3E}">
        <p14:creationId xmlns:p14="http://schemas.microsoft.com/office/powerpoint/2010/main" val="2473993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7B19D74-046F-A598-48AD-8A130505294F}"/>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BFB12F3F-2311-F36F-5DFC-AECF0734B207}"/>
              </a:ext>
            </a:extLst>
          </p:cNvPr>
          <p:cNvPicPr>
            <a:picLocks noChangeAspect="1"/>
          </p:cNvPicPr>
          <p:nvPr/>
        </p:nvPicPr>
        <p:blipFill>
          <a:blip r:embed="rId2"/>
          <a:stretch>
            <a:fillRect/>
          </a:stretch>
        </p:blipFill>
        <p:spPr>
          <a:xfrm>
            <a:off x="548640" y="3159759"/>
            <a:ext cx="5064014" cy="1896720"/>
          </a:xfrm>
          <a:prstGeom prst="rect">
            <a:avLst/>
          </a:prstGeom>
        </p:spPr>
      </p:pic>
      <p:pic>
        <p:nvPicPr>
          <p:cNvPr id="14338" name="Picture 2" descr="Codelco - Ingeniería, suministro y montaje red de media tensión (montaje  transformador, malla a tierra, Líneas MT/BT, fabricación y montaje tablero  de control), División El Teniente VI Región.">
            <a:extLst>
              <a:ext uri="{FF2B5EF4-FFF2-40B4-BE49-F238E27FC236}">
                <a16:creationId xmlns:a16="http://schemas.microsoft.com/office/drawing/2014/main" id="{A4B6A00E-ACF4-C032-6132-D87AB2D873A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3439"/>
          <a:stretch/>
        </p:blipFill>
        <p:spPr bwMode="auto">
          <a:xfrm>
            <a:off x="5886974" y="3159759"/>
            <a:ext cx="2708385" cy="1896720"/>
          </a:xfrm>
          <a:prstGeom prst="rect">
            <a:avLst/>
          </a:prstGeom>
          <a:noFill/>
          <a:extLst>
            <a:ext uri="{909E8E84-426E-40DD-AFC4-6F175D3DCCD1}">
              <a14:hiddenFill xmlns:a14="http://schemas.microsoft.com/office/drawing/2010/main">
                <a:solidFill>
                  <a:srgbClr val="FFFFFF"/>
                </a:solidFill>
              </a14:hiddenFill>
            </a:ext>
          </a:extLst>
        </p:spPr>
      </p:pic>
      <p:sp>
        <p:nvSpPr>
          <p:cNvPr id="1433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2.2 DECRETO 109</a:t>
            </a:r>
          </a:p>
        </p:txBody>
      </p:sp>
      <p:sp>
        <p:nvSpPr>
          <p:cNvPr id="1434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Decreto 109 (Ministerio de Energía)</a:t>
            </a:r>
          </a:p>
        </p:txBody>
      </p:sp>
      <p:sp>
        <p:nvSpPr>
          <p:cNvPr id="14341" name="Cuerpo"/>
          <p:cNvSpPr txBox="1"/>
          <p:nvPr/>
        </p:nvSpPr>
        <p:spPr>
          <a:xfrm>
            <a:off x="548640" y="1463040"/>
            <a:ext cx="8046720" cy="1468119"/>
          </a:xfrm>
          <a:prstGeom prst="rect">
            <a:avLst/>
          </a:prstGeom>
          <a:noFill/>
        </p:spPr>
        <p:txBody>
          <a:bodyPr wrap="square" lIns="0" rIns="0" tIns="0" bIns="0">
            <a:spAutoFit/>
          </a:bodyPr>
          <a:lstStyle/>
          <a:p>
            <a:pPr>
              <a:spcAft>
                <a:spcPts val="800"/>
              </a:spcAft>
            </a:pPr>
            <a:r>
              <a:rPr sz="1600" b="0">
                <a:solidFill>
                  <a:srgbClr val="222233"/>
                </a:solidFill>
                <a:latin typeface="Calibri"/>
              </a:rPr>
              <a:t>Reglamento de Seguridad de las Instalaciones Eléctricas destinadas a la Producción, Transporte y Distribución de energía eléctrica.</a:t>
            </a:r>
          </a:p>
          <a:p>
            <a:pPr>
              <a:spcAft>
                <a:spcPts val="800"/>
              </a:spcAft>
            </a:pPr>
            <a:r>
              <a:rPr sz="1600" b="0">
                <a:solidFill>
                  <a:srgbClr val="222233"/>
                </a:solidFill>
                <a:latin typeface="Calibri"/>
              </a:rPr>
              <a:t>Fija las disposiciones para ejecutar instalaciones de corrientes fuertes y para mejorar o modificar las existentes. Está constituido por 17 pliegos normativos: RPTD 1 al RPTD 17.</a:t>
            </a:r>
          </a:p>
        </p:txBody>
      </p:sp>
      <p:sp>
        <p:nvSpPr>
          <p:cNvPr id="14342"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434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434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35</a:t>
            </a:r>
          </a:p>
        </p:txBody>
      </p:sp>
    </p:spTree>
    <p:extLst>
      <p:ext uri="{BB962C8B-B14F-4D97-AF65-F5344CB8AC3E}">
        <p14:creationId xmlns:p14="http://schemas.microsoft.com/office/powerpoint/2010/main" val="4267593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770874C-7348-1EDF-5C51-5DBB368A3823}"/>
              </a:ext>
            </a:extLst>
          </p:cNvPr>
          <p:cNvPicPr>
            <a:picLocks noChangeAspect="1"/>
          </p:cNvPicPr>
          <p:nvPr/>
        </p:nvPicPr>
        <p:blipFill rotWithShape="1">
          <a:blip r:embed="rId3"/>
          <a:srcRect l="23693" t="24814" r="22162" b="8719"/>
          <a:stretch/>
        </p:blipFill>
        <p:spPr>
          <a:xfrm>
            <a:off x="1263402" y="1920240"/>
            <a:ext cx="6617195" cy="4343400"/>
          </a:xfrm>
          <a:prstGeom prst="rect">
            <a:avLst/>
          </a:prstGeom>
        </p:spPr>
      </p:pic>
      <p:sp>
        <p:nvSpPr>
          <p:cNvPr id="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2.2 DECRETO 109</a:t>
            </a:r>
          </a:p>
        </p:txBody>
      </p:sp>
      <p:sp>
        <p:nvSpPr>
          <p:cNvPr id="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Pliegos técnicos del Decreto 109</a:t>
            </a:r>
          </a:p>
        </p:txBody>
      </p:sp>
      <p:sp>
        <p:nvSpPr>
          <p:cNvPr id="7" name="TextBox 6"/>
          <p:cNvSpPr txBox="1"/>
          <p:nvPr/>
        </p:nvSpPr>
        <p:spPr>
          <a:xfrm>
            <a:off x="548640" y="1417320"/>
            <a:ext cx="8046720" cy="365760"/>
          </a:xfrm>
          <a:prstGeom prst="rect">
            <a:avLst/>
          </a:prstGeom>
          <a:noFill/>
        </p:spPr>
        <p:txBody>
          <a:bodyPr wrap="square" anchor="t" lIns="0" rIns="0" tIns="0" bIns="0">
            <a:spAutoFit/>
          </a:bodyPr>
          <a:lstStyle/>
          <a:p>
            <a:pPr algn="l"/>
            <a:r>
              <a:rPr sz="1500" b="0" i="0">
                <a:solidFill>
                  <a:srgbClr val="5A5A6E"/>
                </a:solidFill>
                <a:latin typeface="Calibri"/>
              </a:rPr>
              <a:t>El Título III (Responsabilidades) enumera los pliegos de normas técnicas, conforme al artículo 10° de la ley.</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36</a:t>
            </a:r>
          </a:p>
        </p:txBody>
      </p:sp>
    </p:spTree>
    <p:extLst>
      <p:ext uri="{BB962C8B-B14F-4D97-AF65-F5344CB8AC3E}">
        <p14:creationId xmlns:p14="http://schemas.microsoft.com/office/powerpoint/2010/main" val="491780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EA7111F-8746-EC55-3071-274F0AACE4F3}"/>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E60D5266-014C-E5E3-5D66-C4F6CEEB694C}"/>
              </a:ext>
            </a:extLst>
          </p:cNvPr>
          <p:cNvPicPr>
            <a:picLocks noChangeAspect="1"/>
          </p:cNvPicPr>
          <p:nvPr/>
        </p:nvPicPr>
        <p:blipFill>
          <a:blip r:embed="rId2"/>
          <a:stretch>
            <a:fillRect/>
          </a:stretch>
        </p:blipFill>
        <p:spPr>
          <a:xfrm>
            <a:off x="601889" y="2712720"/>
            <a:ext cx="3257549" cy="3308985"/>
          </a:xfrm>
          <a:prstGeom prst="rect">
            <a:avLst/>
          </a:prstGeom>
        </p:spPr>
      </p:pic>
      <p:pic>
        <p:nvPicPr>
          <p:cNvPr id="11" name="Imagen 10">
            <a:extLst>
              <a:ext uri="{FF2B5EF4-FFF2-40B4-BE49-F238E27FC236}">
                <a16:creationId xmlns:a16="http://schemas.microsoft.com/office/drawing/2014/main" id="{912300C0-0BFD-676B-3BDE-DC647FD5580D}"/>
              </a:ext>
            </a:extLst>
          </p:cNvPr>
          <p:cNvPicPr>
            <a:picLocks noChangeAspect="1"/>
          </p:cNvPicPr>
          <p:nvPr/>
        </p:nvPicPr>
        <p:blipFill>
          <a:blip r:embed="rId3"/>
          <a:stretch>
            <a:fillRect/>
          </a:stretch>
        </p:blipFill>
        <p:spPr>
          <a:xfrm>
            <a:off x="4133759" y="2712720"/>
            <a:ext cx="4408351" cy="3308985"/>
          </a:xfrm>
          <a:prstGeom prst="rect">
            <a:avLst/>
          </a:prstGeom>
        </p:spPr>
      </p:pic>
      <p:sp>
        <p:nvSpPr>
          <p:cNvPr id="1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2.3 INSTALACIONES PROVISORIAS</a:t>
            </a:r>
          </a:p>
        </p:txBody>
      </p:sp>
      <p:sp>
        <p:nvSpPr>
          <p:cNvPr id="1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NCh 350 Of. 2000</a:t>
            </a:r>
          </a:p>
        </p:txBody>
      </p:sp>
      <p:sp>
        <p:nvSpPr>
          <p:cNvPr id="14" name="Cuerpo"/>
          <p:cNvSpPr txBox="1"/>
          <p:nvPr/>
        </p:nvSpPr>
        <p:spPr>
          <a:xfrm>
            <a:off x="548640" y="1463040"/>
            <a:ext cx="8046720" cy="1021080"/>
          </a:xfrm>
          <a:prstGeom prst="rect">
            <a:avLst/>
          </a:prstGeom>
          <a:noFill/>
        </p:spPr>
        <p:txBody>
          <a:bodyPr wrap="square" lIns="0" rIns="0" tIns="0" bIns="0">
            <a:spAutoFit/>
          </a:bodyPr>
          <a:lstStyle/>
          <a:p>
            <a:pPr>
              <a:spcAft>
                <a:spcPts val="400"/>
              </a:spcAft>
            </a:pPr>
            <a:r>
              <a:rPr sz="1700" b="1">
                <a:solidFill>
                  <a:srgbClr val="4B2E83"/>
                </a:solidFill>
                <a:latin typeface="Calibri"/>
              </a:rPr>
              <a:t>Instalaciones eléctricas provisorias</a:t>
            </a:r>
          </a:p>
          <a:p>
            <a:pPr>
              <a:spcAft>
                <a:spcPts val="800"/>
              </a:spcAft>
            </a:pPr>
            <a:r>
              <a:rPr sz="1600" b="0">
                <a:solidFill>
                  <a:srgbClr val="222233"/>
                </a:solidFill>
                <a:latin typeface="Calibri"/>
              </a:rPr>
              <a:t>Establece los requisitos mínimos de seguridad que deben cumplir las instalaciones eléctricas provisorias en la construcción.</a:t>
            </a:r>
          </a:p>
        </p:txBody>
      </p:sp>
      <p:sp>
        <p:nvSpPr>
          <p:cNvPr id="15"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6"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7"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37</a:t>
            </a:r>
          </a:p>
        </p:txBody>
      </p:sp>
    </p:spTree>
    <p:extLst>
      <p:ext uri="{BB962C8B-B14F-4D97-AF65-F5344CB8AC3E}">
        <p14:creationId xmlns:p14="http://schemas.microsoft.com/office/powerpoint/2010/main" val="3904649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2E4FD8B-4147-4DA3-3625-1D73FD0B5B1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B00B56CD-4DCD-04B6-BEC8-26498B3D0255}"/>
              </a:ext>
            </a:extLst>
          </p:cNvPr>
          <p:cNvPicPr>
            <a:picLocks noChangeAspect="1"/>
          </p:cNvPicPr>
          <p:nvPr/>
        </p:nvPicPr>
        <p:blipFill rotWithShape="1">
          <a:blip r:embed="rId2"/>
          <a:srcRect l="6588" t="62876" r="38770" b="8339"/>
          <a:stretch/>
        </p:blipFill>
        <p:spPr>
          <a:xfrm>
            <a:off x="548640" y="2109414"/>
            <a:ext cx="8046720" cy="3965051"/>
          </a:xfrm>
          <a:prstGeom prst="rect">
            <a:avLst/>
          </a:prstGeom>
        </p:spPr>
      </p:pic>
      <p:sp>
        <p:nvSpPr>
          <p:cNvPr id="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2.3 INSTALACIONES PROVISORIAS</a:t>
            </a:r>
          </a:p>
        </p:txBody>
      </p:sp>
      <p:sp>
        <p:nvSpPr>
          <p:cNvPr id="1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NCh 350: instalaciones provisorias</a:t>
            </a:r>
          </a:p>
        </p:txBody>
      </p:sp>
      <p:sp>
        <p:nvSpPr>
          <p:cNvPr id="11" name="TextBox 10"/>
          <p:cNvSpPr txBox="1"/>
          <p:nvPr/>
        </p:nvSpPr>
        <p:spPr>
          <a:xfrm>
            <a:off x="548640" y="1417320"/>
            <a:ext cx="8046720" cy="365760"/>
          </a:xfrm>
          <a:prstGeom prst="rect">
            <a:avLst/>
          </a:prstGeom>
          <a:noFill/>
        </p:spPr>
        <p:txBody>
          <a:bodyPr wrap="square" anchor="t" lIns="0" rIns="0" tIns="0" bIns="0">
            <a:spAutoFit/>
          </a:bodyPr>
          <a:lstStyle/>
          <a:p>
            <a:pPr algn="l"/>
            <a:r>
              <a:rPr sz="1500" b="0" i="0">
                <a:solidFill>
                  <a:srgbClr val="5A5A6E"/>
                </a:solidFill>
                <a:latin typeface="Calibri"/>
              </a:rPr>
              <a:t>Instalaciones eléctricas provisorias y tierra de protección.</a:t>
            </a:r>
          </a:p>
        </p:txBody>
      </p:sp>
      <p:sp>
        <p:nvSpPr>
          <p:cNvPr id="12"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38</a:t>
            </a:r>
          </a:p>
        </p:txBody>
      </p:sp>
    </p:spTree>
    <p:extLst>
      <p:ext uri="{BB962C8B-B14F-4D97-AF65-F5344CB8AC3E}">
        <p14:creationId xmlns:p14="http://schemas.microsoft.com/office/powerpoint/2010/main" val="2873405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01B92A1-FFE3-AE84-F3F7-380D196AA687}"/>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A57D0966-2CBB-4B3C-C3B2-1F917ABD1D28}"/>
              </a:ext>
            </a:extLst>
          </p:cNvPr>
          <p:cNvPicPr>
            <a:picLocks noChangeAspect="1"/>
          </p:cNvPicPr>
          <p:nvPr/>
        </p:nvPicPr>
        <p:blipFill>
          <a:blip r:embed="rId2"/>
          <a:stretch>
            <a:fillRect/>
          </a:stretch>
        </p:blipFill>
        <p:spPr>
          <a:xfrm>
            <a:off x="5678054" y="2672080"/>
            <a:ext cx="1321645" cy="1710364"/>
          </a:xfrm>
          <a:prstGeom prst="rect">
            <a:avLst/>
          </a:prstGeom>
        </p:spPr>
      </p:pic>
      <p:pic>
        <p:nvPicPr>
          <p:cNvPr id="15" name="Imagen 14">
            <a:extLst>
              <a:ext uri="{FF2B5EF4-FFF2-40B4-BE49-F238E27FC236}">
                <a16:creationId xmlns:a16="http://schemas.microsoft.com/office/drawing/2014/main" id="{D02E0C14-E2D3-259E-0A09-D7A79C031BF9}"/>
              </a:ext>
            </a:extLst>
          </p:cNvPr>
          <p:cNvPicPr>
            <a:picLocks noChangeAspect="1"/>
          </p:cNvPicPr>
          <p:nvPr/>
        </p:nvPicPr>
        <p:blipFill>
          <a:blip r:embed="rId4"/>
          <a:stretch>
            <a:fillRect/>
          </a:stretch>
        </p:blipFill>
        <p:spPr>
          <a:xfrm>
            <a:off x="2105733" y="2672080"/>
            <a:ext cx="1313316" cy="1710364"/>
          </a:xfrm>
          <a:prstGeom prst="rect">
            <a:avLst/>
          </a:prstGeom>
        </p:spPr>
      </p:pic>
      <p:pic>
        <p:nvPicPr>
          <p:cNvPr id="16" name="Imagen 15">
            <a:extLst>
              <a:ext uri="{FF2B5EF4-FFF2-40B4-BE49-F238E27FC236}">
                <a16:creationId xmlns:a16="http://schemas.microsoft.com/office/drawing/2014/main" id="{08B73071-8C56-7388-2100-178577378B20}"/>
              </a:ext>
            </a:extLst>
          </p:cNvPr>
          <p:cNvPicPr>
            <a:picLocks noChangeAspect="1"/>
          </p:cNvPicPr>
          <p:nvPr/>
        </p:nvPicPr>
        <p:blipFill>
          <a:blip r:embed="rId5"/>
          <a:stretch>
            <a:fillRect/>
          </a:stretch>
        </p:blipFill>
        <p:spPr>
          <a:xfrm>
            <a:off x="3693369" y="2672080"/>
            <a:ext cx="1710364" cy="1710364"/>
          </a:xfrm>
          <a:prstGeom prst="rect">
            <a:avLst/>
          </a:prstGeom>
        </p:spPr>
      </p:pic>
      <p:pic>
        <p:nvPicPr>
          <p:cNvPr id="18" name="Imagen 17">
            <a:extLst>
              <a:ext uri="{FF2B5EF4-FFF2-40B4-BE49-F238E27FC236}">
                <a16:creationId xmlns:a16="http://schemas.microsoft.com/office/drawing/2014/main" id="{BB19E606-6F45-BB69-EACD-03C106C97AFA}"/>
              </a:ext>
            </a:extLst>
          </p:cNvPr>
          <p:cNvPicPr>
            <a:picLocks noChangeAspect="1"/>
          </p:cNvPicPr>
          <p:nvPr/>
        </p:nvPicPr>
        <p:blipFill>
          <a:blip r:embed="rId6"/>
          <a:stretch>
            <a:fillRect/>
          </a:stretch>
        </p:blipFill>
        <p:spPr>
          <a:xfrm>
            <a:off x="548640" y="2672080"/>
            <a:ext cx="1282773" cy="1710364"/>
          </a:xfrm>
          <a:prstGeom prst="rect">
            <a:avLst/>
          </a:prstGeom>
        </p:spPr>
      </p:pic>
      <p:pic>
        <p:nvPicPr>
          <p:cNvPr id="1026" name="Picture 2" descr="Ebook NFPA 70E - Comulsa Latam- Líderes en Seguridad Eléctrica">
            <a:extLst>
              <a:ext uri="{FF2B5EF4-FFF2-40B4-BE49-F238E27FC236}">
                <a16:creationId xmlns:a16="http://schemas.microsoft.com/office/drawing/2014/main" id="{ED25EC35-C1B3-ED33-1BB2-20C9BB1551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74019" y="2672080"/>
            <a:ext cx="1321340" cy="1710364"/>
          </a:xfrm>
          <a:prstGeom prst="rect">
            <a:avLst/>
          </a:prstGeom>
          <a:noFill/>
          <a:extLst>
            <a:ext uri="{909E8E84-426E-40DD-AFC4-6F175D3DCCD1}">
              <a14:hiddenFill xmlns:a14="http://schemas.microsoft.com/office/drawing/2010/main">
                <a:solidFill>
                  <a:srgbClr val="FFFFFF"/>
                </a:solidFill>
              </a14:hiddenFill>
            </a:ext>
          </a:extLst>
        </p:spPr>
      </p:pic>
      <p:sp>
        <p:nvSpPr>
          <p:cNvPr id="102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102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NFPA 70E: norma americana en uso</a:t>
            </a:r>
          </a:p>
        </p:txBody>
      </p:sp>
      <p:sp>
        <p:nvSpPr>
          <p:cNvPr id="1029" name="Cuerpo"/>
          <p:cNvSpPr txBox="1"/>
          <p:nvPr/>
        </p:nvSpPr>
        <p:spPr>
          <a:xfrm>
            <a:off x="548640" y="1463040"/>
            <a:ext cx="8046720" cy="980440"/>
          </a:xfrm>
          <a:prstGeom prst="rect">
            <a:avLst/>
          </a:prstGeom>
          <a:noFill/>
        </p:spPr>
        <p:txBody>
          <a:bodyPr wrap="square" lIns="0" rIns="0" tIns="0" bIns="0">
            <a:spAutoFit/>
          </a:bodyPr>
          <a:lstStyle/>
          <a:p>
            <a:pPr>
              <a:spcAft>
                <a:spcPts val="800"/>
              </a:spcAft>
            </a:pPr>
            <a:r>
              <a:rPr sz="1600" b="0">
                <a:solidFill>
                  <a:srgbClr val="222233"/>
                </a:solidFill>
                <a:latin typeface="Calibri"/>
              </a:rPr>
              <a:t>Norma para la Seguridad Eléctrica en Lugares de Trabajo.</a:t>
            </a:r>
          </a:p>
          <a:p>
            <a:pPr>
              <a:spcAft>
                <a:spcPts val="800"/>
              </a:spcAft>
            </a:pPr>
            <a:r>
              <a:rPr sz="1600" b="0">
                <a:solidFill>
                  <a:srgbClr val="222233"/>
                </a:solidFill>
                <a:latin typeface="Calibri"/>
              </a:rPr>
              <a:t>En 1976, a solicitud de OSHA, se crea el comité para la norma NFPA 70E; su primera edición es de 1978.</a:t>
            </a:r>
          </a:p>
        </p:txBody>
      </p:sp>
      <p:sp>
        <p:nvSpPr>
          <p:cNvPr id="1030" name="Botón Índice">
            <a:hlinkClick action="ppaction://hlinksldjump" r:id="rId9"/>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3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3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39</a:t>
            </a:r>
          </a:p>
        </p:txBody>
      </p:sp>
    </p:spTree>
    <p:extLst>
      <p:ext uri="{BB962C8B-B14F-4D97-AF65-F5344CB8AC3E}">
        <p14:creationId xmlns:p14="http://schemas.microsoft.com/office/powerpoint/2010/main" val="524496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E51CCAD-06A2-B45D-A8DB-6FC3A62CCCFE}"/>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9A2B4754-7AC4-D98E-ABA7-35642AAAB65C}"/>
              </a:ext>
            </a:extLst>
          </p:cNvPr>
          <p:cNvPicPr>
            <a:picLocks noChangeAspect="1"/>
          </p:cNvPicPr>
          <p:nvPr/>
        </p:nvPicPr>
        <p:blipFill>
          <a:blip r:embed="rId2"/>
          <a:stretch>
            <a:fillRect/>
          </a:stretch>
        </p:blipFill>
        <p:spPr>
          <a:xfrm>
            <a:off x="548640" y="2814319"/>
            <a:ext cx="3892489" cy="3197664"/>
          </a:xfrm>
          <a:prstGeom prst="rect">
            <a:avLst/>
          </a:prstGeom>
        </p:spPr>
      </p:pic>
      <p:pic>
        <p:nvPicPr>
          <p:cNvPr id="16" name="Imagen 15">
            <a:extLst>
              <a:ext uri="{FF2B5EF4-FFF2-40B4-BE49-F238E27FC236}">
                <a16:creationId xmlns:a16="http://schemas.microsoft.com/office/drawing/2014/main" id="{28817442-FF44-1119-7F15-5CCC9AB6AD9E}"/>
              </a:ext>
            </a:extLst>
          </p:cNvPr>
          <p:cNvPicPr>
            <a:picLocks noChangeAspect="1"/>
          </p:cNvPicPr>
          <p:nvPr/>
        </p:nvPicPr>
        <p:blipFill rotWithShape="1">
          <a:blip r:embed="rId3"/>
          <a:srcRect b="6721"/>
          <a:stretch/>
        </p:blipFill>
        <p:spPr>
          <a:xfrm>
            <a:off x="4715449" y="2814319"/>
            <a:ext cx="3879910" cy="3197664"/>
          </a:xfrm>
          <a:prstGeom prst="rect">
            <a:avLst/>
          </a:prstGeom>
        </p:spPr>
      </p:pic>
      <p:sp>
        <p:nvSpPr>
          <p:cNvPr id="1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1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Propósito de la NFPA 70E</a:t>
            </a:r>
          </a:p>
        </p:txBody>
      </p:sp>
      <p:sp>
        <p:nvSpPr>
          <p:cNvPr id="19" name="Cuerpo"/>
          <p:cNvSpPr txBox="1"/>
          <p:nvPr/>
        </p:nvSpPr>
        <p:spPr>
          <a:xfrm>
            <a:off x="548640" y="1463040"/>
            <a:ext cx="8046720" cy="1122680"/>
          </a:xfrm>
          <a:prstGeom prst="rect">
            <a:avLst/>
          </a:prstGeom>
          <a:noFill/>
        </p:spPr>
        <p:txBody>
          <a:bodyPr wrap="square" lIns="0" rIns="0" tIns="0" bIns="0">
            <a:spAutoFit/>
          </a:bodyPr>
          <a:lstStyle/>
          <a:p>
            <a:pPr>
              <a:spcAft>
                <a:spcPts val="800"/>
              </a:spcAft>
            </a:pPr>
            <a:r>
              <a:rPr sz="1600" b="0">
                <a:solidFill>
                  <a:srgbClr val="222233"/>
                </a:solidFill>
                <a:latin typeface="Calibri"/>
              </a:rPr>
              <a:t>En la intervención de un sistema eléctrico, si no es posible desconectar la energía, se debe aumentar el grado de protección del equipamiento corporal, para que las personas no expongan su cuerpo a niveles de energía calórica incidente intolerables si se produce una falla con arco eléctrico.</a:t>
            </a:r>
          </a:p>
        </p:txBody>
      </p:sp>
      <p:sp>
        <p:nvSpPr>
          <p:cNvPr id="2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40</a:t>
            </a:r>
          </a:p>
        </p:txBody>
      </p:sp>
    </p:spTree>
    <p:extLst>
      <p:ext uri="{BB962C8B-B14F-4D97-AF65-F5344CB8AC3E}">
        <p14:creationId xmlns:p14="http://schemas.microsoft.com/office/powerpoint/2010/main" val="999289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Propósito</a:t>
            </a:r>
          </a:p>
        </p:txBody>
      </p:sp>
      <p:sp>
        <p:nvSpPr>
          <p:cNvPr id="4" name="Rounded Rectangle 3"/>
          <p:cNvSpPr/>
          <p:nvPr/>
        </p:nvSpPr>
        <p:spPr>
          <a:xfrm>
            <a:off x="548640" y="1508760"/>
            <a:ext cx="8046720" cy="237744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Bullseye_w.png"/>
          <p:cNvPicPr>
            <a:picLocks noChangeAspect="1"/>
          </p:cNvPicPr>
          <p:nvPr/>
        </p:nvPicPr>
        <p:blipFill>
          <a:blip r:embed="rId2"/>
          <a:stretch>
            <a:fillRect/>
          </a:stretch>
        </p:blipFill>
        <p:spPr>
          <a:xfrm>
            <a:off x="1077163" y="2037283"/>
            <a:ext cx="451713" cy="451713"/>
          </a:xfrm>
          <a:prstGeom prst="rect">
            <a:avLst/>
          </a:prstGeom>
        </p:spPr>
      </p:pic>
      <p:sp>
        <p:nvSpPr>
          <p:cNvPr id="7" name="Cuerpo"/>
          <p:cNvSpPr txBox="1"/>
          <p:nvPr/>
        </p:nvSpPr>
        <p:spPr>
          <a:xfrm>
            <a:off x="2057400" y="1874519"/>
            <a:ext cx="6263640" cy="878839"/>
          </a:xfrm>
          <a:prstGeom prst="rect">
            <a:avLst/>
          </a:prstGeom>
          <a:noFill/>
        </p:spPr>
        <p:txBody>
          <a:bodyPr wrap="square" lIns="0" rIns="0" tIns="0" bIns="0">
            <a:spAutoFit/>
          </a:bodyPr>
          <a:lstStyle/>
          <a:p>
            <a:pPr>
              <a:spcAft>
                <a:spcPts val="800"/>
              </a:spcAft>
            </a:pPr>
            <a:r>
              <a:rPr sz="1600" b="0">
                <a:solidFill>
                  <a:srgbClr val="222233"/>
                </a:solidFill>
                <a:latin typeface="Calibri"/>
              </a:rPr>
              <a:t>El propósito de esta norma es proveer, en forma práctica, un área de trabajo segura a los trabajadores en relación con los riesgos que se derivan del uso de la electricidad.</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41</a:t>
            </a:r>
          </a:p>
        </p:txBody>
      </p:sp>
    </p:spTree>
    <p:extLst>
      <p:ext uri="{BB962C8B-B14F-4D97-AF65-F5344CB8AC3E}">
        <p14:creationId xmlns:p14="http://schemas.microsoft.com/office/powerpoint/2010/main" val="2225518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Cobertura</a:t>
            </a:r>
          </a:p>
        </p:txBody>
      </p:sp>
      <p:sp>
        <p:nvSpPr>
          <p:cNvPr id="4" name="Rounded Rectangle 3"/>
          <p:cNvSpPr/>
          <p:nvPr/>
        </p:nvSpPr>
        <p:spPr>
          <a:xfrm>
            <a:off x="548640" y="1508760"/>
            <a:ext cx="8046720" cy="3134359"/>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BookOpen_w.png"/>
          <p:cNvPicPr>
            <a:picLocks noChangeAspect="1"/>
          </p:cNvPicPr>
          <p:nvPr/>
        </p:nvPicPr>
        <p:blipFill>
          <a:blip r:embed="rId2"/>
          <a:stretch>
            <a:fillRect/>
          </a:stretch>
        </p:blipFill>
        <p:spPr>
          <a:xfrm>
            <a:off x="1077163" y="2037283"/>
            <a:ext cx="451713" cy="451713"/>
          </a:xfrm>
          <a:prstGeom prst="rect">
            <a:avLst/>
          </a:prstGeom>
        </p:spPr>
      </p:pic>
      <p:sp>
        <p:nvSpPr>
          <p:cNvPr id="7" name="Cuerpo"/>
          <p:cNvSpPr txBox="1"/>
          <p:nvPr/>
        </p:nvSpPr>
        <p:spPr>
          <a:xfrm>
            <a:off x="2057400" y="1874519"/>
            <a:ext cx="6263640" cy="2402839"/>
          </a:xfrm>
          <a:prstGeom prst="rect">
            <a:avLst/>
          </a:prstGeom>
          <a:noFill/>
        </p:spPr>
        <p:txBody>
          <a:bodyPr wrap="square" lIns="0" rIns="0" tIns="0" bIns="0">
            <a:spAutoFit/>
          </a:bodyPr>
          <a:lstStyle/>
          <a:p>
            <a:pPr>
              <a:spcAft>
                <a:spcPts val="800"/>
              </a:spcAft>
            </a:pPr>
            <a:r>
              <a:rPr sz="1600" b="0">
                <a:solidFill>
                  <a:srgbClr val="222233"/>
                </a:solidFill>
                <a:latin typeface="Calibri"/>
              </a:rPr>
              <a:t>La NFPA 70E trata las prácticas de trabajo relacionadas con la seguridad eléctrica, los requisitos de mantenimiento relacionados con la seguridad y otros controles administrativos necesarios para proteger a los trabajadores durante:</a:t>
            </a:r>
          </a:p>
          <a:p>
            <a:pPr marL="256032" indent="-256032">
              <a:spcAft>
                <a:spcPts val="800"/>
              </a:spcAft>
              <a:buClr>
                <a:srgbClr val="6A4C9C"/>
              </a:buClr>
              <a:buFont typeface="Arial"/>
              <a:buChar char="•"/>
            </a:pPr>
            <a:r>
              <a:rPr sz="1600" b="0">
                <a:solidFill>
                  <a:srgbClr val="222233"/>
                </a:solidFill>
                <a:latin typeface="Calibri"/>
              </a:rPr>
              <a:t>Instalación e inspección.</a:t>
            </a:r>
          </a:p>
          <a:p>
            <a:pPr marL="256032" indent="-256032">
              <a:spcAft>
                <a:spcPts val="800"/>
              </a:spcAft>
              <a:buClr>
                <a:srgbClr val="6A4C9C"/>
              </a:buClr>
              <a:buFont typeface="Arial"/>
              <a:buChar char="•"/>
            </a:pPr>
            <a:r>
              <a:rPr sz="1600" b="0">
                <a:solidFill>
                  <a:srgbClr val="222233"/>
                </a:solidFill>
                <a:latin typeface="Calibri"/>
              </a:rPr>
              <a:t>Operación y mantenimiento.</a:t>
            </a:r>
          </a:p>
          <a:p>
            <a:pPr marL="256032" indent="-256032">
              <a:spcAft>
                <a:spcPts val="800"/>
              </a:spcAft>
              <a:buClr>
                <a:srgbClr val="6A4C9C"/>
              </a:buClr>
              <a:buFont typeface="Arial"/>
              <a:buChar char="•"/>
            </a:pPr>
            <a:r>
              <a:rPr sz="1600" b="0">
                <a:solidFill>
                  <a:srgbClr val="222233"/>
                </a:solidFill>
                <a:latin typeface="Calibri"/>
              </a:rPr>
              <a:t>Desmantelamiento de conductores, equipos y canalizaciones eléctricas, de comunicación y señalización.</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42</a:t>
            </a:r>
          </a:p>
        </p:txBody>
      </p:sp>
    </p:spTree>
    <p:extLst>
      <p:ext uri="{BB962C8B-B14F-4D97-AF65-F5344CB8AC3E}">
        <p14:creationId xmlns:p14="http://schemas.microsoft.com/office/powerpoint/2010/main" val="4177821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0CC2C9C-A9D5-4078-A25F-02E087B257B7}"/>
              </a:ext>
            </a:extLst>
          </p:cNvPr>
          <p:cNvPicPr>
            <a:picLocks noChangeAspect="1"/>
          </p:cNvPicPr>
          <p:nvPr/>
        </p:nvPicPr>
        <p:blipFill>
          <a:blip r:embed="rId2"/>
          <a:stretch>
            <a:fillRect/>
          </a:stretch>
        </p:blipFill>
        <p:spPr>
          <a:xfrm>
            <a:off x="3241118" y="3159759"/>
            <a:ext cx="2661762" cy="2661762"/>
          </a:xfrm>
          <a:prstGeom prst="rect">
            <a:avLst/>
          </a:prstGeom>
        </p:spPr>
      </p:pic>
      <p:sp>
        <p:nvSpPr>
          <p:cNvPr id="6"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7"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¿Qué es un arco eléctrico?</a:t>
            </a:r>
          </a:p>
        </p:txBody>
      </p:sp>
      <p:sp>
        <p:nvSpPr>
          <p:cNvPr id="8" name="Cuerpo"/>
          <p:cNvSpPr txBox="1"/>
          <p:nvPr/>
        </p:nvSpPr>
        <p:spPr>
          <a:xfrm>
            <a:off x="548640" y="1463040"/>
            <a:ext cx="8046720" cy="1468119"/>
          </a:xfrm>
          <a:prstGeom prst="rect">
            <a:avLst/>
          </a:prstGeom>
          <a:noFill/>
        </p:spPr>
        <p:txBody>
          <a:bodyPr wrap="square" lIns="0" rIns="0" tIns="0" bIns="0">
            <a:spAutoFit/>
          </a:bodyPr>
          <a:lstStyle/>
          <a:p>
            <a:pPr>
              <a:spcAft>
                <a:spcPts val="800"/>
              </a:spcAft>
            </a:pPr>
            <a:r>
              <a:rPr sz="1600" b="0">
                <a:solidFill>
                  <a:srgbClr val="222233"/>
                </a:solidFill>
                <a:latin typeface="Calibri"/>
              </a:rPr>
              <a:t>Son descargas disruptivas en las que la corriente atraviesa por completo el aislante que separa a dos conductores de diferente potencial. El circuito se cierra y circula la corriente.</a:t>
            </a:r>
          </a:p>
          <a:p>
            <a:pPr>
              <a:spcAft>
                <a:spcPts val="800"/>
              </a:spcAft>
            </a:pPr>
            <a:r>
              <a:rPr sz="1600" b="0">
                <a:solidFill>
                  <a:srgbClr val="222233"/>
                </a:solidFill>
                <a:latin typeface="Calibri"/>
              </a:rPr>
              <a:t>El arco se manifiesta como una columna gaseosa incandescente (plasma) con una trayectoria aproximadamente rectilínea entre los electrodos.</a:t>
            </a:r>
          </a:p>
        </p:txBody>
      </p:sp>
      <p:sp>
        <p:nvSpPr>
          <p:cNvPr id="9"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1"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43</a:t>
            </a:r>
          </a:p>
        </p:txBody>
      </p:sp>
    </p:spTree>
    <p:extLst>
      <p:ext uri="{BB962C8B-B14F-4D97-AF65-F5344CB8AC3E}">
        <p14:creationId xmlns:p14="http://schemas.microsoft.com/office/powerpoint/2010/main" val="440159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Imagen 16"/>
          <p:cNvPicPr>
            <a:picLocks noChangeAspect="1"/>
          </p:cNvPicPr>
          <p:nvPr/>
        </p:nvPicPr>
        <p:blipFill rotWithShape="1">
          <a:blip r:embed="rId2"/>
          <a:srcRect l="33648" t="54363" r="34599" b="21126"/>
          <a:stretch/>
        </p:blipFill>
        <p:spPr>
          <a:xfrm>
            <a:off x="548640" y="2218653"/>
            <a:ext cx="8046720" cy="3746573"/>
          </a:xfrm>
          <a:prstGeom prst="rect">
            <a:avLst/>
          </a:prstGeom>
        </p:spPr>
      </p:pic>
      <p:sp>
        <p:nvSpPr>
          <p:cNvPr id="18"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19"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Tipos de fallas por cortocircuito</a:t>
            </a:r>
          </a:p>
        </p:txBody>
      </p:sp>
      <p:sp>
        <p:nvSpPr>
          <p:cNvPr id="20" name="TextBox 19"/>
          <p:cNvSpPr txBox="1"/>
          <p:nvPr/>
        </p:nvSpPr>
        <p:spPr>
          <a:xfrm>
            <a:off x="548640" y="1417320"/>
            <a:ext cx="8046720" cy="365760"/>
          </a:xfrm>
          <a:prstGeom prst="rect">
            <a:avLst/>
          </a:prstGeom>
          <a:noFill/>
        </p:spPr>
        <p:txBody>
          <a:bodyPr wrap="square" anchor="t" lIns="0" rIns="0" tIns="0" bIns="0">
            <a:spAutoFit/>
          </a:bodyPr>
          <a:lstStyle/>
          <a:p>
            <a:pPr algn="l"/>
            <a:r>
              <a:rPr sz="1500" b="0" i="0">
                <a:solidFill>
                  <a:srgbClr val="5A5A6E"/>
                </a:solidFill>
                <a:latin typeface="Calibri"/>
              </a:rPr>
              <a:t>Falla sólida (izquierda) y falla por arco (derecha).</a:t>
            </a:r>
          </a:p>
        </p:txBody>
      </p:sp>
      <p:sp>
        <p:nvSpPr>
          <p:cNvPr id="21"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44</a:t>
            </a:r>
          </a:p>
        </p:txBody>
      </p:sp>
    </p:spTree>
    <p:extLst>
      <p:ext uri="{BB962C8B-B14F-4D97-AF65-F5344CB8AC3E}">
        <p14:creationId xmlns:p14="http://schemas.microsoft.com/office/powerpoint/2010/main" val="1981909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7C9131E7-8B62-4482-A30C-F442113F768D}"/>
              </a:ext>
            </a:extLst>
          </p:cNvPr>
          <p:cNvPicPr/>
          <p:nvPr/>
        </p:nvPicPr>
        <p:blipFill rotWithShape="1">
          <a:blip r:embed="rId2"/>
          <a:srcRect l="24101" t="24151" r="25492" b="9438"/>
          <a:stretch/>
        </p:blipFill>
        <p:spPr bwMode="auto">
          <a:xfrm>
            <a:off x="1193132" y="1417320"/>
            <a:ext cx="6757735" cy="4846320"/>
          </a:xfrm>
          <a:prstGeom prst="rect">
            <a:avLst/>
          </a:prstGeom>
          <a:ln>
            <a:noFill/>
          </a:ln>
          <a:extLst>
            <a:ext uri="{53640926-AAD7-44D8-BBD7-CCE9431645EC}">
              <a14:shadowObscured xmlns:a14="http://schemas.microsoft.com/office/drawing/2010/main"/>
            </a:ext>
          </a:extLst>
        </p:spPr>
      </p:pic>
      <p:sp>
        <p:nvSpPr>
          <p:cNvPr id="1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1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Efectos del arco eléctrico</a:t>
            </a:r>
          </a:p>
        </p:txBody>
      </p:sp>
      <p:sp>
        <p:nvSpPr>
          <p:cNvPr id="15"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6"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7"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45</a:t>
            </a:r>
          </a:p>
        </p:txBody>
      </p:sp>
    </p:spTree>
    <p:extLst>
      <p:ext uri="{BB962C8B-B14F-4D97-AF65-F5344CB8AC3E}">
        <p14:creationId xmlns:p14="http://schemas.microsoft.com/office/powerpoint/2010/main" val="32519499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¿Cómo se produce un arco eléctrico?</a:t>
            </a:r>
          </a:p>
        </p:txBody>
      </p:sp>
      <p:sp>
        <p:nvSpPr>
          <p:cNvPr id="4" name="Rounded Rectangle 3"/>
          <p:cNvSpPr/>
          <p:nvPr/>
        </p:nvSpPr>
        <p:spPr>
          <a:xfrm>
            <a:off x="548640" y="1508760"/>
            <a:ext cx="8046720" cy="394716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Bolt_w.png"/>
          <p:cNvPicPr>
            <a:picLocks noChangeAspect="1"/>
          </p:cNvPicPr>
          <p:nvPr/>
        </p:nvPicPr>
        <p:blipFill>
          <a:blip r:embed="rId2"/>
          <a:stretch>
            <a:fillRect/>
          </a:stretch>
        </p:blipFill>
        <p:spPr>
          <a:xfrm>
            <a:off x="1077163" y="2037283"/>
            <a:ext cx="451713" cy="451713"/>
          </a:xfrm>
          <a:prstGeom prst="rect">
            <a:avLst/>
          </a:prstGeom>
        </p:spPr>
      </p:pic>
      <p:sp>
        <p:nvSpPr>
          <p:cNvPr id="7" name="Cuerpo"/>
          <p:cNvSpPr txBox="1"/>
          <p:nvPr/>
        </p:nvSpPr>
        <p:spPr>
          <a:xfrm>
            <a:off x="2057400" y="1874519"/>
            <a:ext cx="6263640" cy="3215639"/>
          </a:xfrm>
          <a:prstGeom prst="rect">
            <a:avLst/>
          </a:prstGeom>
          <a:noFill/>
        </p:spPr>
        <p:txBody>
          <a:bodyPr wrap="square" lIns="0" rIns="0" tIns="0" bIns="0">
            <a:spAutoFit/>
          </a:bodyPr>
          <a:lstStyle/>
          <a:p>
            <a:pPr>
              <a:spcAft>
                <a:spcPts val="400"/>
              </a:spcAft>
            </a:pPr>
            <a:r>
              <a:rPr sz="1700" b="1">
                <a:solidFill>
                  <a:srgbClr val="4B2E83"/>
                </a:solidFill>
                <a:latin typeface="Calibri"/>
              </a:rPr>
              <a:t>Contactos accidentales</a:t>
            </a:r>
          </a:p>
          <a:p>
            <a:pPr>
              <a:spcAft>
                <a:spcPts val="800"/>
              </a:spcAft>
            </a:pPr>
            <a:r>
              <a:rPr sz="1600" b="0">
                <a:solidFill>
                  <a:srgbClr val="222233"/>
                </a:solidFill>
                <a:latin typeface="Calibri"/>
              </a:rPr>
              <a:t>El contacto accidental con partes vivas o energizadas expuestas puede iniciar el arco.</a:t>
            </a:r>
          </a:p>
          <a:p>
            <a:pPr>
              <a:spcBef>
                <a:spcPts val="600"/>
              </a:spcBef>
              <a:spcAft>
                <a:spcPts val="400"/>
              </a:spcAft>
            </a:pPr>
            <a:r>
              <a:rPr sz="1700" b="1">
                <a:solidFill>
                  <a:srgbClr val="4B2E83"/>
                </a:solidFill>
                <a:latin typeface="Calibri"/>
              </a:rPr>
              <a:t>Caída de herramientas</a:t>
            </a:r>
          </a:p>
          <a:p>
            <a:pPr>
              <a:spcAft>
                <a:spcPts val="800"/>
              </a:spcAft>
            </a:pPr>
            <a:r>
              <a:rPr sz="1600" b="0">
                <a:solidFill>
                  <a:srgbClr val="222233"/>
                </a:solidFill>
                <a:latin typeface="Calibri"/>
              </a:rPr>
              <a:t>Puede causar un cortocircuito momentáneo, producir chispas e iniciar el arco.</a:t>
            </a:r>
          </a:p>
          <a:p>
            <a:pPr>
              <a:spcBef>
                <a:spcPts val="600"/>
              </a:spcBef>
              <a:spcAft>
                <a:spcPts val="400"/>
              </a:spcAft>
            </a:pPr>
            <a:r>
              <a:rPr sz="1700" b="1">
                <a:solidFill>
                  <a:srgbClr val="4B2E83"/>
                </a:solidFill>
                <a:latin typeface="Calibri"/>
              </a:rPr>
              <a:t>Sobretensiones en espacios estrechos</a:t>
            </a:r>
          </a:p>
          <a:p>
            <a:pPr>
              <a:spcAft>
                <a:spcPts val="800"/>
              </a:spcAft>
            </a:pPr>
            <a:r>
              <a:rPr sz="1600" b="0">
                <a:solidFill>
                  <a:srgbClr val="222233"/>
                </a:solidFill>
                <a:latin typeface="Calibri"/>
              </a:rPr>
              <a:t>Si el espacio entre fases se reduce por mala calidad o daño de los conductores, el arco puede ocurrir durante sobretensiones temporales.</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46</a:t>
            </a:r>
          </a:p>
        </p:txBody>
      </p:sp>
    </p:spTree>
    <p:extLst>
      <p:ext uri="{BB962C8B-B14F-4D97-AF65-F5344CB8AC3E}">
        <p14:creationId xmlns:p14="http://schemas.microsoft.com/office/powerpoint/2010/main" val="1411608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31A8D80-5F7B-44AA-A08E-1B8B1B80C36B}"/>
              </a:ext>
            </a:extLst>
          </p:cNvPr>
          <p:cNvPicPr>
            <a:picLocks noChangeAspect="1"/>
          </p:cNvPicPr>
          <p:nvPr/>
        </p:nvPicPr>
        <p:blipFill rotWithShape="1">
          <a:blip r:embed="rId2"/>
          <a:srcRect l="21650" t="17853" r="23496" b="19148"/>
          <a:stretch/>
        </p:blipFill>
        <p:spPr>
          <a:xfrm>
            <a:off x="548640" y="2401828"/>
            <a:ext cx="4453909" cy="2877303"/>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27650" name="Picture 2" descr="Arco eléctrico - EcuRed">
            <a:extLst>
              <a:ext uri="{FF2B5EF4-FFF2-40B4-BE49-F238E27FC236}">
                <a16:creationId xmlns:a16="http://schemas.microsoft.com/office/drawing/2014/main" id="{5FC5BA6F-FA21-456B-8485-30CC0F602F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6869" y="2401828"/>
            <a:ext cx="3318490" cy="2877303"/>
          </a:xfrm>
          <a:prstGeom prst="rect">
            <a:avLst/>
          </a:prstGeom>
          <a:noFill/>
          <a:extLst>
            <a:ext uri="{909E8E84-426E-40DD-AFC4-6F175D3DCCD1}">
              <a14:hiddenFill xmlns:a14="http://schemas.microsoft.com/office/drawing/2010/main">
                <a:solidFill>
                  <a:srgbClr val="FFFFFF"/>
                </a:solidFill>
              </a14:hiddenFill>
            </a:ext>
          </a:extLst>
        </p:spPr>
      </p:pic>
      <p:sp>
        <p:nvSpPr>
          <p:cNvPr id="2765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2765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Vamos a la práctica</a:t>
            </a:r>
          </a:p>
        </p:txBody>
      </p:sp>
      <p:sp>
        <p:nvSpPr>
          <p:cNvPr id="27653"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7654"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7655"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47</a:t>
            </a:r>
          </a:p>
        </p:txBody>
      </p:sp>
    </p:spTree>
    <p:extLst>
      <p:ext uri="{BB962C8B-B14F-4D97-AF65-F5344CB8AC3E}">
        <p14:creationId xmlns:p14="http://schemas.microsoft.com/office/powerpoint/2010/main" val="1702115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ARCO ELECTRICO NFPA 70E">
            <a:hlinkClick r:id="" action="ppaction://media"/>
            <a:extLst>
              <a:ext uri="{FF2B5EF4-FFF2-40B4-BE49-F238E27FC236}">
                <a16:creationId xmlns:a16="http://schemas.microsoft.com/office/drawing/2014/main" id="{9B24D6F0-CD3D-4D38-BC55-38B49E95B1F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11200" y="1920240"/>
            <a:ext cx="7721600" cy="4343400"/>
          </a:xfrm>
          <a:prstGeom prst="rect">
            <a:avLst/>
          </a:prstGeom>
        </p:spPr>
      </p:pic>
      <p:sp>
        <p:nvSpPr>
          <p:cNvPr id="1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1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Video: cómo se produce un arco</a:t>
            </a:r>
          </a:p>
        </p:txBody>
      </p:sp>
      <p:sp>
        <p:nvSpPr>
          <p:cNvPr id="15" name="TextBox 14"/>
          <p:cNvSpPr txBox="1"/>
          <p:nvPr/>
        </p:nvSpPr>
        <p:spPr>
          <a:xfrm>
            <a:off x="548640" y="1417320"/>
            <a:ext cx="8046720" cy="365760"/>
          </a:xfrm>
          <a:prstGeom prst="rect">
            <a:avLst/>
          </a:prstGeom>
          <a:noFill/>
        </p:spPr>
        <p:txBody>
          <a:bodyPr wrap="square" anchor="t" lIns="0" rIns="0" tIns="0" bIns="0">
            <a:spAutoFit/>
          </a:bodyPr>
          <a:lstStyle/>
          <a:p>
            <a:pPr algn="l"/>
            <a:r>
              <a:rPr sz="1500" b="0" i="0">
                <a:solidFill>
                  <a:srgbClr val="5A5A6E"/>
                </a:solidFill>
                <a:latin typeface="Calibri"/>
              </a:rPr>
              <a:t>Fíjate en el inicio de la falla, la expansión del arco y la proyección de energía.</a:t>
            </a:r>
          </a:p>
        </p:txBody>
      </p:sp>
      <p:sp>
        <p:nvSpPr>
          <p:cNvPr id="16"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48</a:t>
            </a:r>
          </a:p>
        </p:txBody>
      </p:sp>
    </p:spTree>
    <p:extLst>
      <p:ext uri="{BB962C8B-B14F-4D97-AF65-F5344CB8AC3E}">
        <p14:creationId xmlns:p14="http://schemas.microsoft.com/office/powerpoint/2010/main" val="700975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591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DB1F75C-4757-4B85-AF7B-32D99E5233F4}"/>
              </a:ext>
            </a:extLst>
          </p:cNvPr>
          <p:cNvPicPr>
            <a:picLocks noChangeAspect="1"/>
          </p:cNvPicPr>
          <p:nvPr/>
        </p:nvPicPr>
        <p:blipFill rotWithShape="1">
          <a:blip r:embed="rId2"/>
          <a:srcRect b="12553"/>
          <a:stretch/>
        </p:blipFill>
        <p:spPr>
          <a:xfrm>
            <a:off x="621544" y="2570480"/>
            <a:ext cx="1164691" cy="1562848"/>
          </a:xfrm>
          <a:prstGeom prst="rect">
            <a:avLst/>
          </a:prstGeom>
        </p:spPr>
      </p:pic>
      <p:pic>
        <p:nvPicPr>
          <p:cNvPr id="13" name="Imagen 12">
            <a:extLst>
              <a:ext uri="{FF2B5EF4-FFF2-40B4-BE49-F238E27FC236}">
                <a16:creationId xmlns:a16="http://schemas.microsoft.com/office/drawing/2014/main" id="{8A7B092D-1DD1-4B69-BF06-C8DDA651338F}"/>
              </a:ext>
            </a:extLst>
          </p:cNvPr>
          <p:cNvPicPr>
            <a:picLocks noChangeAspect="1"/>
          </p:cNvPicPr>
          <p:nvPr/>
        </p:nvPicPr>
        <p:blipFill>
          <a:blip r:embed="rId3"/>
          <a:stretch>
            <a:fillRect/>
          </a:stretch>
        </p:blipFill>
        <p:spPr>
          <a:xfrm>
            <a:off x="5047497" y="2570480"/>
            <a:ext cx="1454721" cy="1562848"/>
          </a:xfrm>
          <a:prstGeom prst="rect">
            <a:avLst/>
          </a:prstGeom>
        </p:spPr>
      </p:pic>
      <p:pic>
        <p:nvPicPr>
          <p:cNvPr id="17" name="Imagen 16">
            <a:extLst>
              <a:ext uri="{FF2B5EF4-FFF2-40B4-BE49-F238E27FC236}">
                <a16:creationId xmlns:a16="http://schemas.microsoft.com/office/drawing/2014/main" id="{40F5B5EA-7586-442D-807B-98DFED0A7B6B}"/>
              </a:ext>
            </a:extLst>
          </p:cNvPr>
          <p:cNvPicPr>
            <a:picLocks noChangeAspect="1"/>
          </p:cNvPicPr>
          <p:nvPr/>
        </p:nvPicPr>
        <p:blipFill>
          <a:blip r:embed="rId4"/>
          <a:stretch>
            <a:fillRect/>
          </a:stretch>
        </p:blipFill>
        <p:spPr>
          <a:xfrm>
            <a:off x="2060556" y="2570480"/>
            <a:ext cx="1104570" cy="1562848"/>
          </a:xfrm>
          <a:prstGeom prst="rect">
            <a:avLst/>
          </a:prstGeom>
        </p:spPr>
      </p:pic>
      <p:pic>
        <p:nvPicPr>
          <p:cNvPr id="12" name="Imagen 11">
            <a:extLst>
              <a:ext uri="{FF2B5EF4-FFF2-40B4-BE49-F238E27FC236}">
                <a16:creationId xmlns:a16="http://schemas.microsoft.com/office/drawing/2014/main" id="{F66C2960-3316-4B70-B02E-59E761256F91}"/>
              </a:ext>
            </a:extLst>
          </p:cNvPr>
          <p:cNvPicPr>
            <a:picLocks noChangeAspect="1"/>
          </p:cNvPicPr>
          <p:nvPr/>
        </p:nvPicPr>
        <p:blipFill>
          <a:blip r:embed="rId5"/>
          <a:stretch>
            <a:fillRect/>
          </a:stretch>
        </p:blipFill>
        <p:spPr>
          <a:xfrm>
            <a:off x="6776539" y="2570480"/>
            <a:ext cx="1745915" cy="1562848"/>
          </a:xfrm>
          <a:prstGeom prst="rect">
            <a:avLst/>
          </a:prstGeom>
        </p:spPr>
      </p:pic>
      <p:pic>
        <p:nvPicPr>
          <p:cNvPr id="18" name="Imagen 17">
            <a:extLst>
              <a:ext uri="{FF2B5EF4-FFF2-40B4-BE49-F238E27FC236}">
                <a16:creationId xmlns:a16="http://schemas.microsoft.com/office/drawing/2014/main" id="{9A68F5AE-D87F-4BA5-9875-61E3BD285E61}"/>
              </a:ext>
            </a:extLst>
          </p:cNvPr>
          <p:cNvPicPr>
            <a:picLocks noChangeAspect="1"/>
          </p:cNvPicPr>
          <p:nvPr/>
        </p:nvPicPr>
        <p:blipFill rotWithShape="1">
          <a:blip r:embed="rId6"/>
          <a:srcRect l="8716" t="10020" r="13964" b="12601"/>
          <a:stretch/>
        </p:blipFill>
        <p:spPr>
          <a:xfrm>
            <a:off x="3439447" y="2570480"/>
            <a:ext cx="1333730" cy="1562848"/>
          </a:xfrm>
          <a:prstGeom prst="rect">
            <a:avLst/>
          </a:prstGeom>
        </p:spPr>
      </p:pic>
      <p:sp>
        <p:nvSpPr>
          <p:cNvPr id="1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2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Estudio de Arc Flash</a:t>
            </a:r>
          </a:p>
        </p:txBody>
      </p:sp>
      <p:sp>
        <p:nvSpPr>
          <p:cNvPr id="21" name="Cuerpo"/>
          <p:cNvSpPr txBox="1"/>
          <p:nvPr/>
        </p:nvSpPr>
        <p:spPr>
          <a:xfrm>
            <a:off x="548640" y="1463040"/>
            <a:ext cx="8046720" cy="878839"/>
          </a:xfrm>
          <a:prstGeom prst="rect">
            <a:avLst/>
          </a:prstGeom>
          <a:noFill/>
        </p:spPr>
        <p:txBody>
          <a:bodyPr wrap="square" lIns="0" rIns="0" tIns="0" bIns="0">
            <a:spAutoFit/>
          </a:bodyPr>
          <a:lstStyle/>
          <a:p>
            <a:pPr>
              <a:spcAft>
                <a:spcPts val="800"/>
              </a:spcAft>
            </a:pPr>
            <a:r>
              <a:rPr sz="1600" b="0">
                <a:solidFill>
                  <a:srgbClr val="222233"/>
                </a:solidFill>
                <a:latin typeface="Calibri"/>
              </a:rPr>
              <a:t>El análisis de Arc Flash se relaciona con las corrientes de cortocircuito en condiciones de falla, los tiempos de operación de las protecciones y la distancia del arco a la persona.</a:t>
            </a:r>
          </a:p>
        </p:txBody>
      </p:sp>
      <p:sp>
        <p:nvSpPr>
          <p:cNvPr id="22" name="TextBox 21"/>
          <p:cNvSpPr txBox="1"/>
          <p:nvPr/>
        </p:nvSpPr>
        <p:spPr>
          <a:xfrm>
            <a:off x="347224" y="4179048"/>
            <a:ext cx="1713331" cy="274320"/>
          </a:xfrm>
          <a:prstGeom prst="rect">
            <a:avLst/>
          </a:prstGeom>
          <a:noFill/>
        </p:spPr>
        <p:txBody>
          <a:bodyPr wrap="square" anchor="t" lIns="0" rIns="0" tIns="0" bIns="0">
            <a:spAutoFit/>
          </a:bodyPr>
          <a:lstStyle/>
          <a:p>
            <a:pPr algn="ctr"/>
            <a:r>
              <a:rPr sz="1200" b="1" i="0">
                <a:solidFill>
                  <a:srgbClr val="6A4C9C"/>
                </a:solidFill>
                <a:latin typeface="Calibri"/>
              </a:rPr>
              <a:t>Corriente de arco</a:t>
            </a:r>
          </a:p>
        </p:txBody>
      </p:sp>
      <p:sp>
        <p:nvSpPr>
          <p:cNvPr id="23" name="TextBox 22"/>
          <p:cNvSpPr txBox="1"/>
          <p:nvPr/>
        </p:nvSpPr>
        <p:spPr>
          <a:xfrm>
            <a:off x="1786236" y="4179048"/>
            <a:ext cx="1653210" cy="274320"/>
          </a:xfrm>
          <a:prstGeom prst="rect">
            <a:avLst/>
          </a:prstGeom>
          <a:noFill/>
        </p:spPr>
        <p:txBody>
          <a:bodyPr wrap="square" anchor="t" lIns="0" rIns="0" tIns="0" bIns="0">
            <a:spAutoFit/>
          </a:bodyPr>
          <a:lstStyle/>
          <a:p>
            <a:pPr algn="ctr"/>
            <a:r>
              <a:rPr sz="1200" b="1" i="0">
                <a:solidFill>
                  <a:srgbClr val="6A4C9C"/>
                </a:solidFill>
                <a:latin typeface="Calibri"/>
              </a:rPr>
              <a:t>Tiempo de despeje</a:t>
            </a:r>
          </a:p>
        </p:txBody>
      </p:sp>
      <p:sp>
        <p:nvSpPr>
          <p:cNvPr id="24" name="TextBox 23"/>
          <p:cNvSpPr txBox="1"/>
          <p:nvPr/>
        </p:nvSpPr>
        <p:spPr>
          <a:xfrm>
            <a:off x="3165127" y="4179048"/>
            <a:ext cx="1882370" cy="274320"/>
          </a:xfrm>
          <a:prstGeom prst="rect">
            <a:avLst/>
          </a:prstGeom>
          <a:noFill/>
        </p:spPr>
        <p:txBody>
          <a:bodyPr wrap="square" anchor="t" lIns="0" rIns="0" tIns="0" bIns="0">
            <a:spAutoFit/>
          </a:bodyPr>
          <a:lstStyle/>
          <a:p>
            <a:pPr algn="ctr"/>
            <a:r>
              <a:rPr sz="1200" b="1" i="0">
                <a:solidFill>
                  <a:srgbClr val="6A4C9C"/>
                </a:solidFill>
                <a:latin typeface="Calibri"/>
              </a:rPr>
              <a:t>Distancia</a:t>
            </a:r>
          </a:p>
        </p:txBody>
      </p:sp>
      <p:sp>
        <p:nvSpPr>
          <p:cNvPr id="25" name="TextBox 24"/>
          <p:cNvSpPr txBox="1"/>
          <p:nvPr/>
        </p:nvSpPr>
        <p:spPr>
          <a:xfrm>
            <a:off x="4773177" y="4179048"/>
            <a:ext cx="2003361" cy="274320"/>
          </a:xfrm>
          <a:prstGeom prst="rect">
            <a:avLst/>
          </a:prstGeom>
          <a:noFill/>
        </p:spPr>
        <p:txBody>
          <a:bodyPr wrap="square" anchor="t" lIns="0" rIns="0" tIns="0" bIns="0">
            <a:spAutoFit/>
          </a:bodyPr>
          <a:lstStyle/>
          <a:p>
            <a:pPr algn="ctr"/>
            <a:r>
              <a:rPr sz="1200" b="1" i="0">
                <a:solidFill>
                  <a:srgbClr val="6A4C9C"/>
                </a:solidFill>
                <a:latin typeface="Calibri"/>
              </a:rPr>
              <a:t>Gravedad de</a:t>
            </a:r>
          </a:p>
        </p:txBody>
      </p:sp>
      <p:sp>
        <p:nvSpPr>
          <p:cNvPr id="26" name="TextBox 25"/>
          <p:cNvSpPr txBox="1"/>
          <p:nvPr/>
        </p:nvSpPr>
        <p:spPr>
          <a:xfrm>
            <a:off x="6502219" y="4179048"/>
            <a:ext cx="2294555" cy="274320"/>
          </a:xfrm>
          <a:prstGeom prst="rect">
            <a:avLst/>
          </a:prstGeom>
          <a:noFill/>
        </p:spPr>
        <p:txBody>
          <a:bodyPr wrap="square" anchor="t" lIns="0" rIns="0" tIns="0" bIns="0">
            <a:spAutoFit/>
          </a:bodyPr>
          <a:lstStyle/>
          <a:p>
            <a:pPr algn="ctr"/>
            <a:r>
              <a:rPr sz="1200" b="1" i="0">
                <a:solidFill>
                  <a:srgbClr val="6A4C9C"/>
                </a:solidFill>
                <a:latin typeface="Calibri"/>
              </a:rPr>
              <a:t>las lesiones</a:t>
            </a:r>
          </a:p>
        </p:txBody>
      </p:sp>
      <p:sp>
        <p:nvSpPr>
          <p:cNvPr id="27" name="Botón Índice">
            <a:hlinkClick action="ppaction://hlinksldjump" r:id="rId8"/>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8"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9"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49</a:t>
            </a:r>
          </a:p>
        </p:txBody>
      </p:sp>
    </p:spTree>
    <p:extLst>
      <p:ext uri="{BB962C8B-B14F-4D97-AF65-F5344CB8AC3E}">
        <p14:creationId xmlns:p14="http://schemas.microsoft.com/office/powerpoint/2010/main" val="38533806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Tiempo de despeje y energía</a:t>
            </a:r>
          </a:p>
        </p:txBody>
      </p:sp>
      <p:sp>
        <p:nvSpPr>
          <p:cNvPr id="4" name="Rounded Rectangle 3"/>
          <p:cNvSpPr/>
          <p:nvPr/>
        </p:nvSpPr>
        <p:spPr>
          <a:xfrm>
            <a:off x="548640" y="1508760"/>
            <a:ext cx="8046720" cy="2992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lock_w.png"/>
          <p:cNvPicPr>
            <a:picLocks noChangeAspect="1"/>
          </p:cNvPicPr>
          <p:nvPr/>
        </p:nvPicPr>
        <p:blipFill>
          <a:blip r:embed="rId2"/>
          <a:stretch>
            <a:fillRect/>
          </a:stretch>
        </p:blipFill>
        <p:spPr>
          <a:xfrm>
            <a:off x="1077163" y="2037283"/>
            <a:ext cx="451713" cy="451713"/>
          </a:xfrm>
          <a:prstGeom prst="rect">
            <a:avLst/>
          </a:prstGeom>
        </p:spPr>
      </p:pic>
      <p:sp>
        <p:nvSpPr>
          <p:cNvPr id="7" name="Cuerpo"/>
          <p:cNvSpPr txBox="1"/>
          <p:nvPr/>
        </p:nvSpPr>
        <p:spPr>
          <a:xfrm>
            <a:off x="2057400" y="1874519"/>
            <a:ext cx="6263640" cy="2260599"/>
          </a:xfrm>
          <a:prstGeom prst="rect">
            <a:avLst/>
          </a:prstGeom>
          <a:noFill/>
        </p:spPr>
        <p:txBody>
          <a:bodyPr wrap="square" lIns="0" rIns="0" tIns="0" bIns="0">
            <a:spAutoFit/>
          </a:bodyPr>
          <a:lstStyle/>
          <a:p>
            <a:pPr>
              <a:spcAft>
                <a:spcPts val="800"/>
              </a:spcAft>
            </a:pPr>
            <a:r>
              <a:rPr sz="1600" b="0">
                <a:solidFill>
                  <a:srgbClr val="222233"/>
                </a:solidFill>
                <a:latin typeface="Calibri"/>
              </a:rPr>
              <a:t>Para un mismo nivel de corriente de arco, mientras más prolongado sea el tiempo de operación de la protección, mayor será la energía liberada en el punto de arco.</a:t>
            </a:r>
          </a:p>
          <a:p>
            <a:pPr marL="256032" indent="-256032">
              <a:spcAft>
                <a:spcPts val="800"/>
              </a:spcAft>
              <a:buClr>
                <a:srgbClr val="6A4C9C"/>
              </a:buClr>
              <a:buFont typeface="Arial"/>
              <a:buChar char="•"/>
            </a:pPr>
            <a:r>
              <a:rPr sz="1600" b="0">
                <a:solidFill>
                  <a:srgbClr val="222233"/>
                </a:solidFill>
                <a:latin typeface="Calibri"/>
              </a:rPr>
              <a:t>Ia: corriente de arco (kA).</a:t>
            </a:r>
          </a:p>
          <a:p>
            <a:pPr marL="256032" indent="-256032">
              <a:spcAft>
                <a:spcPts val="800"/>
              </a:spcAft>
              <a:buClr>
                <a:srgbClr val="6A4C9C"/>
              </a:buClr>
              <a:buFont typeface="Arial"/>
              <a:buChar char="•"/>
            </a:pPr>
            <a:r>
              <a:rPr sz="1600" b="0">
                <a:solidFill>
                  <a:srgbClr val="222233"/>
                </a:solidFill>
                <a:latin typeface="Calibri"/>
              </a:rPr>
              <a:t>t: tiempo de operación de la protección (s).</a:t>
            </a:r>
          </a:p>
          <a:p>
            <a:pPr marL="256032" indent="-256032">
              <a:spcAft>
                <a:spcPts val="800"/>
              </a:spcAft>
              <a:buClr>
                <a:srgbClr val="6A4C9C"/>
              </a:buClr>
              <a:buFont typeface="Arial"/>
              <a:buChar char="•"/>
            </a:pPr>
            <a:r>
              <a:rPr sz="1600" b="0">
                <a:solidFill>
                  <a:srgbClr val="222233"/>
                </a:solidFill>
                <a:latin typeface="Calibri"/>
              </a:rPr>
              <a:t>E: energía incidente en el punto de arco (cal/cm²).</a:t>
            </a:r>
          </a:p>
          <a:p>
            <a:pPr>
              <a:spcAft>
                <a:spcPts val="800"/>
              </a:spcAft>
            </a:pPr>
            <a:r>
              <a:rPr sz="1600" b="1">
                <a:solidFill>
                  <a:srgbClr val="4B2E83"/>
                </a:solidFill>
                <a:latin typeface="Calibri"/>
              </a:rPr>
              <a:t>Ia constante:  ↑ t  →  ↑ E      ↓ t  →  ↓ E</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50</a:t>
            </a:r>
          </a:p>
        </p:txBody>
      </p:sp>
    </p:spTree>
    <p:extLst>
      <p:ext uri="{BB962C8B-B14F-4D97-AF65-F5344CB8AC3E}">
        <p14:creationId xmlns:p14="http://schemas.microsoft.com/office/powerpoint/2010/main" val="1358420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Picture 4" descr="Terapia de Aceptación y Compromiso - PsicoGuías">
            <a:extLst>
              <a:ext uri="{FF2B5EF4-FFF2-40B4-BE49-F238E27FC236}">
                <a16:creationId xmlns:a16="http://schemas.microsoft.com/office/drawing/2014/main" id="{15EC4659-C347-5696-1753-FBC8486F3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7365" y="2672080"/>
            <a:ext cx="5589270" cy="2657475"/>
          </a:xfrm>
          <a:prstGeom prst="rect">
            <a:avLst/>
          </a:prstGeom>
          <a:noFill/>
          <a:extLst>
            <a:ext uri="{909E8E84-426E-40DD-AFC4-6F175D3DCCD1}">
              <a14:hiddenFill xmlns:a14="http://schemas.microsoft.com/office/drawing/2010/main">
                <a:solidFill>
                  <a:srgbClr val="FFFFFF"/>
                </a:solidFill>
              </a14:hiddenFill>
            </a:ext>
          </a:extLst>
        </p:spPr>
      </p:pic>
      <p:sp>
        <p:nvSpPr>
          <p:cNvPr id="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¿Ya es obligatoria?</a:t>
            </a:r>
          </a:p>
        </p:txBody>
      </p:sp>
      <p:sp>
        <p:nvSpPr>
          <p:cNvPr id="9" name="Cuerpo"/>
          <p:cNvSpPr txBox="1"/>
          <p:nvPr/>
        </p:nvSpPr>
        <p:spPr>
          <a:xfrm>
            <a:off x="548640" y="1463040"/>
            <a:ext cx="8046720" cy="980440"/>
          </a:xfrm>
          <a:prstGeom prst="rect">
            <a:avLst/>
          </a:prstGeom>
          <a:noFill/>
        </p:spPr>
        <p:txBody>
          <a:bodyPr wrap="square" lIns="0" rIns="0" tIns="0" bIns="0">
            <a:spAutoFit/>
          </a:bodyPr>
          <a:lstStyle/>
          <a:p>
            <a:pPr>
              <a:spcAft>
                <a:spcPts val="800"/>
              </a:spcAft>
            </a:pPr>
            <a:r>
              <a:rPr sz="1600" b="1">
                <a:solidFill>
                  <a:srgbClr val="4B2E83"/>
                </a:solidFill>
                <a:latin typeface="Calibri"/>
              </a:rPr>
              <a:t>¡Sí!</a:t>
            </a:r>
          </a:p>
          <a:p>
            <a:pPr>
              <a:spcAft>
                <a:spcPts val="800"/>
              </a:spcAft>
            </a:pPr>
            <a:r>
              <a:rPr sz="1600" b="0">
                <a:solidFill>
                  <a:srgbClr val="222233"/>
                </a:solidFill>
                <a:latin typeface="Calibri"/>
              </a:rPr>
              <a:t>La normativa vigente, independientemente del nivel de tensión, exige el uso de la norma NFPA 70E.</a:t>
            </a:r>
          </a:p>
        </p:txBody>
      </p:sp>
      <p:sp>
        <p:nvSpPr>
          <p:cNvPr id="10"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51</a:t>
            </a:r>
          </a:p>
        </p:txBody>
      </p:sp>
    </p:spTree>
    <p:extLst>
      <p:ext uri="{BB962C8B-B14F-4D97-AF65-F5344CB8AC3E}">
        <p14:creationId xmlns:p14="http://schemas.microsoft.com/office/powerpoint/2010/main" val="2935520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146" name="Picture 2" descr="Detección de descargas parciales a través de radiación ultravioleta en  redes de media y alta tensión en Colombia">
            <a:extLst>
              <a:ext uri="{FF2B5EF4-FFF2-40B4-BE49-F238E27FC236}">
                <a16:creationId xmlns:a16="http://schemas.microsoft.com/office/drawing/2014/main" id="{81861876-6C71-E3FE-CB13-4DE012918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2570480"/>
            <a:ext cx="3893889" cy="272138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FA23CC07-B4B0-E748-28E8-78355474F9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849" y="2570480"/>
            <a:ext cx="3878510" cy="2721380"/>
          </a:xfrm>
          <a:prstGeom prst="rect">
            <a:avLst/>
          </a:prstGeom>
          <a:noFill/>
          <a:extLst>
            <a:ext uri="{909E8E84-426E-40DD-AFC4-6F175D3DCCD1}">
              <a14:hiddenFill xmlns:a14="http://schemas.microsoft.com/office/drawing/2010/main">
                <a:solidFill>
                  <a:srgbClr val="FFFFFF"/>
                </a:solidFill>
              </a14:hiddenFill>
            </a:ext>
          </a:extLst>
        </p:spPr>
      </p:pic>
      <p:sp>
        <p:nvSpPr>
          <p:cNvPr id="614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615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Operadores de distribución</a:t>
            </a:r>
          </a:p>
        </p:txBody>
      </p:sp>
      <p:sp>
        <p:nvSpPr>
          <p:cNvPr id="6151" name="Cuerpo"/>
          <p:cNvSpPr txBox="1"/>
          <p:nvPr/>
        </p:nvSpPr>
        <p:spPr>
          <a:xfrm>
            <a:off x="548640" y="1463040"/>
            <a:ext cx="8046720" cy="878839"/>
          </a:xfrm>
          <a:prstGeom prst="rect">
            <a:avLst/>
          </a:prstGeom>
          <a:noFill/>
        </p:spPr>
        <p:txBody>
          <a:bodyPr wrap="square" lIns="0" rIns="0" tIns="0" bIns="0">
            <a:spAutoFit/>
          </a:bodyPr>
          <a:lstStyle/>
          <a:p>
            <a:pPr>
              <a:spcAft>
                <a:spcPts val="800"/>
              </a:spcAft>
            </a:pPr>
            <a:r>
              <a:rPr sz="1600" b="0">
                <a:solidFill>
                  <a:srgbClr val="222233"/>
                </a:solidFill>
                <a:latin typeface="Calibri"/>
              </a:rPr>
              <a:t>Si usted es operador de sistemas de generación, transmisión o distribución, la NFPA 70E es exigida por el Decreto 109 a través del Pliego Técnico Normativo RPTD N° 15.</a:t>
            </a:r>
          </a:p>
        </p:txBody>
      </p:sp>
      <p:sp>
        <p:nvSpPr>
          <p:cNvPr id="6152"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615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615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52</a:t>
            </a:r>
          </a:p>
        </p:txBody>
      </p:sp>
    </p:spTree>
    <p:extLst>
      <p:ext uri="{BB962C8B-B14F-4D97-AF65-F5344CB8AC3E}">
        <p14:creationId xmlns:p14="http://schemas.microsoft.com/office/powerpoint/2010/main" val="17497650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1BEA7D3-36EA-7BF5-0846-6F35525FB166}"/>
              </a:ext>
            </a:extLst>
          </p:cNvPr>
          <p:cNvPicPr>
            <a:picLocks noChangeAspect="1"/>
          </p:cNvPicPr>
          <p:nvPr/>
        </p:nvPicPr>
        <p:blipFill>
          <a:blip r:embed="rId2"/>
          <a:srcRect l="46250" t="15050" r="27841" b="27980"/>
          <a:stretch/>
        </p:blipFill>
        <p:spPr>
          <a:xfrm>
            <a:off x="1883046" y="1417320"/>
            <a:ext cx="5377906" cy="4846320"/>
          </a:xfrm>
          <a:prstGeom prst="rect">
            <a:avLst/>
          </a:prstGeom>
        </p:spPr>
      </p:pic>
      <p:sp>
        <p:nvSpPr>
          <p:cNvPr id="4"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5"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Pliego RPTD N° 15</a:t>
            </a:r>
          </a:p>
        </p:txBody>
      </p:sp>
      <p:sp>
        <p:nvSpPr>
          <p:cNvPr id="6"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53</a:t>
            </a:r>
          </a:p>
        </p:txBody>
      </p:sp>
    </p:spTree>
    <p:extLst>
      <p:ext uri="{BB962C8B-B14F-4D97-AF65-F5344CB8AC3E}">
        <p14:creationId xmlns:p14="http://schemas.microsoft.com/office/powerpoint/2010/main" val="12679385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DCC6054-F90F-964B-2112-3E6F87E1EC44}"/>
              </a:ext>
            </a:extLst>
          </p:cNvPr>
          <p:cNvPicPr>
            <a:picLocks noChangeAspect="1"/>
          </p:cNvPicPr>
          <p:nvPr/>
        </p:nvPicPr>
        <p:blipFill>
          <a:blip r:embed="rId2"/>
          <a:srcRect l="48427" t="40021" r="29446" b="49254"/>
          <a:stretch/>
        </p:blipFill>
        <p:spPr>
          <a:xfrm>
            <a:off x="548640" y="1594040"/>
            <a:ext cx="8046720" cy="4492878"/>
          </a:xfrm>
          <a:prstGeom prst="rect">
            <a:avLst/>
          </a:prstGeom>
        </p:spPr>
      </p:pic>
      <p:sp>
        <p:nvSpPr>
          <p:cNvPr id="4"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5"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RPTD N° 15: seguridad en la operación</a:t>
            </a:r>
          </a:p>
        </p:txBody>
      </p:sp>
      <p:sp>
        <p:nvSpPr>
          <p:cNvPr id="6"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54</a:t>
            </a:r>
          </a:p>
        </p:txBody>
      </p:sp>
    </p:spTree>
    <p:extLst>
      <p:ext uri="{BB962C8B-B14F-4D97-AF65-F5344CB8AC3E}">
        <p14:creationId xmlns:p14="http://schemas.microsoft.com/office/powerpoint/2010/main" val="4059478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30" name="Picture 6" descr="Las 4 categorías del equipo de protección personal para Arc ...">
            <a:extLst>
              <a:ext uri="{FF2B5EF4-FFF2-40B4-BE49-F238E27FC236}">
                <a16:creationId xmlns:a16="http://schemas.microsoft.com/office/drawing/2014/main" id="{F7C3ABD3-F0A9-48E7-DC43-7052FB8E04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400" y="2570480"/>
            <a:ext cx="6979199" cy="3693160"/>
          </a:xfrm>
          <a:prstGeom prst="rect">
            <a:avLst/>
          </a:prstGeom>
          <a:noFill/>
          <a:extLst>
            <a:ext uri="{909E8E84-426E-40DD-AFC4-6F175D3DCCD1}">
              <a14:hiddenFill xmlns:a14="http://schemas.microsoft.com/office/drawing/2010/main">
                <a:solidFill>
                  <a:srgbClr val="FFFFFF"/>
                </a:solidFill>
              </a14:hiddenFill>
            </a:ext>
          </a:extLst>
        </p:spPr>
      </p:pic>
      <p:sp>
        <p:nvSpPr>
          <p:cNvPr id="103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103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Operadores de consumo final</a:t>
            </a:r>
          </a:p>
        </p:txBody>
      </p:sp>
      <p:sp>
        <p:nvSpPr>
          <p:cNvPr id="1033" name="Cuerpo"/>
          <p:cNvSpPr txBox="1"/>
          <p:nvPr/>
        </p:nvSpPr>
        <p:spPr>
          <a:xfrm>
            <a:off x="548640" y="1463040"/>
            <a:ext cx="8046720" cy="878839"/>
          </a:xfrm>
          <a:prstGeom prst="rect">
            <a:avLst/>
          </a:prstGeom>
          <a:noFill/>
        </p:spPr>
        <p:txBody>
          <a:bodyPr wrap="square" lIns="0" rIns="0" tIns="0" bIns="0">
            <a:spAutoFit/>
          </a:bodyPr>
          <a:lstStyle/>
          <a:p>
            <a:pPr>
              <a:spcAft>
                <a:spcPts val="800"/>
              </a:spcAft>
            </a:pPr>
            <a:r>
              <a:rPr sz="1600" b="0">
                <a:solidFill>
                  <a:srgbClr val="222233"/>
                </a:solidFill>
                <a:latin typeface="Calibri"/>
              </a:rPr>
              <a:t>Si usted es operador de instalaciones de consumo final de baja y media tensión, la NFPA 70E es exigida por el Decreto Supremo 8 en el Pliego Técnico Normativo RIC N° 17 de Operación y Mantenimiento.</a:t>
            </a:r>
          </a:p>
        </p:txBody>
      </p:sp>
      <p:sp>
        <p:nvSpPr>
          <p:cNvPr id="1034"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35"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36"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55</a:t>
            </a:r>
          </a:p>
        </p:txBody>
      </p:sp>
    </p:spTree>
    <p:extLst>
      <p:ext uri="{BB962C8B-B14F-4D97-AF65-F5344CB8AC3E}">
        <p14:creationId xmlns:p14="http://schemas.microsoft.com/office/powerpoint/2010/main" val="12258720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451878B-16E3-CA6E-6CBF-557FEDA6EBCA}"/>
              </a:ext>
            </a:extLst>
          </p:cNvPr>
          <p:cNvPicPr>
            <a:picLocks noChangeAspect="1"/>
          </p:cNvPicPr>
          <p:nvPr/>
        </p:nvPicPr>
        <p:blipFill>
          <a:blip r:embed="rId2"/>
          <a:srcRect l="43980" t="9666" r="25682" b="23536"/>
          <a:stretch/>
        </p:blipFill>
        <p:spPr>
          <a:xfrm>
            <a:off x="2145175" y="1417320"/>
            <a:ext cx="4853648" cy="4846320"/>
          </a:xfrm>
          <a:prstGeom prst="rect">
            <a:avLst/>
          </a:prstGeom>
        </p:spPr>
      </p:pic>
      <p:sp>
        <p:nvSpPr>
          <p:cNvPr id="4"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5"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Pliego RIC N° 17</a:t>
            </a:r>
          </a:p>
        </p:txBody>
      </p:sp>
      <p:sp>
        <p:nvSpPr>
          <p:cNvPr id="6"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56</a:t>
            </a:r>
          </a:p>
        </p:txBody>
      </p:sp>
    </p:spTree>
    <p:extLst>
      <p:ext uri="{BB962C8B-B14F-4D97-AF65-F5344CB8AC3E}">
        <p14:creationId xmlns:p14="http://schemas.microsoft.com/office/powerpoint/2010/main" val="2532840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8D50EE3-A862-5EA5-A6BA-5D0F65D568B2}"/>
              </a:ext>
            </a:extLst>
          </p:cNvPr>
          <p:cNvPicPr>
            <a:picLocks noChangeAspect="1"/>
          </p:cNvPicPr>
          <p:nvPr/>
        </p:nvPicPr>
        <p:blipFill>
          <a:blip r:embed="rId2"/>
          <a:srcRect l="47359" t="30409" r="26846" b="44365"/>
          <a:stretch/>
        </p:blipFill>
        <p:spPr>
          <a:xfrm>
            <a:off x="548640" y="1627243"/>
            <a:ext cx="8046720" cy="4426472"/>
          </a:xfrm>
          <a:prstGeom prst="rect">
            <a:avLst/>
          </a:prstGeom>
        </p:spPr>
      </p:pic>
      <p:sp>
        <p:nvSpPr>
          <p:cNvPr id="4"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2.4 NORMA NFPA 70E</a:t>
            </a:r>
          </a:p>
        </p:txBody>
      </p:sp>
      <p:sp>
        <p:nvSpPr>
          <p:cNvPr id="5"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RIC N° 17: requisitos por instalación</a:t>
            </a:r>
          </a:p>
        </p:txBody>
      </p:sp>
      <p:sp>
        <p:nvSpPr>
          <p:cNvPr id="6"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57</a:t>
            </a:r>
          </a:p>
        </p:txBody>
      </p:sp>
    </p:spTree>
    <p:extLst>
      <p:ext uri="{BB962C8B-B14F-4D97-AF65-F5344CB8AC3E}">
        <p14:creationId xmlns:p14="http://schemas.microsoft.com/office/powerpoint/2010/main" val="31023397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C4B35AA-9CC4-D031-9B23-62FC0CFF39CC}"/>
            </a:ext>
          </a:extLst>
        </p:cNvPr>
        <p:cNvGrpSpPr/>
        <p:nvPr/>
      </p:nvGrpSpPr>
      <p:grpSpPr>
        <a:xfrm>
          <a:off x="0" y="0"/>
          <a:ext cx="0" cy="0"/>
          <a:chOff x="0" y="0"/>
          <a:chExt cx="0" cy="0"/>
        </a:xfrm>
      </p:grpSpPr>
      <p:pic>
        <p:nvPicPr>
          <p:cNvPr id="2050" name="Picture 2" descr="CERTIFICADOS DE PROFESIONALIDAD : UF0893 Mantenimiento de redes eléctricas  aéreas de baja tensión">
            <a:extLst>
              <a:ext uri="{FF2B5EF4-FFF2-40B4-BE49-F238E27FC236}">
                <a16:creationId xmlns:a16="http://schemas.microsoft.com/office/drawing/2014/main" id="{DD51DEA0-48BB-B104-2CA1-749DBDC7E2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2040" y="2541554"/>
            <a:ext cx="3703320" cy="2597851"/>
          </a:xfrm>
          <a:prstGeom prst="rect">
            <a:avLst/>
          </a:prstGeom>
          <a:noFill/>
          <a:extLst>
            <a:ext uri="{909E8E84-426E-40DD-AFC4-6F175D3DCCD1}">
              <a14:hiddenFill xmlns:a14="http://schemas.microsoft.com/office/drawing/2010/main">
                <a:solidFill>
                  <a:srgbClr val="FFFFFF"/>
                </a:solidFill>
              </a14:hiddenFill>
            </a:ext>
          </a:extLst>
        </p:spPr>
      </p:pic>
      <p:sp>
        <p:nvSpPr>
          <p:cNvPr id="205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3.0 EQUIPOS ELÉCTRICOS DE LA RED</a:t>
            </a:r>
          </a:p>
        </p:txBody>
      </p:sp>
      <p:sp>
        <p:nvSpPr>
          <p:cNvPr id="205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Componentes de sistemas de M.T.</a:t>
            </a:r>
          </a:p>
        </p:txBody>
      </p:sp>
      <p:sp>
        <p:nvSpPr>
          <p:cNvPr id="2053" name="Cuerpo"/>
          <p:cNvSpPr txBox="1"/>
          <p:nvPr/>
        </p:nvSpPr>
        <p:spPr>
          <a:xfrm>
            <a:off x="548640" y="1463040"/>
            <a:ext cx="4023360" cy="3337559"/>
          </a:xfrm>
          <a:prstGeom prst="rect">
            <a:avLst/>
          </a:prstGeom>
          <a:noFill/>
        </p:spPr>
        <p:txBody>
          <a:bodyPr wrap="square" lIns="0" rIns="0" tIns="0" bIns="0">
            <a:spAutoFit/>
          </a:bodyPr>
          <a:lstStyle/>
          <a:p>
            <a:pPr>
              <a:spcAft>
                <a:spcPts val="800"/>
              </a:spcAft>
            </a:pPr>
            <a:r>
              <a:rPr sz="1600" b="0">
                <a:solidFill>
                  <a:srgbClr val="222233"/>
                </a:solidFill>
                <a:latin typeface="Calibri"/>
              </a:rPr>
              <a:t>Además de postes y conductores, la red aérea tiene equipos que configuran su topología y con los que el personal técnico interactúa en faenas de:</a:t>
            </a:r>
          </a:p>
          <a:p>
            <a:pPr marL="256032" indent="-256032">
              <a:spcAft>
                <a:spcPts val="800"/>
              </a:spcAft>
              <a:buClr>
                <a:srgbClr val="6A4C9C"/>
              </a:buClr>
              <a:buFont typeface="Arial"/>
              <a:buChar char="•"/>
            </a:pPr>
            <a:r>
              <a:rPr sz="1600" b="0">
                <a:solidFill>
                  <a:srgbClr val="222233"/>
                </a:solidFill>
                <a:latin typeface="Calibri"/>
              </a:rPr>
              <a:t>Reparaciones en la red.</a:t>
            </a:r>
          </a:p>
          <a:p>
            <a:pPr marL="256032" indent="-256032">
              <a:spcAft>
                <a:spcPts val="800"/>
              </a:spcAft>
              <a:buClr>
                <a:srgbClr val="6A4C9C"/>
              </a:buClr>
              <a:buFont typeface="Arial"/>
              <a:buChar char="•"/>
            </a:pPr>
            <a:r>
              <a:rPr sz="1600" b="0">
                <a:solidFill>
                  <a:srgbClr val="222233"/>
                </a:solidFill>
                <a:latin typeface="Calibri"/>
              </a:rPr>
              <a:t>Mantenciones en la red.</a:t>
            </a:r>
          </a:p>
          <a:p>
            <a:pPr marL="256032" indent="-256032">
              <a:spcAft>
                <a:spcPts val="800"/>
              </a:spcAft>
              <a:buClr>
                <a:srgbClr val="6A4C9C"/>
              </a:buClr>
              <a:buFont typeface="Arial"/>
              <a:buChar char="•"/>
            </a:pPr>
            <a:r>
              <a:rPr sz="1600" b="0">
                <a:solidFill>
                  <a:srgbClr val="222233"/>
                </a:solidFill>
                <a:latin typeface="Calibri"/>
              </a:rPr>
              <a:t>Operaciones sobre equipos de protección.</a:t>
            </a:r>
          </a:p>
          <a:p>
            <a:pPr marL="256032" indent="-256032">
              <a:spcAft>
                <a:spcPts val="800"/>
              </a:spcAft>
              <a:buClr>
                <a:srgbClr val="6A4C9C"/>
              </a:buClr>
              <a:buFont typeface="Arial"/>
              <a:buChar char="•"/>
            </a:pPr>
            <a:r>
              <a:rPr sz="1600" b="0">
                <a:solidFill>
                  <a:srgbClr val="222233"/>
                </a:solidFill>
                <a:latin typeface="Calibri"/>
              </a:rPr>
              <a:t>Operaciones sobre equipos de maniobra.</a:t>
            </a:r>
          </a:p>
          <a:p>
            <a:pPr marL="256032" indent="-256032">
              <a:spcAft>
                <a:spcPts val="800"/>
              </a:spcAft>
              <a:buClr>
                <a:srgbClr val="6A4C9C"/>
              </a:buClr>
              <a:buFont typeface="Arial"/>
              <a:buChar char="•"/>
            </a:pPr>
            <a:r>
              <a:rPr sz="1600" b="0">
                <a:solidFill>
                  <a:srgbClr val="222233"/>
                </a:solidFill>
                <a:latin typeface="Calibri"/>
              </a:rPr>
              <a:t>Cortes y reposiciones de servicio programados o de emergencia.</a:t>
            </a:r>
          </a:p>
        </p:txBody>
      </p:sp>
      <p:sp>
        <p:nvSpPr>
          <p:cNvPr id="2054"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055"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056"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65</a:t>
            </a:r>
          </a:p>
        </p:txBody>
      </p:sp>
    </p:spTree>
    <p:extLst>
      <p:ext uri="{BB962C8B-B14F-4D97-AF65-F5344CB8AC3E}">
        <p14:creationId xmlns:p14="http://schemas.microsoft.com/office/powerpoint/2010/main" val="21246401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5457D04-F096-5D4B-DAE6-0B63B9E5A8EC}"/>
            </a:ext>
          </a:extLst>
        </p:cNvPr>
        <p:cNvGrpSpPr/>
        <p:nvPr/>
      </p:nvGrpSpPr>
      <p:grpSpPr>
        <a:xfrm>
          <a:off x="0" y="0"/>
          <a:ext cx="0" cy="0"/>
          <a:chOff x="0" y="0"/>
          <a:chExt cx="0" cy="0"/>
        </a:xfrm>
      </p:grpSpPr>
      <p:pic>
        <p:nvPicPr>
          <p:cNvPr id="11" name="Imagen 10" descr="Imagen que contiene exterior, pájaro, alambre, luz&#10;&#10;Descripción generada automáticamente">
            <a:extLst>
              <a:ext uri="{FF2B5EF4-FFF2-40B4-BE49-F238E27FC236}">
                <a16:creationId xmlns:a16="http://schemas.microsoft.com/office/drawing/2014/main" id="{9DC294AD-871A-5711-D678-0FA672A0618F}"/>
              </a:ext>
            </a:extLst>
          </p:cNvPr>
          <p:cNvPicPr>
            <a:picLocks noChangeAspect="1"/>
          </p:cNvPicPr>
          <p:nvPr/>
        </p:nvPicPr>
        <p:blipFill>
          <a:blip r:embed="rId3"/>
          <a:stretch>
            <a:fillRect/>
          </a:stretch>
        </p:blipFill>
        <p:spPr>
          <a:xfrm>
            <a:off x="3559457" y="2814319"/>
            <a:ext cx="5035902" cy="2978327"/>
          </a:xfrm>
          <a:prstGeom prst="rect">
            <a:avLst/>
          </a:prstGeom>
          <a:effectLst>
            <a:softEdge rad="31750"/>
          </a:effectLst>
        </p:spPr>
      </p:pic>
      <p:pic>
        <p:nvPicPr>
          <p:cNvPr id="4098" name="Picture 2" descr="FICHA TÉCNICA Transformadores de Distribución tipo Pad mounted">
            <a:extLst>
              <a:ext uri="{FF2B5EF4-FFF2-40B4-BE49-F238E27FC236}">
                <a16:creationId xmlns:a16="http://schemas.microsoft.com/office/drawing/2014/main" id="{57CD7978-A383-D3F5-5D58-1A5D67687B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 y="2814319"/>
            <a:ext cx="2736497" cy="2978327"/>
          </a:xfrm>
          <a:prstGeom prst="rect">
            <a:avLst/>
          </a:prstGeom>
          <a:noFill/>
          <a:effectLst>
            <a:softEdge rad="12700"/>
          </a:effectLst>
          <a:extLst>
            <a:ext uri="{909E8E84-426E-40DD-AFC4-6F175D3DCCD1}">
              <a14:hiddenFill xmlns:a14="http://schemas.microsoft.com/office/drawing/2010/main">
                <a:solidFill>
                  <a:srgbClr val="FFFFFF"/>
                </a:solidFill>
              </a14:hiddenFill>
            </a:ext>
          </a:extLst>
        </p:spPr>
      </p:pic>
      <p:sp>
        <p:nvSpPr>
          <p:cNvPr id="409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3.0 EQUIPOS ELÉCTRICOS DE LA RED</a:t>
            </a:r>
          </a:p>
        </p:txBody>
      </p:sp>
      <p:sp>
        <p:nvSpPr>
          <p:cNvPr id="410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Transformadores</a:t>
            </a:r>
          </a:p>
        </p:txBody>
      </p:sp>
      <p:sp>
        <p:nvSpPr>
          <p:cNvPr id="4101" name="Cuerpo"/>
          <p:cNvSpPr txBox="1"/>
          <p:nvPr/>
        </p:nvSpPr>
        <p:spPr>
          <a:xfrm>
            <a:off x="548640" y="1463040"/>
            <a:ext cx="8046720" cy="1122680"/>
          </a:xfrm>
          <a:prstGeom prst="rect">
            <a:avLst/>
          </a:prstGeom>
          <a:noFill/>
        </p:spPr>
        <p:txBody>
          <a:bodyPr wrap="square" lIns="0" rIns="0" tIns="0" bIns="0">
            <a:spAutoFit/>
          </a:bodyPr>
          <a:lstStyle/>
          <a:p>
            <a:pPr>
              <a:spcAft>
                <a:spcPts val="800"/>
              </a:spcAft>
            </a:pPr>
            <a:r>
              <a:rPr sz="1600" b="0">
                <a:solidFill>
                  <a:srgbClr val="222233"/>
                </a:solidFill>
                <a:latin typeface="Calibri"/>
              </a:rPr>
              <a:t>Son equipos cruciales para la distribución y el aprovechamiento industrial y doméstico de la energía. Aumentan o disminuyen la tensión de una red de corriente alterna sin cambiar teóricamente su potencia; en la realidad su eficiencia es cercana al 95 %.</a:t>
            </a:r>
          </a:p>
        </p:txBody>
      </p:sp>
      <p:sp>
        <p:nvSpPr>
          <p:cNvPr id="4102"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410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410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66</a:t>
            </a:r>
          </a:p>
        </p:txBody>
      </p:sp>
    </p:spTree>
    <p:extLst>
      <p:ext uri="{BB962C8B-B14F-4D97-AF65-F5344CB8AC3E}">
        <p14:creationId xmlns:p14="http://schemas.microsoft.com/office/powerpoint/2010/main" val="5452754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25C90E-D359-5F35-5255-7B951FDDDE35}"/>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55E8E39E-3DC7-26B2-4903-9E19D165C074}"/>
              </a:ext>
            </a:extLst>
          </p:cNvPr>
          <p:cNvPicPr>
            <a:picLocks noChangeAspect="1"/>
          </p:cNvPicPr>
          <p:nvPr/>
        </p:nvPicPr>
        <p:blipFill rotWithShape="1">
          <a:blip r:embed="rId3"/>
          <a:srcRect l="25161" t="45269" r="17312" b="24528"/>
          <a:stretch/>
        </p:blipFill>
        <p:spPr>
          <a:xfrm>
            <a:off x="548639" y="2326640"/>
            <a:ext cx="5710446" cy="1686448"/>
          </a:xfrm>
          <a:prstGeom prst="rect">
            <a:avLst/>
          </a:prstGeom>
        </p:spPr>
      </p:pic>
      <p:pic>
        <p:nvPicPr>
          <p:cNvPr id="11" name="Picture 2" descr="DESARROLLO DE EXPEDIENTES TÉCNICOS DE INSTALACIONES ELÉCTRICAS (BT-MT) Y  COMUNICACIONES CON METODOLOGÍA BIM - Cardich Consultores">
            <a:extLst>
              <a:ext uri="{FF2B5EF4-FFF2-40B4-BE49-F238E27FC236}">
                <a16:creationId xmlns:a16="http://schemas.microsoft.com/office/drawing/2014/main" id="{37B0C8BA-9F9E-002E-627E-DA6AFB5F2D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3406" y="2326640"/>
            <a:ext cx="2061953" cy="1686448"/>
          </a:xfrm>
          <a:prstGeom prst="rect">
            <a:avLst/>
          </a:prstGeom>
          <a:noFill/>
          <a:extLst>
            <a:ext uri="{909E8E84-426E-40DD-AFC4-6F175D3DCCD1}">
              <a14:hiddenFill xmlns:a14="http://schemas.microsoft.com/office/drawing/2010/main">
                <a:solidFill>
                  <a:srgbClr val="FFFFFF"/>
                </a:solidFill>
              </a14:hiddenFill>
            </a:ext>
          </a:extLst>
        </p:spPr>
      </p:pic>
      <p:sp>
        <p:nvSpPr>
          <p:cNvPr id="1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3.0 EQUIPOS ELÉCTRICOS DE LA RED</a:t>
            </a:r>
          </a:p>
        </p:txBody>
      </p:sp>
      <p:sp>
        <p:nvSpPr>
          <p:cNvPr id="1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Tensiones normalizadas: baja tensión</a:t>
            </a:r>
          </a:p>
        </p:txBody>
      </p:sp>
      <p:sp>
        <p:nvSpPr>
          <p:cNvPr id="14" name="Cuerpo"/>
          <p:cNvSpPr txBox="1"/>
          <p:nvPr/>
        </p:nvSpPr>
        <p:spPr>
          <a:xfrm>
            <a:off x="548640" y="1463040"/>
            <a:ext cx="8046720" cy="635000"/>
          </a:xfrm>
          <a:prstGeom prst="rect">
            <a:avLst/>
          </a:prstGeom>
          <a:noFill/>
        </p:spPr>
        <p:txBody>
          <a:bodyPr wrap="square" lIns="0" rIns="0" tIns="0" bIns="0">
            <a:spAutoFit/>
          </a:bodyPr>
          <a:lstStyle/>
          <a:p>
            <a:pPr>
              <a:spcAft>
                <a:spcPts val="800"/>
              </a:spcAft>
            </a:pPr>
            <a:r>
              <a:rPr sz="1600" b="0">
                <a:solidFill>
                  <a:srgbClr val="222233"/>
                </a:solidFill>
                <a:latin typeface="Calibri"/>
              </a:rPr>
              <a:t>Baja tensión es el término usado para instalaciones con tensiones entre 380 y 660 V entre fases. Estas instalaciones están asociadas al consumo final.</a:t>
            </a:r>
          </a:p>
        </p:txBody>
      </p:sp>
      <p:sp>
        <p:nvSpPr>
          <p:cNvPr id="15"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6"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7"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67</a:t>
            </a:r>
          </a:p>
        </p:txBody>
      </p:sp>
    </p:spTree>
    <p:extLst>
      <p:ext uri="{BB962C8B-B14F-4D97-AF65-F5344CB8AC3E}">
        <p14:creationId xmlns:p14="http://schemas.microsoft.com/office/powerpoint/2010/main" val="3277641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B452DF3-E0CA-A95F-A9D1-CAE336A6B6E3}"/>
            </a:ext>
          </a:extLst>
        </p:cNvPr>
        <p:cNvGrpSpPr/>
        <p:nvPr/>
      </p:nvGrpSpPr>
      <p:grpSpPr>
        <a:xfrm>
          <a:off x="0" y="0"/>
          <a:ext cx="0" cy="0"/>
          <a:chOff x="0" y="0"/>
          <a:chExt cx="0" cy="0"/>
        </a:xfrm>
      </p:grpSpPr>
      <p:pic>
        <p:nvPicPr>
          <p:cNvPr id="21" name="Imagen 20">
            <a:extLst>
              <a:ext uri="{FF2B5EF4-FFF2-40B4-BE49-F238E27FC236}">
                <a16:creationId xmlns:a16="http://schemas.microsoft.com/office/drawing/2014/main" id="{66DC4803-8A01-FC81-4DF6-803B7CECC839}"/>
              </a:ext>
            </a:extLst>
          </p:cNvPr>
          <p:cNvPicPr>
            <a:picLocks noChangeAspect="1"/>
          </p:cNvPicPr>
          <p:nvPr/>
        </p:nvPicPr>
        <p:blipFill>
          <a:blip r:embed="rId3"/>
          <a:stretch>
            <a:fillRect/>
          </a:stretch>
        </p:blipFill>
        <p:spPr>
          <a:xfrm>
            <a:off x="2946702" y="3159759"/>
            <a:ext cx="3250594" cy="3103880"/>
          </a:xfrm>
          <a:prstGeom prst="rect">
            <a:avLst/>
          </a:prstGeom>
        </p:spPr>
      </p:pic>
      <p:sp>
        <p:nvSpPr>
          <p:cNvPr id="2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3.0 EQUIPOS ELÉCTRICOS DE LA RED</a:t>
            </a:r>
          </a:p>
        </p:txBody>
      </p:sp>
      <p:sp>
        <p:nvSpPr>
          <p:cNvPr id="2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Tensiones normalizadas: media tensión</a:t>
            </a:r>
          </a:p>
        </p:txBody>
      </p:sp>
      <p:sp>
        <p:nvSpPr>
          <p:cNvPr id="24" name="Cuerpo"/>
          <p:cNvSpPr txBox="1"/>
          <p:nvPr/>
        </p:nvSpPr>
        <p:spPr>
          <a:xfrm>
            <a:off x="548640" y="1463040"/>
            <a:ext cx="8046720" cy="1468119"/>
          </a:xfrm>
          <a:prstGeom prst="rect">
            <a:avLst/>
          </a:prstGeom>
          <a:noFill/>
        </p:spPr>
        <p:txBody>
          <a:bodyPr wrap="square" lIns="0" rIns="0" tIns="0" bIns="0">
            <a:spAutoFit/>
          </a:bodyPr>
          <a:lstStyle/>
          <a:p>
            <a:pPr>
              <a:spcAft>
                <a:spcPts val="800"/>
              </a:spcAft>
            </a:pPr>
            <a:r>
              <a:rPr sz="1600" b="0">
                <a:solidFill>
                  <a:srgbClr val="222233"/>
                </a:solidFill>
                <a:latin typeface="Calibri"/>
              </a:rPr>
              <a:t>Media tensión es el término usado para instalaciones con tensiones entre 2.400 y 23.000 V. Son frecuentes en líneas de distribución que finalizan en centros de transformación, donde la tensión se reduce normalmente a 380 V.</a:t>
            </a:r>
          </a:p>
          <a:p>
            <a:pPr>
              <a:spcAft>
                <a:spcPts val="800"/>
              </a:spcAft>
            </a:pPr>
            <a:r>
              <a:rPr sz="1600" b="0">
                <a:solidFill>
                  <a:srgbClr val="222233"/>
                </a:solidFill>
                <a:latin typeface="Calibri"/>
              </a:rPr>
              <a:t>Las compañías eléctricas usan esta denominación para sus tensiones de distribución.</a:t>
            </a:r>
          </a:p>
        </p:txBody>
      </p:sp>
      <p:sp>
        <p:nvSpPr>
          <p:cNvPr id="25"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6"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7"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68</a:t>
            </a:r>
          </a:p>
        </p:txBody>
      </p:sp>
    </p:spTree>
    <p:extLst>
      <p:ext uri="{BB962C8B-B14F-4D97-AF65-F5344CB8AC3E}">
        <p14:creationId xmlns:p14="http://schemas.microsoft.com/office/powerpoint/2010/main" val="13610347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D325320-7C8F-602D-1D51-A99ED2C95440}"/>
            </a:ext>
          </a:extLst>
        </p:cNvPr>
        <p:cNvGrpSpPr/>
        <p:nvPr/>
      </p:nvGrpSpPr>
      <p:grpSpPr>
        <a:xfrm>
          <a:off x="0" y="0"/>
          <a:ext cx="0" cy="0"/>
          <a:chOff x="0" y="0"/>
          <a:chExt cx="0" cy="0"/>
        </a:xfrm>
      </p:grpSpPr>
      <p:graphicFrame>
        <p:nvGraphicFramePr>
          <p:cNvPr id="19" name="Objeto 18">
            <a:extLst>
              <a:ext uri="{FF2B5EF4-FFF2-40B4-BE49-F238E27FC236}">
                <a16:creationId xmlns:a16="http://schemas.microsoft.com/office/drawing/2014/main" id="{219C2981-44A5-F1AB-B56D-AB33FE95235C}"/>
              </a:ext>
            </a:extLst>
          </p:cNvPr>
          <p:cNvGraphicFramePr>
            <a:graphicFrameLocks noChangeAspect="1"/>
          </p:cNvGraphicFramePr>
          <p:nvPr/>
        </p:nvGraphicFramePr>
        <p:xfrm>
          <a:off x="548640" y="2122284"/>
          <a:ext cx="3336693" cy="3436390"/>
        </p:xfrm>
        <a:graphic>
          <a:graphicData uri="http://schemas.openxmlformats.org/presentationml/2006/ole">
            <mc:AlternateContent xmlns:mc="http://schemas.openxmlformats.org/markup-compatibility/2006">
              <mc:Choice xmlns:v="urn:schemas-microsoft-com:vml" Requires="v">
                <p:oleObj name="Worksheet" r:id="rId3" imgW="2529698" imgH="3025014" progId="Excel.Sheet.12">
                  <p:embed/>
                </p:oleObj>
              </mc:Choice>
              <mc:Fallback>
                <p:oleObj name="Worksheet" r:id="rId3" imgW="2529698" imgH="3025014" progId="Excel.Sheet.12">
                  <p:embed/>
                  <p:pic>
                    <p:nvPicPr>
                      <p:cNvPr id="19" name="Objeto 18">
                        <a:extLst>
                          <a:ext uri="{FF2B5EF4-FFF2-40B4-BE49-F238E27FC236}">
                            <a16:creationId xmlns:a16="http://schemas.microsoft.com/office/drawing/2014/main" id="{219C2981-44A5-F1AB-B56D-AB33FE95235C}"/>
                          </a:ext>
                        </a:extLst>
                      </p:cNvPr>
                      <p:cNvPicPr/>
                      <p:nvPr/>
                    </p:nvPicPr>
                    <p:blipFill>
                      <a:blip r:embed="rId4"/>
                      <a:stretch>
                        <a:fillRect/>
                      </a:stretch>
                    </p:blipFill>
                    <p:spPr>
                      <a:xfrm>
                        <a:off x="548640" y="2122284"/>
                        <a:ext cx="3336693" cy="3436390"/>
                      </a:xfrm>
                      <a:prstGeom prst="rect">
                        <a:avLst/>
                      </a:prstGeom>
                    </p:spPr>
                  </p:pic>
                </p:oleObj>
              </mc:Fallback>
            </mc:AlternateContent>
          </a:graphicData>
        </a:graphic>
      </p:graphicFrame>
      <p:pic>
        <p:nvPicPr>
          <p:cNvPr id="5122" name="Picture 2" descr="Habilitan dos nuevas líneas de media tensión en Ñeembucú - Economía - ABC  Color">
            <a:extLst>
              <a:ext uri="{FF2B5EF4-FFF2-40B4-BE49-F238E27FC236}">
                <a16:creationId xmlns:a16="http://schemas.microsoft.com/office/drawing/2014/main" id="{FD8DFB4D-A43B-113F-1C3D-911171E62E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9653" y="2122284"/>
            <a:ext cx="4435706" cy="3436390"/>
          </a:xfrm>
          <a:prstGeom prst="rect">
            <a:avLst/>
          </a:prstGeom>
          <a:noFill/>
          <a:extLst>
            <a:ext uri="{909E8E84-426E-40DD-AFC4-6F175D3DCCD1}">
              <a14:hiddenFill xmlns:a14="http://schemas.microsoft.com/office/drawing/2010/main">
                <a:solidFill>
                  <a:srgbClr val="FFFFFF"/>
                </a:solidFill>
              </a14:hiddenFill>
            </a:ext>
          </a:extLst>
        </p:spPr>
      </p:pic>
      <p:sp>
        <p:nvSpPr>
          <p:cNvPr id="512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3.0 EQUIPOS ELÉCTRICOS DE LA RED</a:t>
            </a:r>
          </a:p>
        </p:txBody>
      </p:sp>
      <p:sp>
        <p:nvSpPr>
          <p:cNvPr id="512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Líneas de media tensión</a:t>
            </a:r>
          </a:p>
        </p:txBody>
      </p:sp>
      <p:sp>
        <p:nvSpPr>
          <p:cNvPr id="5125" name="Botón Índice">
            <a:hlinkClick action="ppaction://hlinksldjump" r:id="rId7"/>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5126"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5127"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69</a:t>
            </a:r>
          </a:p>
        </p:txBody>
      </p:sp>
    </p:spTree>
    <p:extLst>
      <p:ext uri="{BB962C8B-B14F-4D97-AF65-F5344CB8AC3E}">
        <p14:creationId xmlns:p14="http://schemas.microsoft.com/office/powerpoint/2010/main" val="37110440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A0AC078-EC92-5047-00D5-6B111996C085}"/>
            </a:ext>
          </a:extLst>
        </p:cNvPr>
        <p:cNvGrpSpPr/>
        <p:nvPr/>
      </p:nvGrpSpPr>
      <p:grpSpPr>
        <a:xfrm>
          <a:off x="0" y="0"/>
          <a:ext cx="0" cy="0"/>
          <a:chOff x="0" y="0"/>
          <a:chExt cx="0" cy="0"/>
        </a:xfrm>
      </p:grpSpPr>
      <p:pic>
        <p:nvPicPr>
          <p:cNvPr id="6150" name="Picture 6">
            <a:extLst>
              <a:ext uri="{FF2B5EF4-FFF2-40B4-BE49-F238E27FC236}">
                <a16:creationId xmlns:a16="http://schemas.microsoft.com/office/drawing/2014/main" id="{702494D0-C8D4-1807-F3D7-45251A92B3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556" y="2915920"/>
            <a:ext cx="5022887" cy="3347720"/>
          </a:xfrm>
          <a:prstGeom prst="rect">
            <a:avLst/>
          </a:prstGeom>
          <a:noFill/>
          <a:extLst>
            <a:ext uri="{909E8E84-426E-40DD-AFC4-6F175D3DCCD1}">
              <a14:hiddenFill xmlns:a14="http://schemas.microsoft.com/office/drawing/2010/main">
                <a:solidFill>
                  <a:srgbClr val="FFFFFF"/>
                </a:solidFill>
              </a14:hiddenFill>
            </a:ext>
          </a:extLst>
        </p:spPr>
      </p:pic>
      <p:sp>
        <p:nvSpPr>
          <p:cNvPr id="615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TIPOS DE CONTACTOS</a:t>
            </a:r>
          </a:p>
        </p:txBody>
      </p:sp>
      <p:sp>
        <p:nvSpPr>
          <p:cNvPr id="615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Tipos de contactos</a:t>
            </a:r>
          </a:p>
        </p:txBody>
      </p:sp>
      <p:sp>
        <p:nvSpPr>
          <p:cNvPr id="6153" name="Cuerpo"/>
          <p:cNvSpPr txBox="1"/>
          <p:nvPr/>
        </p:nvSpPr>
        <p:spPr>
          <a:xfrm>
            <a:off x="548640" y="1463040"/>
            <a:ext cx="8046720" cy="1224280"/>
          </a:xfrm>
          <a:prstGeom prst="rect">
            <a:avLst/>
          </a:prstGeom>
          <a:noFill/>
        </p:spPr>
        <p:txBody>
          <a:bodyPr wrap="square" lIns="0" rIns="0" tIns="0" bIns="0">
            <a:spAutoFit/>
          </a:bodyPr>
          <a:lstStyle/>
          <a:p>
            <a:pPr>
              <a:spcAft>
                <a:spcPts val="800"/>
              </a:spcAft>
            </a:pPr>
            <a:r>
              <a:rPr sz="1600" b="0">
                <a:solidFill>
                  <a:srgbClr val="222233"/>
                </a:solidFill>
                <a:latin typeface="Calibri"/>
              </a:rPr>
              <a:t>En los trabajos de las cuadrillas de líneas eléctricas, el riesgo de un contacto eléctrico siempre está presente.</a:t>
            </a:r>
          </a:p>
          <a:p>
            <a:pPr>
              <a:spcAft>
                <a:spcPts val="800"/>
              </a:spcAft>
            </a:pPr>
            <a:r>
              <a:rPr sz="1600" b="0">
                <a:solidFill>
                  <a:srgbClr val="222233"/>
                </a:solidFill>
                <a:latin typeface="Calibri"/>
              </a:rPr>
              <a:t>Los efectos del paso de la corriente por el cuerpo humano dependen del valor de la corriente.</a:t>
            </a:r>
          </a:p>
        </p:txBody>
      </p:sp>
      <p:sp>
        <p:nvSpPr>
          <p:cNvPr id="6154"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6155"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6156"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70</a:t>
            </a:r>
          </a:p>
        </p:txBody>
      </p:sp>
    </p:spTree>
    <p:extLst>
      <p:ext uri="{BB962C8B-B14F-4D97-AF65-F5344CB8AC3E}">
        <p14:creationId xmlns:p14="http://schemas.microsoft.com/office/powerpoint/2010/main" val="11179125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TIPOS DE CONTACTOS</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¿Cómo hacemos contacto con la red?</a:t>
            </a:r>
          </a:p>
        </p:txBody>
      </p:sp>
      <p:sp>
        <p:nvSpPr>
          <p:cNvPr id="4" name="Rounded Rectangle 3"/>
          <p:cNvSpPr/>
          <p:nvPr/>
        </p:nvSpPr>
        <p:spPr>
          <a:xfrm>
            <a:off x="548640" y="1508760"/>
            <a:ext cx="8046720" cy="237744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ExclamationTriangle_w.png"/>
          <p:cNvPicPr>
            <a:picLocks noChangeAspect="1"/>
          </p:cNvPicPr>
          <p:nvPr/>
        </p:nvPicPr>
        <p:blipFill>
          <a:blip r:embed="rId3"/>
          <a:stretch>
            <a:fillRect/>
          </a:stretch>
        </p:blipFill>
        <p:spPr>
          <a:xfrm>
            <a:off x="1077163" y="2037283"/>
            <a:ext cx="451713" cy="451713"/>
          </a:xfrm>
          <a:prstGeom prst="rect">
            <a:avLst/>
          </a:prstGeom>
        </p:spPr>
      </p:pic>
      <p:sp>
        <p:nvSpPr>
          <p:cNvPr id="7" name="Cuerpo"/>
          <p:cNvSpPr txBox="1"/>
          <p:nvPr/>
        </p:nvSpPr>
        <p:spPr>
          <a:xfrm>
            <a:off x="2057400" y="1874519"/>
            <a:ext cx="6263640" cy="1569720"/>
          </a:xfrm>
          <a:prstGeom prst="rect">
            <a:avLst/>
          </a:prstGeom>
          <a:noFill/>
        </p:spPr>
        <p:txBody>
          <a:bodyPr wrap="square" lIns="0" rIns="0" tIns="0" bIns="0">
            <a:spAutoFit/>
          </a:bodyPr>
          <a:lstStyle/>
          <a:p>
            <a:pPr>
              <a:spcAft>
                <a:spcPts val="800"/>
              </a:spcAft>
            </a:pPr>
            <a:r>
              <a:rPr sz="1600" b="0">
                <a:solidFill>
                  <a:srgbClr val="222233"/>
                </a:solidFill>
                <a:latin typeface="Calibri"/>
              </a:rPr>
              <a:t>Al operar un sistema o circuito eléctrico, el operador o usuario corre el riesgo de quedar sometido a tensiones peligrosas por:</a:t>
            </a:r>
          </a:p>
          <a:p>
            <a:pPr marL="256032" indent="-256032">
              <a:spcAft>
                <a:spcPts val="800"/>
              </a:spcAft>
              <a:buClr>
                <a:srgbClr val="6A4C9C"/>
              </a:buClr>
              <a:buFont typeface="Arial"/>
              <a:buChar char="•"/>
            </a:pPr>
            <a:r>
              <a:rPr sz="1600" b="0">
                <a:solidFill>
                  <a:srgbClr val="222233"/>
                </a:solidFill>
                <a:latin typeface="Calibri"/>
              </a:rPr>
              <a:t>Contacto directo.</a:t>
            </a:r>
          </a:p>
          <a:p>
            <a:pPr marL="256032" indent="-256032">
              <a:spcAft>
                <a:spcPts val="800"/>
              </a:spcAft>
              <a:buClr>
                <a:srgbClr val="6A4C9C"/>
              </a:buClr>
              <a:buFont typeface="Arial"/>
              <a:buChar char="•"/>
            </a:pPr>
            <a:r>
              <a:rPr sz="1600" b="0">
                <a:solidFill>
                  <a:srgbClr val="222233"/>
                </a:solidFill>
                <a:latin typeface="Calibri"/>
              </a:rPr>
              <a:t>Contacto indirecto.</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71</a:t>
            </a:r>
          </a:p>
        </p:txBody>
      </p:sp>
    </p:spTree>
    <p:extLst>
      <p:ext uri="{BB962C8B-B14F-4D97-AF65-F5344CB8AC3E}">
        <p14:creationId xmlns:p14="http://schemas.microsoft.com/office/powerpoint/2010/main" val="25572815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50" name="Picture 2" descr="Riesgos Eléctricos">
            <a:extLst>
              <a:ext uri="{FF2B5EF4-FFF2-40B4-BE49-F238E27FC236}">
                <a16:creationId xmlns:a16="http://schemas.microsoft.com/office/drawing/2014/main" id="{BEE8416D-9F72-5E19-836B-929CD930C0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2309" b="4117"/>
          <a:stretch/>
        </p:blipFill>
        <p:spPr bwMode="auto">
          <a:xfrm>
            <a:off x="548640" y="2326640"/>
            <a:ext cx="2908315" cy="35082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F4250FC-CA9C-9750-AE9D-602CB807ABA6}"/>
              </a:ext>
            </a:extLst>
          </p:cNvPr>
          <p:cNvPicPr>
            <a:picLocks noChangeAspect="1" noChangeArrowheads="1"/>
          </p:cNvPicPr>
          <p:nvPr/>
        </p:nvPicPr>
        <p:blipFill rotWithShape="1">
          <a:blip r:embed="rId4"/>
          <a:srcRect l="5164" t="4408" r="3846" b="8735"/>
          <a:stretch/>
        </p:blipFill>
        <p:spPr bwMode="auto">
          <a:xfrm>
            <a:off x="3731275" y="2326640"/>
            <a:ext cx="4864084" cy="3508298"/>
          </a:xfrm>
          <a:prstGeom prst="rect">
            <a:avLst/>
          </a:prstGeom>
          <a:noFill/>
          <a:ln w="9525">
            <a:noFill/>
            <a:miter lim="800000"/>
            <a:headEnd/>
            <a:tailEnd/>
          </a:ln>
        </p:spPr>
      </p:pic>
      <p:sp>
        <p:nvSpPr>
          <p:cNvPr id="205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TIPOS DE CONTACTOS</a:t>
            </a:r>
          </a:p>
        </p:txBody>
      </p:sp>
      <p:sp>
        <p:nvSpPr>
          <p:cNvPr id="205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Contacto directo</a:t>
            </a:r>
          </a:p>
        </p:txBody>
      </p:sp>
      <p:sp>
        <p:nvSpPr>
          <p:cNvPr id="2053" name="Cuerpo"/>
          <p:cNvSpPr txBox="1"/>
          <p:nvPr/>
        </p:nvSpPr>
        <p:spPr>
          <a:xfrm>
            <a:off x="548640" y="1463040"/>
            <a:ext cx="8046720" cy="635000"/>
          </a:xfrm>
          <a:prstGeom prst="rect">
            <a:avLst/>
          </a:prstGeom>
          <a:noFill/>
        </p:spPr>
        <p:txBody>
          <a:bodyPr wrap="square" lIns="0" rIns="0" tIns="0" bIns="0">
            <a:spAutoFit/>
          </a:bodyPr>
          <a:lstStyle/>
          <a:p>
            <a:pPr>
              <a:spcAft>
                <a:spcPts val="800"/>
              </a:spcAft>
            </a:pPr>
            <a:r>
              <a:rPr sz="1600" b="0">
                <a:solidFill>
                  <a:srgbClr val="222233"/>
                </a:solidFill>
                <a:latin typeface="Calibri"/>
              </a:rPr>
              <a:t>Se produce cuando una persona toca con alguna parte de su cuerpo una parte del circuito o sistema eléctrico que en condiciones normales está energizada.</a:t>
            </a:r>
          </a:p>
        </p:txBody>
      </p:sp>
      <p:sp>
        <p:nvSpPr>
          <p:cNvPr id="2054"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055"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056"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72</a:t>
            </a:r>
          </a:p>
        </p:txBody>
      </p:sp>
    </p:spTree>
    <p:extLst>
      <p:ext uri="{BB962C8B-B14F-4D97-AF65-F5344CB8AC3E}">
        <p14:creationId xmlns:p14="http://schemas.microsoft.com/office/powerpoint/2010/main" val="27884180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76" name="Picture 4" descr="Riesgos Eléctricos">
            <a:extLst>
              <a:ext uri="{FF2B5EF4-FFF2-40B4-BE49-F238E27FC236}">
                <a16:creationId xmlns:a16="http://schemas.microsoft.com/office/drawing/2014/main" id="{199FFF06-27F0-ED9C-A455-B38E3C9EAD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b="5806"/>
          <a:stretch/>
        </p:blipFill>
        <p:spPr bwMode="auto">
          <a:xfrm>
            <a:off x="709552" y="2570480"/>
            <a:ext cx="3267327" cy="369316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revención de Riesgos Laborales en Centros Docentes">
            <a:extLst>
              <a:ext uri="{FF2B5EF4-FFF2-40B4-BE49-F238E27FC236}">
                <a16:creationId xmlns:a16="http://schemas.microsoft.com/office/drawing/2014/main" id="{A8434362-CE66-D38F-F18B-68434A6667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1199" y="2570480"/>
            <a:ext cx="4183247" cy="3693160"/>
          </a:xfrm>
          <a:prstGeom prst="rect">
            <a:avLst/>
          </a:prstGeom>
          <a:noFill/>
          <a:extLst>
            <a:ext uri="{909E8E84-426E-40DD-AFC4-6F175D3DCCD1}">
              <a14:hiddenFill xmlns:a14="http://schemas.microsoft.com/office/drawing/2010/main">
                <a:solidFill>
                  <a:srgbClr val="FFFFFF"/>
                </a:solidFill>
              </a14:hiddenFill>
            </a:ext>
          </a:extLst>
        </p:spPr>
      </p:pic>
      <p:sp>
        <p:nvSpPr>
          <p:cNvPr id="307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TIPOS DE CONTACTOS</a:t>
            </a:r>
          </a:p>
        </p:txBody>
      </p:sp>
      <p:sp>
        <p:nvSpPr>
          <p:cNvPr id="308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Contacto indirecto</a:t>
            </a:r>
          </a:p>
        </p:txBody>
      </p:sp>
      <p:sp>
        <p:nvSpPr>
          <p:cNvPr id="3081" name="Cuerpo"/>
          <p:cNvSpPr txBox="1"/>
          <p:nvPr/>
        </p:nvSpPr>
        <p:spPr>
          <a:xfrm>
            <a:off x="548640" y="1463040"/>
            <a:ext cx="8046720" cy="878839"/>
          </a:xfrm>
          <a:prstGeom prst="rect">
            <a:avLst/>
          </a:prstGeom>
          <a:noFill/>
        </p:spPr>
        <p:txBody>
          <a:bodyPr wrap="square" lIns="0" rIns="0" tIns="0" bIns="0">
            <a:spAutoFit/>
          </a:bodyPr>
          <a:lstStyle/>
          <a:p>
            <a:pPr>
              <a:spcAft>
                <a:spcPts val="800"/>
              </a:spcAft>
            </a:pPr>
            <a:r>
              <a:rPr sz="1600" b="0">
                <a:solidFill>
                  <a:srgbClr val="222233"/>
                </a:solidFill>
                <a:latin typeface="Calibri"/>
              </a:rPr>
              <a:t>Se produce cuando una persona toca una parte metálica de un equipo eléctrico que en condiciones normales está desenergizada, pero que en condiciones de falla se energiza.</a:t>
            </a:r>
          </a:p>
        </p:txBody>
      </p:sp>
      <p:sp>
        <p:nvSpPr>
          <p:cNvPr id="3082"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308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308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73</a:t>
            </a:r>
          </a:p>
        </p:txBody>
      </p:sp>
    </p:spTree>
    <p:extLst>
      <p:ext uri="{BB962C8B-B14F-4D97-AF65-F5344CB8AC3E}">
        <p14:creationId xmlns:p14="http://schemas.microsoft.com/office/powerpoint/2010/main" val="35187830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PROTECTORES DIFERENCIALES</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Protectores diferenciales de B.T.</a:t>
            </a:r>
          </a:p>
        </p:txBody>
      </p:sp>
      <p:sp>
        <p:nvSpPr>
          <p:cNvPr id="4" name="Rounded Rectangle 3"/>
          <p:cNvSpPr/>
          <p:nvPr/>
        </p:nvSpPr>
        <p:spPr>
          <a:xfrm>
            <a:off x="548640" y="1508760"/>
            <a:ext cx="8046720" cy="3520439"/>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UserShield_w.png"/>
          <p:cNvPicPr>
            <a:picLocks noChangeAspect="1"/>
          </p:cNvPicPr>
          <p:nvPr/>
        </p:nvPicPr>
        <p:blipFill>
          <a:blip r:embed="rId3"/>
          <a:stretch>
            <a:fillRect/>
          </a:stretch>
        </p:blipFill>
        <p:spPr>
          <a:xfrm>
            <a:off x="1077163" y="2037283"/>
            <a:ext cx="451713" cy="451713"/>
          </a:xfrm>
          <a:prstGeom prst="rect">
            <a:avLst/>
          </a:prstGeom>
        </p:spPr>
      </p:pic>
      <p:sp>
        <p:nvSpPr>
          <p:cNvPr id="7" name="Cuerpo"/>
          <p:cNvSpPr txBox="1"/>
          <p:nvPr/>
        </p:nvSpPr>
        <p:spPr>
          <a:xfrm>
            <a:off x="2057400" y="1874519"/>
            <a:ext cx="6263640" cy="2788919"/>
          </a:xfrm>
          <a:prstGeom prst="rect">
            <a:avLst/>
          </a:prstGeom>
          <a:noFill/>
        </p:spPr>
        <p:txBody>
          <a:bodyPr wrap="square" lIns="0" rIns="0" tIns="0" bIns="0">
            <a:spAutoFit/>
          </a:bodyPr>
          <a:lstStyle/>
          <a:p>
            <a:pPr>
              <a:spcAft>
                <a:spcPts val="800"/>
              </a:spcAft>
            </a:pPr>
            <a:r>
              <a:rPr sz="1600" b="0">
                <a:solidFill>
                  <a:srgbClr val="222233"/>
                </a:solidFill>
                <a:latin typeface="Calibri"/>
              </a:rPr>
              <a:t>El DS 8, en el RIC N° 5 «Medidas de protección contra tensiones peligrosas», exige dispositivos de desconexión automática para corrientes de fuga.</a:t>
            </a:r>
          </a:p>
          <a:p>
            <a:pPr>
              <a:spcAft>
                <a:spcPts val="800"/>
              </a:spcAft>
            </a:pPr>
            <a:r>
              <a:rPr sz="1600" b="0">
                <a:solidFill>
                  <a:srgbClr val="222233"/>
                </a:solidFill>
                <a:latin typeface="Calibri"/>
              </a:rPr>
              <a:t>El protector diferencial desconecta la red cuando una fase se pone a tierra, directamente a través del cuerpo humano o por conductores con aislación dañada, generalmente por humedad. Actúa al detectar una corriente diferencial Id (mA) superior a su umbral de sensibilidad.</a:t>
            </a:r>
          </a:p>
          <a:p>
            <a:pPr>
              <a:spcAft>
                <a:spcPts val="800"/>
              </a:spcAft>
            </a:pPr>
            <a:r>
              <a:rPr sz="1600" b="0">
                <a:solidFill>
                  <a:srgbClr val="222233"/>
                </a:solidFill>
                <a:latin typeface="Calibri"/>
              </a:rPr>
              <a:t>Es un medio eficaz para proteger a las personas frente a contactos directos en baja tensión.</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74</a:t>
            </a:r>
          </a:p>
        </p:txBody>
      </p:sp>
    </p:spTree>
    <p:extLst>
      <p:ext uri="{BB962C8B-B14F-4D97-AF65-F5344CB8AC3E}">
        <p14:creationId xmlns:p14="http://schemas.microsoft.com/office/powerpoint/2010/main" val="11489105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340" name="Picture 4" descr="Resultado de imagen para protectores diferenciales">
            <a:extLst>
              <a:ext uri="{FF2B5EF4-FFF2-40B4-BE49-F238E27FC236}">
                <a16:creationId xmlns:a16="http://schemas.microsoft.com/office/drawing/2014/main" id="{3205A5AE-818E-426C-86A5-73DDCBE7BE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2214155"/>
            <a:ext cx="2941752" cy="2941752"/>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descr="Interfaz de usuario gráfica, Aplicación&#10;&#10;Descripción generada automáticamente">
            <a:extLst>
              <a:ext uri="{FF2B5EF4-FFF2-40B4-BE49-F238E27FC236}">
                <a16:creationId xmlns:a16="http://schemas.microsoft.com/office/drawing/2014/main" id="{64E12706-FCC8-89B3-5019-5C8C0B47C36C}"/>
              </a:ext>
            </a:extLst>
          </p:cNvPr>
          <p:cNvPicPr>
            <a:picLocks noChangeAspect="1"/>
          </p:cNvPicPr>
          <p:nvPr/>
        </p:nvPicPr>
        <p:blipFill rotWithShape="1">
          <a:blip r:embed="rId4"/>
          <a:srcRect l="33944" t="37176" r="56144" b="30718"/>
          <a:stretch/>
        </p:blipFill>
        <p:spPr bwMode="auto">
          <a:xfrm>
            <a:off x="3764712" y="2214155"/>
            <a:ext cx="1614575" cy="2941752"/>
          </a:xfrm>
          <a:prstGeom prst="rect">
            <a:avLst/>
          </a:prstGeom>
          <a:ln>
            <a:noFill/>
          </a:ln>
          <a:extLst>
            <a:ext uri="{53640926-AAD7-44D8-BBD7-CCE9431645EC}">
              <a14:shadowObscured xmlns:a14="http://schemas.microsoft.com/office/drawing/2010/main"/>
            </a:ext>
          </a:extLst>
        </p:spPr>
      </p:pic>
      <p:pic>
        <p:nvPicPr>
          <p:cNvPr id="1026" name="Picture 2" descr="Interruptor diferencial DX³, 4 polos, 63A, tipo B, 30mA, 400V~ | 411967 |  3414972087940 | Legrand">
            <a:extLst>
              <a:ext uri="{FF2B5EF4-FFF2-40B4-BE49-F238E27FC236}">
                <a16:creationId xmlns:a16="http://schemas.microsoft.com/office/drawing/2014/main" id="{C34AB3C1-FE83-C4C3-1037-1F8CB7E658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3607" y="2214155"/>
            <a:ext cx="2941752" cy="2941752"/>
          </a:xfrm>
          <a:prstGeom prst="rect">
            <a:avLst/>
          </a:prstGeom>
          <a:noFill/>
          <a:extLst>
            <a:ext uri="{909E8E84-426E-40DD-AFC4-6F175D3DCCD1}">
              <a14:hiddenFill xmlns:a14="http://schemas.microsoft.com/office/drawing/2010/main">
                <a:solidFill>
                  <a:srgbClr val="FFFFFF"/>
                </a:solidFill>
              </a14:hiddenFill>
            </a:ext>
          </a:extLst>
        </p:spPr>
      </p:pic>
      <p:sp>
        <p:nvSpPr>
          <p:cNvPr id="1434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PROTECTORES DIFERENCIALES</a:t>
            </a:r>
          </a:p>
        </p:txBody>
      </p:sp>
      <p:sp>
        <p:nvSpPr>
          <p:cNvPr id="1434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Diferenciales monofásicos y trifásicos</a:t>
            </a:r>
          </a:p>
        </p:txBody>
      </p:sp>
      <p:sp>
        <p:nvSpPr>
          <p:cNvPr id="14343" name="TextBox 14342"/>
          <p:cNvSpPr txBox="1"/>
          <p:nvPr/>
        </p:nvSpPr>
        <p:spPr>
          <a:xfrm>
            <a:off x="274320" y="5201628"/>
            <a:ext cx="3490392" cy="274320"/>
          </a:xfrm>
          <a:prstGeom prst="rect">
            <a:avLst/>
          </a:prstGeom>
          <a:noFill/>
        </p:spPr>
        <p:txBody>
          <a:bodyPr wrap="square" anchor="t" lIns="0" rIns="0" tIns="0" bIns="0">
            <a:spAutoFit/>
          </a:bodyPr>
          <a:lstStyle/>
          <a:p>
            <a:pPr algn="ctr"/>
            <a:r>
              <a:rPr sz="1200" b="1" i="0">
                <a:solidFill>
                  <a:srgbClr val="6A4C9C"/>
                </a:solidFill>
                <a:latin typeface="Calibri"/>
              </a:rPr>
              <a:t>Monofásico</a:t>
            </a:r>
          </a:p>
        </p:txBody>
      </p:sp>
      <p:sp>
        <p:nvSpPr>
          <p:cNvPr id="14344" name="TextBox 14343"/>
          <p:cNvSpPr txBox="1"/>
          <p:nvPr/>
        </p:nvSpPr>
        <p:spPr>
          <a:xfrm>
            <a:off x="3490392" y="5201628"/>
            <a:ext cx="2163215" cy="274320"/>
          </a:xfrm>
          <a:prstGeom prst="rect">
            <a:avLst/>
          </a:prstGeom>
          <a:noFill/>
        </p:spPr>
        <p:txBody>
          <a:bodyPr wrap="square" anchor="t" lIns="0" rIns="0" tIns="0" bIns="0">
            <a:spAutoFit/>
          </a:bodyPr>
          <a:lstStyle/>
          <a:p>
            <a:pPr algn="ctr"/>
            <a:r>
              <a:rPr sz="1200" b="1" i="0">
                <a:solidFill>
                  <a:srgbClr val="6A4C9C"/>
                </a:solidFill>
                <a:latin typeface="Calibri"/>
              </a:rPr>
              <a:t>Monofásico</a:t>
            </a:r>
          </a:p>
        </p:txBody>
      </p:sp>
      <p:sp>
        <p:nvSpPr>
          <p:cNvPr id="14345" name="TextBox 14344"/>
          <p:cNvSpPr txBox="1"/>
          <p:nvPr/>
        </p:nvSpPr>
        <p:spPr>
          <a:xfrm>
            <a:off x="5379287" y="5201628"/>
            <a:ext cx="3490392" cy="274320"/>
          </a:xfrm>
          <a:prstGeom prst="rect">
            <a:avLst/>
          </a:prstGeom>
          <a:noFill/>
        </p:spPr>
        <p:txBody>
          <a:bodyPr wrap="square" anchor="t" lIns="0" rIns="0" tIns="0" bIns="0">
            <a:spAutoFit/>
          </a:bodyPr>
          <a:lstStyle/>
          <a:p>
            <a:pPr algn="ctr"/>
            <a:r>
              <a:rPr sz="1200" b="1" i="0">
                <a:solidFill>
                  <a:srgbClr val="6A4C9C"/>
                </a:solidFill>
                <a:latin typeface="Calibri"/>
              </a:rPr>
              <a:t>Trifásico</a:t>
            </a:r>
          </a:p>
        </p:txBody>
      </p:sp>
      <p:sp>
        <p:nvSpPr>
          <p:cNvPr id="14346"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434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434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75</a:t>
            </a:r>
          </a:p>
        </p:txBody>
      </p:sp>
    </p:spTree>
    <p:extLst>
      <p:ext uri="{BB962C8B-B14F-4D97-AF65-F5344CB8AC3E}">
        <p14:creationId xmlns:p14="http://schemas.microsoft.com/office/powerpoint/2010/main" val="29296086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216" y="1417320"/>
            <a:ext cx="5025567" cy="4846320"/>
          </a:xfrm>
          <a:prstGeom prst="rect">
            <a:avLst/>
          </a:prstGeom>
        </p:spPr>
      </p:pic>
      <p:sp>
        <p:nvSpPr>
          <p:cNvPr id="6"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PROTECTORES DIFERENCIALES</a:t>
            </a:r>
          </a:p>
        </p:txBody>
      </p:sp>
      <p:sp>
        <p:nvSpPr>
          <p:cNvPr id="7"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Funcionamiento del diferencial</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76</a:t>
            </a:r>
          </a:p>
        </p:txBody>
      </p:sp>
    </p:spTree>
    <p:extLst>
      <p:ext uri="{BB962C8B-B14F-4D97-AF65-F5344CB8AC3E}">
        <p14:creationId xmlns:p14="http://schemas.microsoft.com/office/powerpoint/2010/main" val="1429724048"/>
      </p:ext>
    </p:extLst>
  </p:cSld>
  <p:clrMapOvr>
    <a:masterClrMapping/>
  </p:clrMapOvr>
  <mc:AlternateContent xmlns:mc="http://schemas.openxmlformats.org/markup-compatibility/2006" xmlns:p14="http://schemas.microsoft.com/office/powerpoint/2010/main">
    <mc:Choice Requires="p14">
      <p:transition spd="slow" p14:dur="4250"/>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40" name="Imagen 52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2548126" y="1417320"/>
            <a:ext cx="4047747" cy="4846320"/>
          </a:xfrm>
          <a:prstGeom prst="rect">
            <a:avLst/>
          </a:prstGeom>
        </p:spPr>
      </p:pic>
      <p:sp>
        <p:nvSpPr>
          <p:cNvPr id="524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PROTECTORES DIFERENCIALES</a:t>
            </a:r>
          </a:p>
        </p:txBody>
      </p:sp>
      <p:sp>
        <p:nvSpPr>
          <p:cNvPr id="524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Selección del diferencial</a:t>
            </a:r>
          </a:p>
        </p:txBody>
      </p:sp>
      <p:sp>
        <p:nvSpPr>
          <p:cNvPr id="5243"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5244"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5245"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77</a:t>
            </a:r>
          </a:p>
        </p:txBody>
      </p:sp>
    </p:spTree>
    <p:extLst>
      <p:ext uri="{BB962C8B-B14F-4D97-AF65-F5344CB8AC3E}">
        <p14:creationId xmlns:p14="http://schemas.microsoft.com/office/powerpoint/2010/main" val="13285667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388" name="Picture 4" descr="Resultado de imagen para uso de protector diferencial en bt">
            <a:extLst>
              <a:ext uri="{FF2B5EF4-FFF2-40B4-BE49-F238E27FC236}">
                <a16:creationId xmlns:a16="http://schemas.microsoft.com/office/drawing/2014/main" id="{0B18A565-A0FE-406A-B51E-AEEBECF911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7688" y="4230492"/>
            <a:ext cx="3292023" cy="20331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6392" name="Picture 8" descr="Resultado de imagen para transformadores reductores 220 a 24 v">
            <a:extLst>
              <a:ext uri="{FF2B5EF4-FFF2-40B4-BE49-F238E27FC236}">
                <a16:creationId xmlns:a16="http://schemas.microsoft.com/office/drawing/2014/main" id="{6DE8E74A-FA0C-4D47-B83C-8CA6784EE9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7688" y="1417320"/>
            <a:ext cx="3292023" cy="25388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639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PROTECTORES DIFERENCIALES</a:t>
            </a:r>
          </a:p>
        </p:txBody>
      </p:sp>
      <p:sp>
        <p:nvSpPr>
          <p:cNvPr id="1639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Protección contra tensiones peligrosas</a:t>
            </a:r>
          </a:p>
        </p:txBody>
      </p:sp>
      <p:sp>
        <p:nvSpPr>
          <p:cNvPr id="16395" name="Cuerpo"/>
          <p:cNvSpPr txBox="1"/>
          <p:nvPr/>
        </p:nvSpPr>
        <p:spPr>
          <a:xfrm>
            <a:off x="548640" y="1463040"/>
            <a:ext cx="4023360" cy="2849879"/>
          </a:xfrm>
          <a:prstGeom prst="rect">
            <a:avLst/>
          </a:prstGeom>
          <a:noFill/>
        </p:spPr>
        <p:txBody>
          <a:bodyPr wrap="square" lIns="0" rIns="0" tIns="0" bIns="0">
            <a:spAutoFit/>
          </a:bodyPr>
          <a:lstStyle/>
          <a:p>
            <a:pPr>
              <a:spcAft>
                <a:spcPts val="800"/>
              </a:spcAft>
            </a:pPr>
            <a:r>
              <a:rPr sz="1600" b="0">
                <a:solidFill>
                  <a:srgbClr val="222233"/>
                </a:solidFill>
                <a:latin typeface="Calibri"/>
              </a:rPr>
              <a:t>Según el DS 8, RIC N° 5:</a:t>
            </a:r>
          </a:p>
          <a:p>
            <a:pPr marL="256032" indent="-256032">
              <a:spcAft>
                <a:spcPts val="800"/>
              </a:spcAft>
              <a:buClr>
                <a:srgbClr val="6A4C9C"/>
              </a:buClr>
              <a:buFont typeface="Arial"/>
              <a:buChar char="•"/>
            </a:pPr>
            <a:r>
              <a:rPr sz="1600" b="0">
                <a:solidFill>
                  <a:srgbClr val="222233"/>
                </a:solidFill>
                <a:latin typeface="Calibri"/>
              </a:rPr>
              <a:t>Uso de protectores diferenciales de 30 mA de sensibilidad.</a:t>
            </a:r>
          </a:p>
          <a:p>
            <a:pPr marL="256032" indent="-256032">
              <a:spcAft>
                <a:spcPts val="800"/>
              </a:spcAft>
              <a:buClr>
                <a:srgbClr val="6A4C9C"/>
              </a:buClr>
              <a:buFont typeface="Arial"/>
              <a:buChar char="•"/>
            </a:pPr>
            <a:r>
              <a:rPr sz="1600" b="0">
                <a:solidFill>
                  <a:srgbClr val="222233"/>
                </a:solidFill>
                <a:latin typeface="Calibri"/>
              </a:rPr>
              <a:t>Empleo de tensiones reducidas de seguridad:</a:t>
            </a:r>
          </a:p>
          <a:p>
            <a:pPr marL="256032" indent="-256032">
              <a:spcAft>
                <a:spcPts val="800"/>
              </a:spcAft>
              <a:buClr>
                <a:srgbClr val="6A4C9C"/>
              </a:buClr>
              <a:buFont typeface="Arial"/>
              <a:buChar char="•"/>
            </a:pPr>
            <a:r>
              <a:rPr sz="1600" b="0">
                <a:solidFill>
                  <a:srgbClr val="222233"/>
                </a:solidFill>
                <a:latin typeface="Calibri"/>
              </a:rPr>
              <a:t>50 V en ambiente seco.</a:t>
            </a:r>
          </a:p>
          <a:p>
            <a:pPr marL="256032" indent="-256032">
              <a:spcAft>
                <a:spcPts val="800"/>
              </a:spcAft>
              <a:buClr>
                <a:srgbClr val="6A4C9C"/>
              </a:buClr>
              <a:buFont typeface="Arial"/>
              <a:buChar char="•"/>
            </a:pPr>
            <a:r>
              <a:rPr sz="1600" b="0">
                <a:solidFill>
                  <a:srgbClr val="222233"/>
                </a:solidFill>
                <a:latin typeface="Calibri"/>
              </a:rPr>
              <a:t>24 V en ambiente húmedo.</a:t>
            </a:r>
          </a:p>
          <a:p>
            <a:pPr>
              <a:spcAft>
                <a:spcPts val="800"/>
              </a:spcAft>
            </a:pPr>
            <a:r>
              <a:rPr sz="1600" b="0">
                <a:solidFill>
                  <a:srgbClr val="222233"/>
                </a:solidFill>
                <a:latin typeface="Calibri"/>
              </a:rPr>
              <a:t>Estas tensiones son los voltajes de seguridad permitidos en corriente alterna.</a:t>
            </a:r>
          </a:p>
        </p:txBody>
      </p:sp>
      <p:sp>
        <p:nvSpPr>
          <p:cNvPr id="16396"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639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639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78</a:t>
            </a:r>
          </a:p>
        </p:txBody>
      </p:sp>
    </p:spTree>
    <p:extLst>
      <p:ext uri="{BB962C8B-B14F-4D97-AF65-F5344CB8AC3E}">
        <p14:creationId xmlns:p14="http://schemas.microsoft.com/office/powerpoint/2010/main" val="6715643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5BF0487-8FC2-95ED-3500-586E775C0CBE}"/>
            </a:ext>
          </a:extLst>
        </p:cNvPr>
        <p:cNvGrpSpPr/>
        <p:nvPr/>
      </p:nvGrpSpPr>
      <p:grpSpPr>
        <a:xfrm>
          <a:off x="0" y="0"/>
          <a:ext cx="0" cy="0"/>
          <a:chOff x="0" y="0"/>
          <a:chExt cx="0" cy="0"/>
        </a:xfrm>
      </p:grpSpPr>
      <p:pic>
        <p:nvPicPr>
          <p:cNvPr id="8194" name="Picture 2" descr="Que es la ley de ohm y como se utiliza - Ingeniería Mecafenix">
            <a:extLst>
              <a:ext uri="{FF2B5EF4-FFF2-40B4-BE49-F238E27FC236}">
                <a16:creationId xmlns:a16="http://schemas.microsoft.com/office/drawing/2014/main" id="{3C1BCD23-00E1-F970-DF8D-EC11DE528CC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092" t="13267" r="5737" b="8475"/>
          <a:stretch/>
        </p:blipFill>
        <p:spPr bwMode="auto">
          <a:xfrm>
            <a:off x="1507333" y="3058159"/>
            <a:ext cx="6129332" cy="3205480"/>
          </a:xfrm>
          <a:prstGeom prst="rect">
            <a:avLst/>
          </a:prstGeom>
          <a:noFill/>
          <a:extLst>
            <a:ext uri="{909E8E84-426E-40DD-AFC4-6F175D3DCCD1}">
              <a14:hiddenFill xmlns:a14="http://schemas.microsoft.com/office/drawing/2010/main">
                <a:solidFill>
                  <a:srgbClr val="FFFFFF"/>
                </a:solidFill>
              </a14:hiddenFill>
            </a:ext>
          </a:extLst>
        </p:spPr>
      </p:pic>
      <p:sp>
        <p:nvSpPr>
          <p:cNvPr id="819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TIPOS DE CONTACTOS</a:t>
            </a:r>
          </a:p>
        </p:txBody>
      </p:sp>
      <p:sp>
        <p:nvSpPr>
          <p:cNvPr id="819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¿De qué depende la corriente?</a:t>
            </a:r>
          </a:p>
        </p:txBody>
      </p:sp>
      <p:sp>
        <p:nvSpPr>
          <p:cNvPr id="8197" name="Cuerpo"/>
          <p:cNvSpPr txBox="1"/>
          <p:nvPr/>
        </p:nvSpPr>
        <p:spPr>
          <a:xfrm>
            <a:off x="548640" y="1463040"/>
            <a:ext cx="8046720" cy="1366520"/>
          </a:xfrm>
          <a:prstGeom prst="rect">
            <a:avLst/>
          </a:prstGeom>
          <a:noFill/>
        </p:spPr>
        <p:txBody>
          <a:bodyPr wrap="square" lIns="0" rIns="0" tIns="0" bIns="0">
            <a:spAutoFit/>
          </a:bodyPr>
          <a:lstStyle/>
          <a:p>
            <a:pPr>
              <a:spcAft>
                <a:spcPts val="400"/>
              </a:spcAft>
            </a:pPr>
            <a:r>
              <a:rPr sz="1700" b="1">
                <a:solidFill>
                  <a:srgbClr val="4B2E83"/>
                </a:solidFill>
                <a:latin typeface="Calibri"/>
              </a:rPr>
              <a:t>Ley de Ohm</a:t>
            </a:r>
          </a:p>
          <a:p>
            <a:pPr>
              <a:spcAft>
                <a:spcPts val="800"/>
              </a:spcAft>
            </a:pPr>
            <a:r>
              <a:rPr sz="1600" b="0">
                <a:solidFill>
                  <a:srgbClr val="222233"/>
                </a:solidFill>
                <a:latin typeface="Calibri"/>
              </a:rPr>
              <a:t>La corriente es directamente proporcional a la tensión e inversamente proporcional a la resistencia del circuito.</a:t>
            </a:r>
          </a:p>
          <a:p>
            <a:pPr>
              <a:spcAft>
                <a:spcPts val="800"/>
              </a:spcAft>
            </a:pPr>
            <a:r>
              <a:rPr sz="1600" b="1">
                <a:solidFill>
                  <a:srgbClr val="4B2E83"/>
                </a:solidFill>
                <a:latin typeface="Calibri"/>
              </a:rPr>
              <a:t>¡El circuito es el cuerpo de la persona!</a:t>
            </a:r>
          </a:p>
        </p:txBody>
      </p:sp>
      <p:sp>
        <p:nvSpPr>
          <p:cNvPr id="8198"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819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820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79</a:t>
            </a:r>
          </a:p>
        </p:txBody>
      </p:sp>
    </p:spTree>
    <p:extLst>
      <p:ext uri="{BB962C8B-B14F-4D97-AF65-F5344CB8AC3E}">
        <p14:creationId xmlns:p14="http://schemas.microsoft.com/office/powerpoint/2010/main" val="26815639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1057C22-E4E7-16FD-6ED5-21A0F047784B}"/>
            </a:ext>
          </a:extLst>
        </p:cNvPr>
        <p:cNvGrpSpPr/>
        <p:nvPr/>
      </p:nvGrpSpPr>
      <p:grpSpPr>
        <a:xfrm>
          <a:off x="0" y="0"/>
          <a:ext cx="0" cy="0"/>
          <a:chOff x="0" y="0"/>
          <a:chExt cx="0" cy="0"/>
        </a:xfrm>
      </p:grpSpPr>
      <p:graphicFrame>
        <p:nvGraphicFramePr>
          <p:cNvPr id="10" name="5 Tabla">
            <a:extLst>
              <a:ext uri="{FF2B5EF4-FFF2-40B4-BE49-F238E27FC236}">
                <a16:creationId xmlns:a16="http://schemas.microsoft.com/office/drawing/2014/main" id="{92A15C3E-B494-E823-8263-0B06D74684CB}"/>
              </a:ext>
            </a:extLst>
          </p:cNvPr>
          <p:cNvGraphicFramePr>
            <a:graphicFrameLocks noGrp="1"/>
          </p:cNvGraphicFramePr>
          <p:nvPr>
            <p:extLst>
              <p:ext uri="{D42A27DB-BD31-4B8C-83A1-F6EECF244321}">
                <p14:modId xmlns:p14="http://schemas.microsoft.com/office/powerpoint/2010/main" val="2863648418"/>
              </p:ext>
            </p:extLst>
          </p:nvPr>
        </p:nvGraphicFramePr>
        <p:xfrm>
          <a:off x="984481" y="2560320"/>
          <a:ext cx="7175037" cy="2194560"/>
        </p:xfrm>
        <a:graphic>
          <a:graphicData uri="http://schemas.openxmlformats.org/drawingml/2006/table">
            <a:tbl>
              <a:tblPr/>
              <a:tblGrid>
                <a:gridCol w="1574899">
                  <a:extLst>
                    <a:ext uri="{9D8B030D-6E8A-4147-A177-3AD203B41FA5}">
                      <a16:colId xmlns:a16="http://schemas.microsoft.com/office/drawing/2014/main" val="20000"/>
                    </a:ext>
                  </a:extLst>
                </a:gridCol>
                <a:gridCol w="5600138">
                  <a:extLst>
                    <a:ext uri="{9D8B030D-6E8A-4147-A177-3AD203B41FA5}">
                      <a16:colId xmlns:a16="http://schemas.microsoft.com/office/drawing/2014/main" val="20001"/>
                    </a:ext>
                  </a:extLst>
                </a:gridCol>
              </a:tblGrid>
              <a:tr h="2743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300" b="1" i="0" u="none" strike="noStrike" cap="none" normalizeH="0" baseline="0" dirty="0">
                          <a:ln>
                            <a:noFill/>
                          </a:ln>
                          <a:solidFill>
                            <a:srgbClr val="FFFFFF"/>
                          </a:solidFill>
                          <a:effectLst/>
                          <a:latin typeface="Calibri" charset="0"/>
                          <a:ea typeface="ＭＳ Ｐゴシック" charset="0"/>
                          <a:cs typeface="Arial" charset="0"/>
                        </a:rPr>
                        <a:t>INTENSIDAD</a:t>
                      </a: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4B2E8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C" sz="1300" b="1" i="0" u="none" strike="noStrike" cap="none" normalizeH="0" baseline="0" dirty="0">
                          <a:ln>
                            <a:noFill/>
                          </a:ln>
                          <a:solidFill>
                            <a:srgbClr val="FFFFFF"/>
                          </a:solidFill>
                          <a:effectLst/>
                          <a:latin typeface="Calibri" charset="0"/>
                          <a:ea typeface="ＭＳ Ｐゴシック" charset="0"/>
                          <a:cs typeface="Arial" charset="0"/>
                        </a:rPr>
                        <a:t>EFECTOS FISIOLOGICOS QUE SE OBSERVAN EN CONDICIONES NORMALES</a:t>
                      </a:r>
                      <a:endParaRPr kumimoji="0" lang="es-ES" sz="1400" b="1" i="0" u="none" strike="noStrike" cap="none" normalizeH="0" baseline="0" dirty="0">
                        <a:ln>
                          <a:noFill/>
                        </a:ln>
                        <a:solidFill>
                          <a:srgbClr val="FFFFFF"/>
                        </a:solidFill>
                        <a:effectLst/>
                        <a:latin typeface="Arial" charset="0"/>
                        <a:ea typeface="ＭＳ Ｐゴシック" charset="0"/>
                        <a:cs typeface="Arial" charset="0"/>
                      </a:endParaRP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4B2E83"/>
                    </a:solidFill>
                  </a:tcPr>
                </a:tc>
                <a:extLst>
                  <a:ext uri="{0D108BD9-81ED-4DB2-BD59-A6C34878D82A}">
                    <a16:rowId xmlns:a16="http://schemas.microsoft.com/office/drawing/2014/main" val="10000"/>
                  </a:ext>
                </a:extLst>
              </a:tr>
              <a:tr h="2743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300" i="0" u="none" strike="noStrike" cap="none" normalizeH="0" baseline="0">
                          <a:ln>
                            <a:noFill/>
                          </a:ln>
                          <a:solidFill>
                            <a:srgbClr val="222233"/>
                          </a:solidFill>
                          <a:effectLst/>
                          <a:latin typeface="Calibri" charset="0"/>
                          <a:ea typeface="ＭＳ Ｐゴシック" charset="0"/>
                        </a:rPr>
                        <a:t>0 – 0.5 mA</a:t>
                      </a: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1ECF8"/>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C" sz="1300" i="0" u="none" strike="noStrike" cap="none" normalizeH="0" baseline="0">
                          <a:ln>
                            <a:noFill/>
                          </a:ln>
                          <a:solidFill>
                            <a:srgbClr val="222233"/>
                          </a:solidFill>
                          <a:effectLst/>
                          <a:latin typeface="Calibri" charset="0"/>
                          <a:ea typeface="ＭＳ Ｐゴシック" charset="0"/>
                          <a:cs typeface="Arial" charset="0"/>
                        </a:rPr>
                        <a:t>No se observan sensaciones ni efectos. El umbral de percepción se sitúa en 0,5 mA.</a:t>
                      </a:r>
                      <a:endParaRPr kumimoji="0" lang="es-ES" sz="1600" b="0" i="0" u="none" strike="noStrike" cap="none" normalizeH="0" baseline="0">
                        <a:ln>
                          <a:noFill/>
                        </a:ln>
                        <a:solidFill>
                          <a:srgbClr val="000000"/>
                        </a:solidFill>
                        <a:effectLst/>
                        <a:latin typeface="Arial" charset="0"/>
                        <a:ea typeface="ＭＳ Ｐゴシック" charset="0"/>
                        <a:cs typeface="Arial" charset="0"/>
                      </a:endParaRP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1ECF8"/>
                    </a:solidFill>
                  </a:tcPr>
                </a:tc>
                <a:extLst>
                  <a:ext uri="{0D108BD9-81ED-4DB2-BD59-A6C34878D82A}">
                    <a16:rowId xmlns:a16="http://schemas.microsoft.com/office/drawing/2014/main" val="10001"/>
                  </a:ext>
                </a:extLst>
              </a:tr>
              <a:tr h="2743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300" i="0" u="none" strike="noStrike" cap="none" normalizeH="0" baseline="0" dirty="0">
                          <a:ln>
                            <a:noFill/>
                          </a:ln>
                          <a:solidFill>
                            <a:srgbClr val="222233"/>
                          </a:solidFill>
                          <a:effectLst/>
                          <a:latin typeface="Calibri" charset="0"/>
                          <a:ea typeface="ＭＳ Ｐゴシック" charset="0"/>
                        </a:rPr>
                        <a:t>0.5 – 10mA</a:t>
                      </a: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C" sz="1300" i="0" u="none" strike="noStrike" cap="none" normalizeH="0" baseline="0" dirty="0">
                          <a:ln>
                            <a:noFill/>
                          </a:ln>
                          <a:solidFill>
                            <a:srgbClr val="222233"/>
                          </a:solidFill>
                          <a:effectLst/>
                          <a:latin typeface="Calibri" charset="0"/>
                          <a:ea typeface="ＭＳ Ｐゴシック" charset="0"/>
                          <a:cs typeface="Arial" charset="0"/>
                        </a:rPr>
                        <a:t>Calambres y movimientos reflejos musculares. El umbral de no soltar se sitúa en 10 </a:t>
                      </a:r>
                      <a:r>
                        <a:rPr kumimoji="0" lang="es-EC" sz="1300" i="0" u="none" strike="noStrike" cap="none" normalizeH="0" baseline="0" dirty="0" err="1">
                          <a:ln>
                            <a:noFill/>
                          </a:ln>
                          <a:solidFill>
                            <a:srgbClr val="222233"/>
                          </a:solidFill>
                          <a:effectLst/>
                          <a:latin typeface="Calibri" charset="0"/>
                          <a:ea typeface="ＭＳ Ｐゴシック" charset="0"/>
                          <a:cs typeface="Arial" charset="0"/>
                        </a:rPr>
                        <a:t>mA.</a:t>
                      </a:r>
                      <a:endParaRPr kumimoji="0" lang="es-ES" sz="1600" b="0" i="0" u="none" strike="noStrike" cap="none" normalizeH="0" baseline="0" dirty="0">
                        <a:ln>
                          <a:noFill/>
                        </a:ln>
                        <a:solidFill>
                          <a:srgbClr val="000000"/>
                        </a:solidFill>
                        <a:effectLst/>
                        <a:latin typeface="Arial" charset="0"/>
                        <a:ea typeface="ＭＳ Ｐゴシック" charset="0"/>
                        <a:cs typeface="Arial" charset="0"/>
                      </a:endParaRP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743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300" i="0" u="none" strike="noStrike" cap="none" normalizeH="0" baseline="0" dirty="0">
                          <a:ln>
                            <a:noFill/>
                          </a:ln>
                          <a:solidFill>
                            <a:srgbClr val="222233"/>
                          </a:solidFill>
                          <a:effectLst/>
                          <a:latin typeface="Calibri" charset="0"/>
                          <a:ea typeface="ＭＳ Ｐゴシック" charset="0"/>
                        </a:rPr>
                        <a:t>10 – 25mA</a:t>
                      </a: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1ECF8"/>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C" sz="1300" i="0" u="none" strike="noStrike" cap="none" normalizeH="0" baseline="0" dirty="0">
                          <a:ln>
                            <a:noFill/>
                          </a:ln>
                          <a:solidFill>
                            <a:srgbClr val="222233"/>
                          </a:solidFill>
                          <a:effectLst/>
                          <a:latin typeface="Calibri" charset="0"/>
                          <a:ea typeface="ＭＳ Ｐゴシック" charset="0"/>
                          <a:cs typeface="Arial" charset="0"/>
                        </a:rPr>
                        <a:t>Contracciones musculares. Endurecimiento de brazos y piernas con dificultad de soltar objetos. Aumento de la presión arterial y dificultades respiratorias.</a:t>
                      </a:r>
                      <a:endParaRPr kumimoji="0" lang="es-ES" sz="1600" b="0" i="0" u="none" strike="noStrike" cap="none" normalizeH="0" baseline="0" dirty="0">
                        <a:ln>
                          <a:noFill/>
                        </a:ln>
                        <a:solidFill>
                          <a:srgbClr val="000000"/>
                        </a:solidFill>
                        <a:effectLst/>
                        <a:latin typeface="Arial" charset="0"/>
                        <a:ea typeface="ＭＳ Ｐゴシック" charset="0"/>
                        <a:cs typeface="Arial" charset="0"/>
                      </a:endParaRP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1ECF8"/>
                    </a:solidFill>
                  </a:tcPr>
                </a:tc>
                <a:extLst>
                  <a:ext uri="{0D108BD9-81ED-4DB2-BD59-A6C34878D82A}">
                    <a16:rowId xmlns:a16="http://schemas.microsoft.com/office/drawing/2014/main" val="10003"/>
                  </a:ext>
                </a:extLst>
              </a:tr>
              <a:tr h="2743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300" i="0" u="none" strike="noStrike" cap="none" normalizeH="0" baseline="0">
                          <a:ln>
                            <a:noFill/>
                          </a:ln>
                          <a:solidFill>
                            <a:srgbClr val="222233"/>
                          </a:solidFill>
                          <a:effectLst/>
                          <a:latin typeface="Calibri" charset="0"/>
                          <a:ea typeface="ＭＳ Ｐゴシック" charset="0"/>
                        </a:rPr>
                        <a:t>25 – 40 mA</a:t>
                      </a: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C" sz="1300" i="0" u="none" strike="noStrike" cap="none" normalizeH="0" baseline="0" dirty="0">
                          <a:ln>
                            <a:noFill/>
                          </a:ln>
                          <a:solidFill>
                            <a:srgbClr val="222233"/>
                          </a:solidFill>
                          <a:effectLst/>
                          <a:latin typeface="Calibri" charset="0"/>
                          <a:ea typeface="ＭＳ Ｐゴシック" charset="0"/>
                          <a:cs typeface="Arial" charset="0"/>
                        </a:rPr>
                        <a:t>Fuerte tetanización. Irregularidades cardiacas. Quemaduras. Asfixias a partir de 4 segundos.</a:t>
                      </a:r>
                      <a:endParaRPr kumimoji="0" lang="es-ES" sz="1600" b="0" i="0" u="none" strike="noStrike" cap="none" normalizeH="0" baseline="0" dirty="0">
                        <a:ln>
                          <a:noFill/>
                        </a:ln>
                        <a:solidFill>
                          <a:srgbClr val="000000"/>
                        </a:solidFill>
                        <a:effectLst/>
                        <a:latin typeface="Arial" charset="0"/>
                        <a:ea typeface="ＭＳ Ｐゴシック" charset="0"/>
                        <a:cs typeface="Arial" charset="0"/>
                      </a:endParaRP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2743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300" i="0" u="none" strike="noStrike" cap="none" normalizeH="0" baseline="0">
                          <a:ln>
                            <a:noFill/>
                          </a:ln>
                          <a:solidFill>
                            <a:srgbClr val="222233"/>
                          </a:solidFill>
                          <a:effectLst/>
                          <a:latin typeface="Calibri" charset="0"/>
                          <a:ea typeface="ＭＳ Ｐゴシック" charset="0"/>
                        </a:rPr>
                        <a:t>40 –100mA</a:t>
                      </a: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1ECF8"/>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C" sz="1300" i="0" u="none" strike="noStrike" cap="none" normalizeH="0" baseline="0">
                          <a:ln>
                            <a:noFill/>
                          </a:ln>
                          <a:solidFill>
                            <a:srgbClr val="222233"/>
                          </a:solidFill>
                          <a:effectLst/>
                          <a:latin typeface="Calibri" charset="0"/>
                          <a:ea typeface="ＭＳ Ｐゴシック" charset="0"/>
                          <a:cs typeface="Arial" charset="0"/>
                        </a:rPr>
                        <a:t>Efectos anteriores con mayor intensidad y gravedad. Fibrilación y arritmias cardiacas.</a:t>
                      </a:r>
                      <a:endParaRPr kumimoji="0" lang="es-ES" sz="1600" b="0" i="0" u="none" strike="noStrike" cap="none" normalizeH="0" baseline="0">
                        <a:ln>
                          <a:noFill/>
                        </a:ln>
                        <a:solidFill>
                          <a:srgbClr val="000000"/>
                        </a:solidFill>
                        <a:effectLst/>
                        <a:latin typeface="Arial" charset="0"/>
                        <a:ea typeface="ＭＳ Ｐゴシック" charset="0"/>
                        <a:cs typeface="Arial" charset="0"/>
                      </a:endParaRP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1ECF8"/>
                    </a:solidFill>
                  </a:tcPr>
                </a:tc>
                <a:extLst>
                  <a:ext uri="{0D108BD9-81ED-4DB2-BD59-A6C34878D82A}">
                    <a16:rowId xmlns:a16="http://schemas.microsoft.com/office/drawing/2014/main" val="10005"/>
                  </a:ext>
                </a:extLst>
              </a:tr>
              <a:tr h="2743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300" i="0" u="none" strike="noStrike" cap="none" normalizeH="0" baseline="0" dirty="0">
                          <a:ln>
                            <a:noFill/>
                          </a:ln>
                          <a:solidFill>
                            <a:srgbClr val="222233"/>
                          </a:solidFill>
                          <a:effectLst/>
                          <a:latin typeface="Calibri" charset="0"/>
                          <a:ea typeface="ＭＳ Ｐゴシック" charset="0"/>
                        </a:rPr>
                        <a:t> 1 A</a:t>
                      </a: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C" sz="1300" i="0" u="none" strike="noStrike" cap="none" normalizeH="0" baseline="0">
                          <a:ln>
                            <a:noFill/>
                          </a:ln>
                          <a:solidFill>
                            <a:srgbClr val="222233"/>
                          </a:solidFill>
                          <a:effectLst/>
                          <a:latin typeface="Calibri" charset="0"/>
                          <a:ea typeface="ＭＳ Ｐゴシック" charset="0"/>
                          <a:cs typeface="Arial" charset="0"/>
                        </a:rPr>
                        <a:t>Fibrilación y paro cardiaco. Quemaduras muy graves. Alto riesgo de muerte.</a:t>
                      </a:r>
                      <a:endParaRPr kumimoji="0" lang="es-ES" sz="1600" b="0" i="0" u="none" strike="noStrike" cap="none" normalizeH="0" baseline="0">
                        <a:ln>
                          <a:noFill/>
                        </a:ln>
                        <a:solidFill>
                          <a:srgbClr val="000000"/>
                        </a:solidFill>
                        <a:effectLst/>
                        <a:latin typeface="Arial" charset="0"/>
                        <a:ea typeface="ＭＳ Ｐゴシック" charset="0"/>
                        <a:cs typeface="Arial" charset="0"/>
                      </a:endParaRP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2743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300" i="0" u="none" strike="noStrike" cap="none" normalizeH="0" baseline="0" dirty="0">
                          <a:ln>
                            <a:noFill/>
                          </a:ln>
                          <a:solidFill>
                            <a:srgbClr val="222233"/>
                          </a:solidFill>
                          <a:effectLst/>
                          <a:latin typeface="Calibri" charset="0"/>
                          <a:ea typeface="ＭＳ Ｐゴシック" charset="0"/>
                        </a:rPr>
                        <a:t>1 – 5 A</a:t>
                      </a: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1ECF8"/>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C" sz="1300" i="0" u="none" strike="noStrike" cap="none" normalizeH="0" baseline="0" dirty="0">
                          <a:ln>
                            <a:noFill/>
                          </a:ln>
                          <a:solidFill>
                            <a:srgbClr val="222233"/>
                          </a:solidFill>
                          <a:effectLst/>
                          <a:latin typeface="Calibri" charset="0"/>
                          <a:ea typeface="ＭＳ Ｐゴシック" charset="0"/>
                          <a:cs typeface="Arial" charset="0"/>
                        </a:rPr>
                        <a:t>Quemaduras muy graves. Parada cardiaca con elevada probabilidad de muerte.</a:t>
                      </a:r>
                      <a:endParaRPr kumimoji="0" lang="es-ES" sz="1600" b="0" i="0" u="none" strike="noStrike" cap="none" normalizeH="0" baseline="0" dirty="0">
                        <a:ln>
                          <a:noFill/>
                        </a:ln>
                        <a:solidFill>
                          <a:srgbClr val="000000"/>
                        </a:solidFill>
                        <a:effectLst/>
                        <a:latin typeface="Arial" charset="0"/>
                        <a:ea typeface="ＭＳ Ｐゴシック" charset="0"/>
                        <a:cs typeface="Arial" charset="0"/>
                      </a:endParaRPr>
                    </a:p>
                  </a:txBody>
                  <a:tcPr horzOverflow="overflow" marL="73152" marR="7315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1ECF8"/>
                    </a:solidFill>
                  </a:tcPr>
                </a:tc>
                <a:extLst>
                  <a:ext uri="{0D108BD9-81ED-4DB2-BD59-A6C34878D82A}">
                    <a16:rowId xmlns:a16="http://schemas.microsoft.com/office/drawing/2014/main" val="10007"/>
                  </a:ext>
                </a:extLst>
              </a:tr>
            </a:tbl>
          </a:graphicData>
        </a:graphic>
      </p:graphicFrame>
      <p:sp>
        <p:nvSpPr>
          <p:cNvPr id="1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TIPOS DE CONTACTOS</a:t>
            </a:r>
          </a:p>
        </p:txBody>
      </p:sp>
      <p:sp>
        <p:nvSpPr>
          <p:cNvPr id="1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Efectos de la corriente en el cuerpo</a:t>
            </a:r>
          </a:p>
        </p:txBody>
      </p:sp>
      <p:sp>
        <p:nvSpPr>
          <p:cNvPr id="13"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4"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5"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80</a:t>
            </a:r>
          </a:p>
        </p:txBody>
      </p:sp>
    </p:spTree>
    <p:extLst>
      <p:ext uri="{BB962C8B-B14F-4D97-AF65-F5344CB8AC3E}">
        <p14:creationId xmlns:p14="http://schemas.microsoft.com/office/powerpoint/2010/main" val="14637290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182BAA-4662-2E4A-0DD2-D36E23A386E8}"/>
            </a:ext>
          </a:extLst>
        </p:cNvPr>
        <p:cNvGrpSpPr/>
        <p:nvPr/>
      </p:nvGrpSpPr>
      <p:grpSpPr>
        <a:xfrm>
          <a:off x="0" y="0"/>
          <a:ext cx="0" cy="0"/>
          <a:chOff x="0" y="0"/>
          <a:chExt cx="0" cy="0"/>
        </a:xfrm>
      </p:grpSpPr>
      <p:pic>
        <p:nvPicPr>
          <p:cNvPr id="9218" name="Picture 2" descr="Distancia Mínima de Seguridad - DMS">
            <a:extLst>
              <a:ext uri="{FF2B5EF4-FFF2-40B4-BE49-F238E27FC236}">
                <a16:creationId xmlns:a16="http://schemas.microsoft.com/office/drawing/2014/main" id="{39A1CB35-5542-188C-5D8A-F96A9F7D87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9503" y="2672080"/>
            <a:ext cx="6384993" cy="3591560"/>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921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DISTANCIAS DE SEGURIDAD</a:t>
            </a:r>
          </a:p>
        </p:txBody>
      </p:sp>
      <p:sp>
        <p:nvSpPr>
          <p:cNvPr id="922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Distancias de seguridad</a:t>
            </a:r>
          </a:p>
        </p:txBody>
      </p:sp>
      <p:sp>
        <p:nvSpPr>
          <p:cNvPr id="9221" name="Cuerpo"/>
          <p:cNvSpPr txBox="1"/>
          <p:nvPr/>
        </p:nvSpPr>
        <p:spPr>
          <a:xfrm>
            <a:off x="548640" y="1463040"/>
            <a:ext cx="8046720" cy="980440"/>
          </a:xfrm>
          <a:prstGeom prst="rect">
            <a:avLst/>
          </a:prstGeom>
          <a:noFill/>
        </p:spPr>
        <p:txBody>
          <a:bodyPr wrap="square" lIns="0" rIns="0" tIns="0" bIns="0">
            <a:spAutoFit/>
          </a:bodyPr>
          <a:lstStyle/>
          <a:p>
            <a:pPr>
              <a:spcAft>
                <a:spcPts val="800"/>
              </a:spcAft>
            </a:pPr>
            <a:r>
              <a:rPr sz="1600" b="0">
                <a:solidFill>
                  <a:srgbClr val="222233"/>
                </a:solidFill>
                <a:latin typeface="Calibri"/>
              </a:rPr>
              <a:t>La posibilidad de hacer contacto con la red tiene directa relación con la distancia del cuerpo humano a la línea eléctrica.</a:t>
            </a:r>
          </a:p>
          <a:p>
            <a:pPr>
              <a:spcAft>
                <a:spcPts val="800"/>
              </a:spcAft>
            </a:pPr>
            <a:r>
              <a:rPr sz="1600" b="1">
                <a:solidFill>
                  <a:srgbClr val="4B2E83"/>
                </a:solidFill>
                <a:latin typeface="Calibri"/>
              </a:rPr>
              <a:t>Debemos respetar las distancias de seguridad.</a:t>
            </a:r>
          </a:p>
        </p:txBody>
      </p:sp>
      <p:sp>
        <p:nvSpPr>
          <p:cNvPr id="9222"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22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922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81</a:t>
            </a:r>
          </a:p>
        </p:txBody>
      </p:sp>
    </p:spTree>
    <p:extLst>
      <p:ext uri="{BB962C8B-B14F-4D97-AF65-F5344CB8AC3E}">
        <p14:creationId xmlns:p14="http://schemas.microsoft.com/office/powerpoint/2010/main" val="33727897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3C03A2-F714-0DA9-1CFA-445387C034D4}"/>
            </a:ext>
          </a:extLst>
        </p:cNvPr>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DISTANCIAS DE SEGURIDAD</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Criterios de diseño: RPTD N° 13</a:t>
            </a:r>
          </a:p>
        </p:txBody>
      </p:sp>
      <p:sp>
        <p:nvSpPr>
          <p:cNvPr id="4" name="Rounded Rectangle 3"/>
          <p:cNvSpPr/>
          <p:nvPr/>
        </p:nvSpPr>
        <p:spPr>
          <a:xfrm>
            <a:off x="548640" y="1508760"/>
            <a:ext cx="8046720" cy="244348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Gavel_w.png"/>
          <p:cNvPicPr>
            <a:picLocks noChangeAspect="1"/>
          </p:cNvPicPr>
          <p:nvPr/>
        </p:nvPicPr>
        <p:blipFill>
          <a:blip r:embed="rId3"/>
          <a:stretch>
            <a:fillRect/>
          </a:stretch>
        </p:blipFill>
        <p:spPr>
          <a:xfrm>
            <a:off x="1077163" y="2037283"/>
            <a:ext cx="451713" cy="451713"/>
          </a:xfrm>
          <a:prstGeom prst="rect">
            <a:avLst/>
          </a:prstGeom>
        </p:spPr>
      </p:pic>
      <p:sp>
        <p:nvSpPr>
          <p:cNvPr id="7" name="Cuerpo"/>
          <p:cNvSpPr txBox="1"/>
          <p:nvPr/>
        </p:nvSpPr>
        <p:spPr>
          <a:xfrm>
            <a:off x="2057400" y="1874519"/>
            <a:ext cx="6263640" cy="1711960"/>
          </a:xfrm>
          <a:prstGeom prst="rect">
            <a:avLst/>
          </a:prstGeom>
          <a:noFill/>
        </p:spPr>
        <p:txBody>
          <a:bodyPr wrap="square" lIns="0" rIns="0" tIns="0" bIns="0">
            <a:spAutoFit/>
          </a:bodyPr>
          <a:lstStyle/>
          <a:p>
            <a:pPr>
              <a:spcAft>
                <a:spcPts val="800"/>
              </a:spcAft>
            </a:pPr>
            <a:r>
              <a:rPr sz="1600" b="0">
                <a:solidFill>
                  <a:srgbClr val="222233"/>
                </a:solidFill>
                <a:latin typeface="Calibri"/>
              </a:rPr>
              <a:t>Según el pliego RPTD N° 13, líneas eléctricas de media y baja tensión:</a:t>
            </a:r>
          </a:p>
          <a:p>
            <a:pPr>
              <a:spcAft>
                <a:spcPts val="800"/>
              </a:spcAft>
            </a:pPr>
            <a:r>
              <a:rPr sz="1600" b="0">
                <a:solidFill>
                  <a:srgbClr val="222233"/>
                </a:solidFill>
                <a:latin typeface="Calibri"/>
              </a:rPr>
              <a:t>Donde los conductores de líneas de media o baja tensión y de tensión reducida se cruzan entre sí o están en las mismas estructuras, los conductores de media o baja tensión deben instalarse en el nivel más alto.</a:t>
            </a:r>
          </a:p>
        </p:txBody>
      </p:sp>
      <p:sp>
        <p:nvSpPr>
          <p:cNvPr id="8"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82</a:t>
            </a:r>
          </a:p>
        </p:txBody>
      </p:sp>
    </p:spTree>
    <p:extLst>
      <p:ext uri="{BB962C8B-B14F-4D97-AF65-F5344CB8AC3E}">
        <p14:creationId xmlns:p14="http://schemas.microsoft.com/office/powerpoint/2010/main" val="15841890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C6A0D2E-D61F-5866-3CA0-510A1048082E}"/>
            </a:ext>
          </a:extLst>
        </p:cNvPr>
        <p:cNvGrpSpPr/>
        <p:nvPr/>
      </p:nvGrpSpPr>
      <p:grpSpPr>
        <a:xfrm>
          <a:off x="0" y="0"/>
          <a:ext cx="0" cy="0"/>
          <a:chOff x="0" y="0"/>
          <a:chExt cx="0" cy="0"/>
        </a:xfrm>
      </p:grpSpPr>
      <p:pic>
        <p:nvPicPr>
          <p:cNvPr id="6146" name="Picture 2" descr="Revista ElectroIndustria -">
            <a:extLst>
              <a:ext uri="{FF2B5EF4-FFF2-40B4-BE49-F238E27FC236}">
                <a16:creationId xmlns:a16="http://schemas.microsoft.com/office/drawing/2014/main" id="{7C4A2907-FDD4-722E-757B-6D8EB88571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5161" y="2814319"/>
            <a:ext cx="2453676" cy="3138424"/>
          </a:xfrm>
          <a:prstGeom prst="rect">
            <a:avLst/>
          </a:prstGeom>
          <a:noFill/>
          <a:extLst>
            <a:ext uri="{909E8E84-426E-40DD-AFC4-6F175D3DCCD1}">
              <a14:hiddenFill xmlns:a14="http://schemas.microsoft.com/office/drawing/2010/main">
                <a:solidFill>
                  <a:srgbClr val="FFFFFF"/>
                </a:solidFill>
              </a14:hiddenFill>
            </a:ext>
          </a:extLst>
        </p:spPr>
      </p:pic>
      <p:sp>
        <p:nvSpPr>
          <p:cNvPr id="614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DISTANCIAS DE SEGURIDAD</a:t>
            </a:r>
          </a:p>
        </p:txBody>
      </p:sp>
      <p:sp>
        <p:nvSpPr>
          <p:cNvPr id="614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¿Qué es la distancia de seguridad?</a:t>
            </a:r>
          </a:p>
        </p:txBody>
      </p:sp>
      <p:sp>
        <p:nvSpPr>
          <p:cNvPr id="6149" name="Cuerpo"/>
          <p:cNvSpPr txBox="1"/>
          <p:nvPr/>
        </p:nvSpPr>
        <p:spPr>
          <a:xfrm>
            <a:off x="548640" y="1463040"/>
            <a:ext cx="8046720" cy="1122680"/>
          </a:xfrm>
          <a:prstGeom prst="rect">
            <a:avLst/>
          </a:prstGeom>
          <a:noFill/>
        </p:spPr>
        <p:txBody>
          <a:bodyPr wrap="square" lIns="0" rIns="0" tIns="0" bIns="0">
            <a:spAutoFit/>
          </a:bodyPr>
          <a:lstStyle/>
          <a:p>
            <a:pPr>
              <a:spcAft>
                <a:spcPts val="800"/>
              </a:spcAft>
            </a:pPr>
            <a:r>
              <a:rPr sz="1600" b="0">
                <a:solidFill>
                  <a:srgbClr val="222233"/>
                </a:solidFill>
                <a:latin typeface="Calibri"/>
              </a:rPr>
              <a:t>Es la mínima distancia que debe mantener cualquier parte del cuerpo del trabajador, o elemento conductor que manipule, respecto de los circuitos energizados circundantes, por ejemplo al instalar apoyos en postes con líneas de tensión reducida.</a:t>
            </a:r>
          </a:p>
        </p:txBody>
      </p:sp>
      <p:sp>
        <p:nvSpPr>
          <p:cNvPr id="6150" name="TextBox 6149"/>
          <p:cNvSpPr txBox="1"/>
          <p:nvPr/>
        </p:nvSpPr>
        <p:spPr>
          <a:xfrm>
            <a:off x="3070841" y="5998464"/>
            <a:ext cx="3002316" cy="274320"/>
          </a:xfrm>
          <a:prstGeom prst="rect">
            <a:avLst/>
          </a:prstGeom>
          <a:noFill/>
        </p:spPr>
        <p:txBody>
          <a:bodyPr wrap="square" anchor="t" lIns="0" rIns="0" tIns="0" bIns="0">
            <a:spAutoFit/>
          </a:bodyPr>
          <a:lstStyle/>
          <a:p>
            <a:pPr algn="ctr"/>
            <a:r>
              <a:rPr sz="1200" b="1" i="0">
                <a:solidFill>
                  <a:srgbClr val="6A4C9C"/>
                </a:solidFill>
                <a:latin typeface="Calibri"/>
              </a:rPr>
              <a:t>Distancia de seguridad</a:t>
            </a:r>
          </a:p>
        </p:txBody>
      </p:sp>
      <p:sp>
        <p:nvSpPr>
          <p:cNvPr id="6151"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615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615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83</a:t>
            </a:r>
          </a:p>
        </p:txBody>
      </p:sp>
    </p:spTree>
    <p:extLst>
      <p:ext uri="{BB962C8B-B14F-4D97-AF65-F5344CB8AC3E}">
        <p14:creationId xmlns:p14="http://schemas.microsoft.com/office/powerpoint/2010/main" val="21443262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22F94AE-9141-84AA-0730-E0B206F4879E}"/>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CA6D518E-9050-83EF-E66F-04BBD2BE967D}"/>
              </a:ext>
            </a:extLst>
          </p:cNvPr>
          <p:cNvPicPr>
            <a:picLocks noChangeAspect="1"/>
          </p:cNvPicPr>
          <p:nvPr/>
        </p:nvPicPr>
        <p:blipFill>
          <a:blip r:embed="rId3"/>
          <a:stretch>
            <a:fillRect/>
          </a:stretch>
        </p:blipFill>
        <p:spPr>
          <a:xfrm>
            <a:off x="548640" y="2170686"/>
            <a:ext cx="8046720" cy="3339586"/>
          </a:xfrm>
          <a:prstGeom prst="rect">
            <a:avLst/>
          </a:prstGeom>
        </p:spPr>
      </p:pic>
      <p:sp>
        <p:nvSpPr>
          <p:cNvPr id="1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DISTANCIAS DE SEGURIDAD</a:t>
            </a:r>
          </a:p>
        </p:txBody>
      </p:sp>
      <p:sp>
        <p:nvSpPr>
          <p:cNvPr id="1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Distancias de seguridad</a:t>
            </a:r>
          </a:p>
        </p:txBody>
      </p:sp>
      <p:sp>
        <p:nvSpPr>
          <p:cNvPr id="14"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5"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6"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84</a:t>
            </a:r>
          </a:p>
        </p:txBody>
      </p:sp>
    </p:spTree>
    <p:extLst>
      <p:ext uri="{BB962C8B-B14F-4D97-AF65-F5344CB8AC3E}">
        <p14:creationId xmlns:p14="http://schemas.microsoft.com/office/powerpoint/2010/main" val="30325420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2E07D7-A33C-34EC-A2CB-4578EFE1E21D}"/>
            </a:ext>
          </a:extLst>
        </p:cNvPr>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A96FA30A-C2EB-3689-61D1-78AF0C6841D9}"/>
              </a:ext>
            </a:extLst>
          </p:cNvPr>
          <p:cNvGraphicFramePr>
            <a:graphicFrameLocks noGrp="1"/>
          </p:cNvGraphicFramePr>
          <p:nvPr/>
        </p:nvGraphicFramePr>
        <p:xfrm>
          <a:off x="1903445" y="1417320"/>
          <a:ext cx="5337109" cy="3822192"/>
        </p:xfrm>
        <a:graphic>
          <a:graphicData uri="http://schemas.openxmlformats.org/drawingml/2006/table">
            <a:tbl>
              <a:tblPr firstRow="1" firstCol="1" lastRow="1" lastCol="1" bandRow="1" bandCol="1"/>
              <a:tblGrid>
                <a:gridCol w="1545498">
                  <a:extLst>
                    <a:ext uri="{9D8B030D-6E8A-4147-A177-3AD203B41FA5}">
                      <a16:colId xmlns:a16="http://schemas.microsoft.com/office/drawing/2014/main" val="2606706556"/>
                    </a:ext>
                  </a:extLst>
                </a:gridCol>
                <a:gridCol w="1103489">
                  <a:extLst>
                    <a:ext uri="{9D8B030D-6E8A-4147-A177-3AD203B41FA5}">
                      <a16:colId xmlns:a16="http://schemas.microsoft.com/office/drawing/2014/main" val="3897025193"/>
                    </a:ext>
                  </a:extLst>
                </a:gridCol>
                <a:gridCol w="1332167">
                  <a:extLst>
                    <a:ext uri="{9D8B030D-6E8A-4147-A177-3AD203B41FA5}">
                      <a16:colId xmlns:a16="http://schemas.microsoft.com/office/drawing/2014/main" val="2749524994"/>
                    </a:ext>
                  </a:extLst>
                </a:gridCol>
                <a:gridCol w="1355955">
                  <a:extLst>
                    <a:ext uri="{9D8B030D-6E8A-4147-A177-3AD203B41FA5}">
                      <a16:colId xmlns:a16="http://schemas.microsoft.com/office/drawing/2014/main" val="2047410368"/>
                    </a:ext>
                  </a:extLst>
                </a:gridCol>
              </a:tblGrid>
              <a:tr h="201168">
                <a:tc gridSpan="4">
                  <a:txBody>
                    <a:bodyPr/>
                    <a:lstStyle/>
                    <a:p>
                      <a:pPr marL="487045" indent="-399415">
                        <a:spcBef>
                          <a:spcPts val="60"/>
                        </a:spcBef>
                        <a:spcAft>
                          <a:spcPts val="0"/>
                        </a:spcAft>
                      </a:pP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Límites</a:t>
                      </a:r>
                      <a:r>
                        <a:rPr lang="es-ES" sz="1000" spc="-2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de</a:t>
                      </a:r>
                      <a:r>
                        <a:rPr lang="es-ES" sz="1000" spc="-2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aproximación</a:t>
                      </a:r>
                      <a:r>
                        <a:rPr lang="es-ES" sz="1000" spc="-3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a</a:t>
                      </a:r>
                      <a:r>
                        <a:rPr lang="es-ES" sz="1000" spc="-2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"partes</a:t>
                      </a:r>
                      <a:r>
                        <a:rPr lang="es-ES" sz="1000" spc="-3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vivas"</a:t>
                      </a:r>
                      <a:r>
                        <a:rPr lang="es-ES" sz="1000" spc="-15"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para</a:t>
                      </a:r>
                      <a:r>
                        <a:rPr lang="es-ES" sz="1000" spc="-2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la</a:t>
                      </a:r>
                      <a:r>
                        <a:rPr lang="es-ES" sz="1000" spc="-2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protección</a:t>
                      </a:r>
                      <a:r>
                        <a:rPr lang="es-ES" sz="1000" spc="-3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contra</a:t>
                      </a:r>
                      <a:r>
                        <a:rPr lang="es-ES" sz="1000" spc="-2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el shock eléctrico en sistema eléctrico de corriente alterna</a:t>
                      </a:r>
                      <a:endParaRPr lang="es-CL" sz="800" dirty="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B2E83"/>
                    </a:solidFill>
                  </a:tcPr>
                </a:tc>
                <a:tc hMerge="1">
                  <a:txBody>
                    <a:bodyPr/>
                    <a:lstStyle/>
                    <a:p>
                      <a:endParaRPr lang="es-CL"/>
                    </a:p>
                  </a:txBody>
                  <a:tcPr marL="73152" marR="73152" marT="27432" marB="27432" anchor="ctr">
                    <a:solidFill>
                      <a:srgbClr val="4B2E83"/>
                    </a:solidFill>
                  </a:tcPr>
                </a:tc>
                <a:tc hMerge="1">
                  <a:txBody>
                    <a:bodyPr/>
                    <a:lstStyle/>
                    <a:p>
                      <a:endParaRPr lang="es-CL"/>
                    </a:p>
                  </a:txBody>
                  <a:tcPr marL="73152" marR="73152" marT="27432" marB="27432" anchor="ctr">
                    <a:solidFill>
                      <a:srgbClr val="4B2E83"/>
                    </a:solidFill>
                  </a:tcPr>
                </a:tc>
                <a:tc hMerge="1">
                  <a:txBody>
                    <a:bodyPr/>
                    <a:lstStyle/>
                    <a:p>
                      <a:endParaRPr lang="es-CL"/>
                    </a:p>
                  </a:txBody>
                  <a:tcPr marL="73152" marR="73152" marT="27432" marB="27432" anchor="ctr">
                    <a:solidFill>
                      <a:srgbClr val="4B2E83"/>
                    </a:solidFill>
                  </a:tcPr>
                </a:tc>
                <a:extLst>
                  <a:ext uri="{0D108BD9-81ED-4DB2-BD59-A6C34878D82A}">
                    <a16:rowId xmlns:a16="http://schemas.microsoft.com/office/drawing/2014/main" val="3504349488"/>
                  </a:ext>
                </a:extLst>
              </a:tr>
              <a:tr h="201168">
                <a:tc gridSpan="4">
                  <a:txBody>
                    <a:bodyPr/>
                    <a:lstStyle/>
                    <a:p>
                      <a:pPr marL="1516380" indent="-1210310">
                        <a:lnSpc>
                          <a:spcPct val="100000"/>
                        </a:lnSpc>
                      </a:pP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Todas</a:t>
                      </a:r>
                      <a:r>
                        <a:rPr lang="es-ES" sz="1000" spc="-35"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las</a:t>
                      </a:r>
                      <a:r>
                        <a:rPr lang="es-ES" sz="1000" spc="-25"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dimensiones</a:t>
                      </a:r>
                      <a:r>
                        <a:rPr lang="es-ES" sz="1000" spc="-25"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son</a:t>
                      </a:r>
                      <a:r>
                        <a:rPr lang="es-ES" sz="1000" spc="-25"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distancias</a:t>
                      </a:r>
                      <a:r>
                        <a:rPr lang="es-ES" sz="1000" spc="-25"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desde</a:t>
                      </a:r>
                      <a:r>
                        <a:rPr lang="es-ES" sz="1000" spc="-35"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"partes</a:t>
                      </a:r>
                      <a:r>
                        <a:rPr lang="es-ES" sz="1000" spc="-25"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vivas"</a:t>
                      </a:r>
                      <a:r>
                        <a:rPr lang="es-ES" sz="1000" spc="-2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al trabajador (en metros)</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tc hMerge="1">
                  <a:txBody>
                    <a:bodyPr/>
                    <a:lstStyle/>
                    <a:p>
                      <a:endParaRPr lang="es-CL"/>
                    </a:p>
                  </a:txBody>
                  <a:tcPr marL="73152" marR="73152" marT="27432" marB="27432" anchor="ctr">
                    <a:solidFill>
                      <a:srgbClr val="6A4C9C"/>
                    </a:solidFill>
                  </a:tcPr>
                </a:tc>
                <a:tc hMerge="1">
                  <a:txBody>
                    <a:bodyPr/>
                    <a:lstStyle/>
                    <a:p>
                      <a:endParaRPr lang="es-CL"/>
                    </a:p>
                  </a:txBody>
                  <a:tcPr marL="73152" marR="73152" marT="27432" marB="27432" anchor="ctr">
                    <a:solidFill>
                      <a:srgbClr val="6A4C9C"/>
                    </a:solidFill>
                  </a:tcPr>
                </a:tc>
                <a:tc hMerge="1">
                  <a:txBody>
                    <a:bodyPr/>
                    <a:lstStyle/>
                    <a:p>
                      <a:endParaRPr lang="es-CL"/>
                    </a:p>
                  </a:txBody>
                  <a:tcPr marL="73152" marR="73152" marT="27432" marB="27432" anchor="ctr">
                    <a:solidFill>
                      <a:srgbClr val="6A4C9C"/>
                    </a:solidFill>
                  </a:tcPr>
                </a:tc>
                <a:extLst>
                  <a:ext uri="{0D108BD9-81ED-4DB2-BD59-A6C34878D82A}">
                    <a16:rowId xmlns:a16="http://schemas.microsoft.com/office/drawing/2014/main" val="3276464358"/>
                  </a:ext>
                </a:extLst>
              </a:tr>
              <a:tr h="201168">
                <a:tc>
                  <a:txBody>
                    <a:bodyPr/>
                    <a:lstStyle/>
                    <a:p>
                      <a:pPr marL="5715" algn="ctr">
                        <a:lnSpc>
                          <a:spcPts val="1250"/>
                        </a:lnSpc>
                      </a:pP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1</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tc>
                  <a:txBody>
                    <a:bodyPr/>
                    <a:lstStyle/>
                    <a:p>
                      <a:pPr marL="2540" algn="ctr">
                        <a:lnSpc>
                          <a:spcPts val="1250"/>
                        </a:lnSpc>
                      </a:pP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2</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tc>
                  <a:txBody>
                    <a:bodyPr/>
                    <a:lstStyle/>
                    <a:p>
                      <a:pPr marL="5715" algn="ctr">
                        <a:lnSpc>
                          <a:spcPts val="1250"/>
                        </a:lnSpc>
                      </a:pP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3</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tc>
                  <a:txBody>
                    <a:bodyPr/>
                    <a:lstStyle/>
                    <a:p>
                      <a:pPr marL="3175" algn="ctr">
                        <a:lnSpc>
                          <a:spcPts val="1250"/>
                        </a:lnSpc>
                      </a:pP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4</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extLst>
                  <a:ext uri="{0D108BD9-81ED-4DB2-BD59-A6C34878D82A}">
                    <a16:rowId xmlns:a16="http://schemas.microsoft.com/office/drawing/2014/main" val="4058278687"/>
                  </a:ext>
                </a:extLst>
              </a:tr>
              <a:tr h="201168">
                <a:tc>
                  <a:txBody>
                    <a:bodyPr/>
                    <a:lstStyle/>
                    <a:p>
                      <a:pPr marL="43815"/>
                      <a:r>
                        <a:rPr lang="es-ES" sz="1000" b="1">
                          <a:solidFill>
                            <a:srgbClr val="FFFFFF"/>
                          </a:solidFill>
                          <a:effectLst/>
                          <a:latin typeface="Calibri" panose="02020603050405020304" pitchFamily="18" charset="0"/>
                          <a:ea typeface="Arial" panose="020B0604020202020204" pitchFamily="34" charset="0"/>
                          <a:cs typeface="Arial" panose="020B0604020202020204" pitchFamily="34" charset="0"/>
                        </a:rPr>
                        <a:t> </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tc gridSpan="2">
                  <a:txBody>
                    <a:bodyPr/>
                    <a:lstStyle/>
                    <a:p>
                      <a:pPr marL="48260">
                        <a:spcBef>
                          <a:spcPts val="740"/>
                        </a:spcBef>
                        <a:spcAft>
                          <a:spcPts val="0"/>
                        </a:spcAft>
                      </a:pP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Frontera</a:t>
                      </a:r>
                      <a:r>
                        <a:rPr lang="es-ES" sz="1000" spc="-45"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aproximación</a:t>
                      </a:r>
                      <a:r>
                        <a:rPr lang="es-ES" sz="1000" spc="-45"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1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limitada</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tc hMerge="1">
                  <a:txBody>
                    <a:bodyPr/>
                    <a:lstStyle/>
                    <a:p>
                      <a:endParaRPr lang="es-CL"/>
                    </a:p>
                  </a:txBody>
                  <a:tcPr marL="73152" marR="73152" marT="27432" marB="27432" anchor="ctr">
                    <a:solidFill>
                      <a:srgbClr val="6A4C9C"/>
                    </a:solidFill>
                  </a:tcPr>
                </a:tc>
                <a:tc rowSpan="2">
                  <a:txBody>
                    <a:bodyPr/>
                    <a:lstStyle/>
                    <a:p>
                      <a:pPr marL="144145" marR="139065" indent="-635" algn="ctr">
                        <a:spcAft>
                          <a:spcPts val="0"/>
                        </a:spcAft>
                      </a:pPr>
                      <a:r>
                        <a:rPr lang="es-ES" sz="1000" spc="-1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Frontera aproximación prohibida, incluye movimientos inadvertidos</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extLst>
                  <a:ext uri="{0D108BD9-81ED-4DB2-BD59-A6C34878D82A}">
                    <a16:rowId xmlns:a16="http://schemas.microsoft.com/office/drawing/2014/main" val="2253281725"/>
                  </a:ext>
                </a:extLst>
              </a:tr>
              <a:tr h="201168">
                <a:tc>
                  <a:txBody>
                    <a:bodyPr/>
                    <a:lstStyle/>
                    <a:p>
                      <a:pPr marL="394335" indent="-280670">
                        <a:spcBef>
                          <a:spcPts val="620"/>
                        </a:spcBef>
                        <a:spcAft>
                          <a:spcPts val="0"/>
                        </a:spcAft>
                      </a:pP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Rango</a:t>
                      </a:r>
                      <a:r>
                        <a:rPr lang="es-ES" sz="1000" spc="-8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de</a:t>
                      </a:r>
                      <a:r>
                        <a:rPr lang="es-ES" sz="1000" spc="-75"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voltaje </a:t>
                      </a:r>
                      <a:r>
                        <a:rPr lang="es-ES" sz="1000" spc="-1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nominal</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tc>
                  <a:txBody>
                    <a:bodyPr/>
                    <a:lstStyle/>
                    <a:p>
                      <a:pPr marL="59055" marR="54610" algn="ctr">
                        <a:spcAft>
                          <a:spcPts val="0"/>
                        </a:spcAft>
                      </a:pP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Exposición</a:t>
                      </a:r>
                      <a:r>
                        <a:rPr lang="es-ES" sz="1000" spc="-8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a </a:t>
                      </a:r>
                      <a:r>
                        <a:rPr lang="es-ES" sz="1000" spc="-10" dirty="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conductores móviles</a:t>
                      </a:r>
                      <a:endParaRPr lang="es-CL" sz="800" dirty="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tc>
                  <a:txBody>
                    <a:bodyPr/>
                    <a:lstStyle/>
                    <a:p>
                      <a:pPr marL="150495" marR="142240" indent="-1905" algn="ctr">
                        <a:spcAft>
                          <a:spcPts val="0"/>
                        </a:spcAft>
                      </a:pP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Exposición</a:t>
                      </a:r>
                      <a:r>
                        <a:rPr lang="es-ES" sz="1000" spc="-8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a partes de circuitos</a:t>
                      </a:r>
                      <a:r>
                        <a:rPr lang="es-ES" sz="1000" spc="-8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b="1">
                          <a:solidFill>
                            <a:srgbClr val="FFFFFF"/>
                          </a:solidFill>
                          <a:effectLst/>
                          <a:latin typeface="Calibri" panose="020B0604020202020204" pitchFamily="34" charset="0"/>
                          <a:ea typeface="Arial" panose="020B0604020202020204" pitchFamily="34" charset="0"/>
                          <a:cs typeface="Times New Roman" panose="02020603050405020304" pitchFamily="18" charset="0"/>
                        </a:rPr>
                        <a:t>fijos</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A4C9C"/>
                    </a:solidFill>
                  </a:tcPr>
                </a:tc>
                <a:tc vMerge="1">
                  <a:txBody>
                    <a:bodyPr/>
                    <a:lstStyle/>
                    <a:p>
                      <a:endParaRPr lang="es-CL"/>
                    </a:p>
                  </a:txBody>
                  <a:tcPr marL="73152" marR="73152" marT="27432" marB="27432" anchor="ctr">
                    <a:solidFill>
                      <a:srgbClr val="6A4C9C"/>
                    </a:solidFill>
                  </a:tcPr>
                </a:tc>
                <a:extLst>
                  <a:ext uri="{0D108BD9-81ED-4DB2-BD59-A6C34878D82A}">
                    <a16:rowId xmlns:a16="http://schemas.microsoft.com/office/drawing/2014/main" val="634644032"/>
                  </a:ext>
                </a:extLst>
              </a:tr>
              <a:tr h="201168">
                <a:tc>
                  <a:txBody>
                    <a:bodyPr/>
                    <a:lstStyle/>
                    <a:p>
                      <a:pPr marL="45085">
                        <a:spcBef>
                          <a:spcPts val="620"/>
                        </a:spcBef>
                        <a:spcAft>
                          <a:spcPts val="0"/>
                        </a:spcAft>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0 -</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50 </a:t>
                      </a:r>
                      <a:r>
                        <a:rPr lang="es-ES" sz="1000" spc="-5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r>
                        <a:rPr lang="es-ES" sz="1000" spc="-30" dirty="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No </a:t>
                      </a:r>
                      <a:r>
                        <a:rPr lang="es-ES" sz="1000" spc="-10" dirty="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especificado</a:t>
                      </a:r>
                      <a:endParaRPr lang="es-CL" sz="800" dirty="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spcBef>
                          <a:spcPts val="620"/>
                        </a:spcBef>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No</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especificado</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180">
                        <a:spcBef>
                          <a:spcPts val="620"/>
                        </a:spcBef>
                        <a:spcAft>
                          <a:spcPts val="0"/>
                        </a:spcAft>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No</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especificado</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extLst>
                  <a:ext uri="{0D108BD9-81ED-4DB2-BD59-A6C34878D82A}">
                    <a16:rowId xmlns:a16="http://schemas.microsoft.com/office/drawing/2014/main" val="22414982"/>
                  </a:ext>
                </a:extLst>
              </a:tr>
              <a:tr h="201168">
                <a:tc>
                  <a:txBody>
                    <a:bodyPr/>
                    <a:lstStyle/>
                    <a:p>
                      <a:pPr marL="45085">
                        <a:spcBef>
                          <a:spcPts val="620"/>
                        </a:spcBef>
                        <a:spcAft>
                          <a:spcPts val="0"/>
                        </a:spcAft>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51</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V -</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300</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5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spcBef>
                          <a:spcPts val="620"/>
                        </a:spcBef>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spcBef>
                          <a:spcPts val="620"/>
                        </a:spcBef>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180" marR="62230">
                        <a:lnSpc>
                          <a:spcPct val="100000"/>
                        </a:lnSpc>
                        <a:spcAft>
                          <a:spcPts val="0"/>
                        </a:spcAft>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Evitar el </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contacto</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09078120"/>
                  </a:ext>
                </a:extLst>
              </a:tr>
              <a:tr h="201168">
                <a:tc>
                  <a:txBody>
                    <a:bodyPr/>
                    <a:lstStyle/>
                    <a:p>
                      <a:pPr marL="45085"/>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301</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V</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750</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5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r>
                        <a:rPr lang="es-ES" sz="1000" spc="-25" dirty="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3,0</a:t>
                      </a:r>
                      <a:endParaRPr lang="es-CL" sz="800" dirty="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180"/>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0,3</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extLst>
                  <a:ext uri="{0D108BD9-81ED-4DB2-BD59-A6C34878D82A}">
                    <a16:rowId xmlns:a16="http://schemas.microsoft.com/office/drawing/2014/main" val="232495240"/>
                  </a:ext>
                </a:extLst>
              </a:tr>
              <a:tr h="201168">
                <a:tc>
                  <a:txBody>
                    <a:bodyPr/>
                    <a:lstStyle/>
                    <a:p>
                      <a:pPr marL="45085"/>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751</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V -15</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r>
                        <a:rPr lang="es-ES" sz="1000" spc="-25" dirty="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3,0</a:t>
                      </a:r>
                      <a:endParaRPr lang="es-CL" sz="800" dirty="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1,5</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180"/>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0,7</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57621865"/>
                  </a:ext>
                </a:extLst>
              </a:tr>
              <a:tr h="201168">
                <a:tc>
                  <a:txBody>
                    <a:bodyPr/>
                    <a:lstStyle/>
                    <a:p>
                      <a:pPr marL="45085">
                        <a:lnSpc>
                          <a:spcPts val="1250"/>
                        </a:lnSpc>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15,1</a:t>
                      </a:r>
                      <a:r>
                        <a:rPr lang="es-ES" sz="1000" spc="-2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36</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1,8</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180">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0,8</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extLst>
                  <a:ext uri="{0D108BD9-81ED-4DB2-BD59-A6C34878D82A}">
                    <a16:rowId xmlns:a16="http://schemas.microsoft.com/office/drawing/2014/main" val="3738452111"/>
                  </a:ext>
                </a:extLst>
              </a:tr>
              <a:tr h="201168">
                <a:tc>
                  <a:txBody>
                    <a:bodyPr/>
                    <a:lstStyle/>
                    <a:p>
                      <a:pPr marL="45085">
                        <a:lnSpc>
                          <a:spcPts val="1250"/>
                        </a:lnSpc>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36,1</a:t>
                      </a:r>
                      <a:r>
                        <a:rPr lang="es-ES" sz="1000" spc="-2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46</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2,5</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180">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0,8</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98253283"/>
                  </a:ext>
                </a:extLst>
              </a:tr>
              <a:tr h="201168">
                <a:tc>
                  <a:txBody>
                    <a:bodyPr/>
                    <a:lstStyle/>
                    <a:p>
                      <a:pPr marL="45085">
                        <a:lnSpc>
                          <a:spcPts val="1250"/>
                        </a:lnSpc>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46,1</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72,5</a:t>
                      </a:r>
                      <a:r>
                        <a:rPr lang="es-ES" sz="1000" spc="-2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2,5</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180">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extLst>
                  <a:ext uri="{0D108BD9-81ED-4DB2-BD59-A6C34878D82A}">
                    <a16:rowId xmlns:a16="http://schemas.microsoft.com/office/drawing/2014/main" val="581756060"/>
                  </a:ext>
                </a:extLst>
              </a:tr>
              <a:tr h="201168">
                <a:tc>
                  <a:txBody>
                    <a:bodyPr/>
                    <a:lstStyle/>
                    <a:p>
                      <a:pPr marL="45085">
                        <a:lnSpc>
                          <a:spcPts val="1250"/>
                        </a:lnSpc>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72,6</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121</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3,3</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2,5</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180">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64798571"/>
                  </a:ext>
                </a:extLst>
              </a:tr>
              <a:tr h="201168">
                <a:tc>
                  <a:txBody>
                    <a:bodyPr/>
                    <a:lstStyle/>
                    <a:p>
                      <a:pPr marL="45085">
                        <a:lnSpc>
                          <a:spcPts val="1250"/>
                        </a:lnSpc>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138</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145</a:t>
                      </a:r>
                      <a:r>
                        <a:rPr lang="es-ES" sz="1000" spc="-2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3,4</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180">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1,2</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extLst>
                  <a:ext uri="{0D108BD9-81ED-4DB2-BD59-A6C34878D82A}">
                    <a16:rowId xmlns:a16="http://schemas.microsoft.com/office/drawing/2014/main" val="3285254712"/>
                  </a:ext>
                </a:extLst>
              </a:tr>
              <a:tr h="201168">
                <a:tc>
                  <a:txBody>
                    <a:bodyPr/>
                    <a:lstStyle/>
                    <a:p>
                      <a:pPr marL="45085">
                        <a:lnSpc>
                          <a:spcPts val="1250"/>
                        </a:lnSpc>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161</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169</a:t>
                      </a:r>
                      <a:r>
                        <a:rPr lang="es-ES" sz="1000" spc="-2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3,6</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3,6</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180">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1,3</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52772194"/>
                  </a:ext>
                </a:extLst>
              </a:tr>
              <a:tr h="201168">
                <a:tc>
                  <a:txBody>
                    <a:bodyPr/>
                    <a:lstStyle/>
                    <a:p>
                      <a:pPr marL="45085">
                        <a:lnSpc>
                          <a:spcPts val="1250"/>
                        </a:lnSpc>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230</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242</a:t>
                      </a:r>
                      <a:r>
                        <a:rPr lang="es-ES" sz="1000" spc="-2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4,0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4,0</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180">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1,7</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extLst>
                  <a:ext uri="{0D108BD9-81ED-4DB2-BD59-A6C34878D82A}">
                    <a16:rowId xmlns:a16="http://schemas.microsoft.com/office/drawing/2014/main" val="3839509899"/>
                  </a:ext>
                </a:extLst>
              </a:tr>
              <a:tr h="201168">
                <a:tc>
                  <a:txBody>
                    <a:bodyPr/>
                    <a:lstStyle/>
                    <a:p>
                      <a:pPr marL="45085">
                        <a:lnSpc>
                          <a:spcPts val="1255"/>
                        </a:lnSpc>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345</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362</a:t>
                      </a:r>
                      <a:r>
                        <a:rPr lang="es-ES" sz="1000" spc="-2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lnSpc>
                          <a:spcPts val="1255"/>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4,7</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lnSpc>
                          <a:spcPts val="1255"/>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4,7</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180">
                        <a:lnSpc>
                          <a:spcPts val="1255"/>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2,8</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44077881"/>
                  </a:ext>
                </a:extLst>
              </a:tr>
              <a:tr h="201168">
                <a:tc>
                  <a:txBody>
                    <a:bodyPr/>
                    <a:lstStyle/>
                    <a:p>
                      <a:pPr marL="45085">
                        <a:lnSpc>
                          <a:spcPts val="1250"/>
                        </a:lnSpc>
                      </a:pP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500</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550</a:t>
                      </a:r>
                      <a:r>
                        <a:rPr lang="es-ES" sz="1000" spc="-2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5,8</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815">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5,8</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tc>
                  <a:txBody>
                    <a:bodyPr/>
                    <a:lstStyle/>
                    <a:p>
                      <a:pPr marL="43180">
                        <a:lnSpc>
                          <a:spcPts val="1250"/>
                        </a:lnSpc>
                      </a:pP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3,6</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ECF8"/>
                    </a:solidFill>
                  </a:tcPr>
                </a:tc>
                <a:extLst>
                  <a:ext uri="{0D108BD9-81ED-4DB2-BD59-A6C34878D82A}">
                    <a16:rowId xmlns:a16="http://schemas.microsoft.com/office/drawing/2014/main" val="3884806628"/>
                  </a:ext>
                </a:extLst>
              </a:tr>
              <a:tr h="201168">
                <a:tc>
                  <a:txBody>
                    <a:bodyPr/>
                    <a:lstStyle/>
                    <a:p>
                      <a:pPr marL="45085"/>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765</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a:t>
                      </a:r>
                      <a:r>
                        <a:rPr lang="es-ES" sz="1000" spc="1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800</a:t>
                      </a:r>
                      <a:r>
                        <a:rPr lang="es-ES" sz="1000" spc="-2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 </a:t>
                      </a:r>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kV</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7,2</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815"/>
                      <a:r>
                        <a:rPr lang="es-ES" sz="1000" spc="-25">
                          <a:solidFill>
                            <a:srgbClr val="222233"/>
                          </a:solidFill>
                          <a:effectLst/>
                          <a:latin typeface="Calibri" panose="020B0604020202020204" pitchFamily="34" charset="0"/>
                          <a:ea typeface="Arial" panose="020B0604020202020204" pitchFamily="34" charset="0"/>
                          <a:cs typeface="Times New Roman" panose="02020603050405020304" pitchFamily="18" charset="0"/>
                        </a:rPr>
                        <a:t>7,2</a:t>
                      </a:r>
                      <a:endParaRPr lang="es-CL" sz="80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43180"/>
                      <a:r>
                        <a:rPr lang="es-ES" sz="1000" spc="-25" dirty="0">
                          <a:solidFill>
                            <a:srgbClr val="222233"/>
                          </a:solidFill>
                          <a:effectLst/>
                          <a:latin typeface="Calibri" panose="020B0604020202020204" pitchFamily="34" charset="0"/>
                          <a:ea typeface="Arial" panose="020B0604020202020204" pitchFamily="34" charset="0"/>
                          <a:cs typeface="Times New Roman" panose="02020603050405020304" pitchFamily="18" charset="0"/>
                        </a:rPr>
                        <a:t>4,9</a:t>
                      </a:r>
                      <a:endParaRPr lang="es-CL" sz="800" dirty="0">
                        <a:effectLst/>
                        <a:latin typeface="Arial" panose="020B0604020202020204" pitchFamily="34" charset="0"/>
                        <a:ea typeface="Arial" panose="020B0604020202020204" pitchFamily="34" charset="0"/>
                        <a:cs typeface="Times New Roman" panose="02020603050405020304" pitchFamily="18" charset="0"/>
                      </a:endParaRPr>
                    </a:p>
                  </a:txBody>
                  <a:tcPr marL="73152" marR="73152"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11250369"/>
                  </a:ext>
                </a:extLst>
              </a:tr>
            </a:tbl>
          </a:graphicData>
        </a:graphic>
      </p:graphicFrame>
      <p:sp>
        <p:nvSpPr>
          <p:cNvPr id="4"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DISTANCIAS DE SEGURIDAD</a:t>
            </a:r>
          </a:p>
        </p:txBody>
      </p:sp>
      <p:sp>
        <p:nvSpPr>
          <p:cNvPr id="5"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Límites de aproximación (NFPA 70E)</a:t>
            </a:r>
          </a:p>
        </p:txBody>
      </p:sp>
      <p:sp>
        <p:nvSpPr>
          <p:cNvPr id="6" name="Botón Índice">
            <a:hlinkClick action="ppaction://hlinksldjump" r:id="rId3"/>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85</a:t>
            </a:r>
          </a:p>
        </p:txBody>
      </p:sp>
    </p:spTree>
    <p:extLst>
      <p:ext uri="{BB962C8B-B14F-4D97-AF65-F5344CB8AC3E}">
        <p14:creationId xmlns:p14="http://schemas.microsoft.com/office/powerpoint/2010/main" val="33509937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B04EFEE-9516-E798-F7BB-8361BF239F87}"/>
            </a:ext>
          </a:extLst>
        </p:cNvPr>
        <p:cNvGrpSpPr/>
        <p:nvPr/>
      </p:nvGrpSpPr>
      <p:grpSpPr>
        <a:xfrm>
          <a:off x="0" y="0"/>
          <a:ext cx="0" cy="0"/>
          <a:chOff x="0" y="0"/>
          <a:chExt cx="0" cy="0"/>
        </a:xfrm>
      </p:grpSpPr>
      <p:pic>
        <p:nvPicPr>
          <p:cNvPr id="10" name="Picture 4" descr="Trabajos en líneas energizadas.">
            <a:extLst>
              <a:ext uri="{FF2B5EF4-FFF2-40B4-BE49-F238E27FC236}">
                <a16:creationId xmlns:a16="http://schemas.microsoft.com/office/drawing/2014/main" id="{34F7782D-3F9A-3D69-FB66-BA3281B72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7725" y="2915920"/>
            <a:ext cx="6028549" cy="3347720"/>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1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DISTANCIAS DE SEGURIDAD</a:t>
            </a:r>
          </a:p>
        </p:txBody>
      </p:sp>
      <p:sp>
        <p:nvSpPr>
          <p:cNvPr id="1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Procedimientos de trabajo</a:t>
            </a:r>
          </a:p>
        </p:txBody>
      </p:sp>
      <p:sp>
        <p:nvSpPr>
          <p:cNvPr id="13" name="Cuerpo"/>
          <p:cNvSpPr txBox="1"/>
          <p:nvPr/>
        </p:nvSpPr>
        <p:spPr>
          <a:xfrm>
            <a:off x="548640" y="1463040"/>
            <a:ext cx="8046720" cy="1224280"/>
          </a:xfrm>
          <a:prstGeom prst="rect">
            <a:avLst/>
          </a:prstGeom>
          <a:noFill/>
        </p:spPr>
        <p:txBody>
          <a:bodyPr wrap="square" lIns="0" rIns="0" tIns="0" bIns="0">
            <a:spAutoFit/>
          </a:bodyPr>
          <a:lstStyle/>
          <a:p>
            <a:pPr>
              <a:spcAft>
                <a:spcPts val="800"/>
              </a:spcAft>
            </a:pPr>
            <a:r>
              <a:rPr sz="1600" b="0">
                <a:solidFill>
                  <a:srgbClr val="222233"/>
                </a:solidFill>
                <a:latin typeface="Calibri"/>
              </a:rPr>
              <a:t>Los trabajos en instalaciones eléctricas deben ejecutarse evitando todo peligro para las personas y sin dañar a terceros o a las cosas.</a:t>
            </a:r>
          </a:p>
          <a:p>
            <a:pPr>
              <a:spcAft>
                <a:spcPts val="800"/>
              </a:spcAft>
            </a:pPr>
            <a:r>
              <a:rPr sz="1600" b="0">
                <a:solidFill>
                  <a:srgbClr val="222233"/>
                </a:solidFill>
                <a:latin typeface="Calibri"/>
              </a:rPr>
              <a:t>Se deben aplicar procedimientos reconocidos y validados por cada propietario u operador, basados en la NFPA 70E o en la OSHA 1910.269.</a:t>
            </a:r>
          </a:p>
        </p:txBody>
      </p:sp>
      <p:sp>
        <p:nvSpPr>
          <p:cNvPr id="14"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5"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6"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86</a:t>
            </a:r>
          </a:p>
        </p:txBody>
      </p:sp>
    </p:spTree>
    <p:extLst>
      <p:ext uri="{BB962C8B-B14F-4D97-AF65-F5344CB8AC3E}">
        <p14:creationId xmlns:p14="http://schemas.microsoft.com/office/powerpoint/2010/main" val="33205826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70D769-D241-A7EA-A18A-EF0D689E2F2E}"/>
            </a:ext>
          </a:extLst>
        </p:cNvPr>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 DE PROTECCIÓN PERSONAL</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Equipamiento para maniobras en la red</a:t>
            </a:r>
          </a:p>
        </p:txBody>
      </p:sp>
      <p:sp>
        <p:nvSpPr>
          <p:cNvPr id="4" name="Rounded Rectangle 3"/>
          <p:cNvSpPr/>
          <p:nvPr/>
        </p:nvSpPr>
        <p:spPr>
          <a:xfrm>
            <a:off x="548640" y="1508760"/>
            <a:ext cx="8046720" cy="237744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Tools_w.png"/>
          <p:cNvPicPr>
            <a:picLocks noChangeAspect="1"/>
          </p:cNvPicPr>
          <p:nvPr/>
        </p:nvPicPr>
        <p:blipFill>
          <a:blip r:embed="rId3"/>
          <a:stretch>
            <a:fillRect/>
          </a:stretch>
        </p:blipFill>
        <p:spPr>
          <a:xfrm>
            <a:off x="1077163" y="2037283"/>
            <a:ext cx="451713" cy="451713"/>
          </a:xfrm>
          <a:prstGeom prst="rect">
            <a:avLst/>
          </a:prstGeom>
        </p:spPr>
      </p:pic>
      <p:sp>
        <p:nvSpPr>
          <p:cNvPr id="7" name="Cuerpo"/>
          <p:cNvSpPr txBox="1"/>
          <p:nvPr/>
        </p:nvSpPr>
        <p:spPr>
          <a:xfrm>
            <a:off x="2057400" y="1874519"/>
            <a:ext cx="6263640" cy="1325880"/>
          </a:xfrm>
          <a:prstGeom prst="rect">
            <a:avLst/>
          </a:prstGeom>
          <a:noFill/>
        </p:spPr>
        <p:txBody>
          <a:bodyPr wrap="square" lIns="0" rIns="0" tIns="0" bIns="0">
            <a:spAutoFit/>
          </a:bodyPr>
          <a:lstStyle/>
          <a:p>
            <a:pPr>
              <a:spcAft>
                <a:spcPts val="800"/>
              </a:spcAft>
            </a:pPr>
            <a:r>
              <a:rPr sz="1600" b="0">
                <a:solidFill>
                  <a:srgbClr val="222233"/>
                </a:solidFill>
                <a:latin typeface="Calibri"/>
              </a:rPr>
              <a:t>Las maniobras en la red requieren necesariamente:</a:t>
            </a:r>
          </a:p>
          <a:p>
            <a:pPr marL="256032" indent="-256032">
              <a:spcAft>
                <a:spcPts val="800"/>
              </a:spcAft>
              <a:buClr>
                <a:srgbClr val="6A4C9C"/>
              </a:buClr>
              <a:buFont typeface="Arial"/>
              <a:buChar char="•"/>
            </a:pPr>
            <a:r>
              <a:rPr sz="1600" b="0">
                <a:solidFill>
                  <a:srgbClr val="222233"/>
                </a:solidFill>
                <a:latin typeface="Calibri"/>
              </a:rPr>
              <a:t>Equipo de protección personal (EPP) para trabajos en la red, de acuerdo con el nivel de tensión a intervenir.</a:t>
            </a:r>
          </a:p>
          <a:p>
            <a:pPr marL="256032" indent="-256032">
              <a:spcAft>
                <a:spcPts val="800"/>
              </a:spcAft>
              <a:buClr>
                <a:srgbClr val="6A4C9C"/>
              </a:buClr>
              <a:buFont typeface="Arial"/>
              <a:buChar char="•"/>
            </a:pPr>
            <a:r>
              <a:rPr sz="1600" b="0">
                <a:solidFill>
                  <a:srgbClr val="222233"/>
                </a:solidFill>
                <a:latin typeface="Calibri"/>
              </a:rPr>
              <a:t>Equipos para maniobras de operación en la red eléctrica.</a:t>
            </a:r>
          </a:p>
        </p:txBody>
      </p:sp>
      <p:sp>
        <p:nvSpPr>
          <p:cNvPr id="8"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87</a:t>
            </a:r>
          </a:p>
        </p:txBody>
      </p:sp>
    </p:spTree>
    <p:extLst>
      <p:ext uri="{BB962C8B-B14F-4D97-AF65-F5344CB8AC3E}">
        <p14:creationId xmlns:p14="http://schemas.microsoft.com/office/powerpoint/2010/main" val="5809008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EC581E2F-8EE7-494D-A31E-ED0C1F83C421}"/>
              </a:ext>
            </a:extLst>
          </p:cNvPr>
          <p:cNvPicPr>
            <a:picLocks noChangeAspect="1"/>
          </p:cNvPicPr>
          <p:nvPr/>
        </p:nvPicPr>
        <p:blipFill>
          <a:blip r:embed="rId2"/>
          <a:stretch>
            <a:fillRect/>
          </a:stretch>
        </p:blipFill>
        <p:spPr>
          <a:xfrm>
            <a:off x="5796725" y="1417320"/>
            <a:ext cx="1893948" cy="2451558"/>
          </a:xfrm>
          <a:prstGeom prst="rect">
            <a:avLst/>
          </a:prstGeom>
          <a:effectLst>
            <a:softEdge rad="31750"/>
          </a:effectLst>
        </p:spPr>
      </p:pic>
      <p:pic>
        <p:nvPicPr>
          <p:cNvPr id="6" name="Imagen 5">
            <a:extLst>
              <a:ext uri="{FF2B5EF4-FFF2-40B4-BE49-F238E27FC236}">
                <a16:creationId xmlns:a16="http://schemas.microsoft.com/office/drawing/2014/main" id="{AF2416B9-AC0F-193D-3A62-451463D2999E}"/>
              </a:ext>
            </a:extLst>
          </p:cNvPr>
          <p:cNvPicPr>
            <a:picLocks noChangeAspect="1"/>
          </p:cNvPicPr>
          <p:nvPr/>
        </p:nvPicPr>
        <p:blipFill>
          <a:blip r:embed="rId3"/>
          <a:stretch>
            <a:fillRect/>
          </a:stretch>
        </p:blipFill>
        <p:spPr>
          <a:xfrm>
            <a:off x="5796725" y="4143198"/>
            <a:ext cx="1893948" cy="2120441"/>
          </a:xfrm>
          <a:prstGeom prst="rect">
            <a:avLst/>
          </a:prstGeom>
          <a:effectLst>
            <a:softEdge rad="12700"/>
          </a:effectLst>
        </p:spPr>
      </p:pic>
      <p:sp>
        <p:nvSpPr>
          <p:cNvPr id="14"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 DE PROTECCIÓN PERSONAL</a:t>
            </a:r>
          </a:p>
        </p:txBody>
      </p:sp>
      <p:sp>
        <p:nvSpPr>
          <p:cNvPr id="15"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El EPP adecuado es clave</a:t>
            </a:r>
          </a:p>
        </p:txBody>
      </p:sp>
      <p:sp>
        <p:nvSpPr>
          <p:cNvPr id="16" name="Cuerpo"/>
          <p:cNvSpPr txBox="1"/>
          <p:nvPr/>
        </p:nvSpPr>
        <p:spPr>
          <a:xfrm>
            <a:off x="548640" y="1463040"/>
            <a:ext cx="4023360" cy="1468119"/>
          </a:xfrm>
          <a:prstGeom prst="rect">
            <a:avLst/>
          </a:prstGeom>
          <a:noFill/>
        </p:spPr>
        <p:txBody>
          <a:bodyPr wrap="square" lIns="0" rIns="0" tIns="0" bIns="0">
            <a:spAutoFit/>
          </a:bodyPr>
          <a:lstStyle/>
          <a:p>
            <a:pPr>
              <a:spcAft>
                <a:spcPts val="800"/>
              </a:spcAft>
            </a:pPr>
            <a:r>
              <a:rPr sz="1600" b="0">
                <a:solidFill>
                  <a:srgbClr val="222233"/>
                </a:solidFill>
                <a:latin typeface="Calibri"/>
              </a:rPr>
              <a:t>Equipo de protección personal para trabajos en la red, de acuerdo con el nivel de tensión a intervenir.</a:t>
            </a:r>
          </a:p>
          <a:p>
            <a:pPr>
              <a:spcAft>
                <a:spcPts val="800"/>
              </a:spcAft>
            </a:pPr>
            <a:r>
              <a:rPr sz="1600" b="1">
                <a:solidFill>
                  <a:srgbClr val="4B2E83"/>
                </a:solidFill>
                <a:latin typeface="Calibri"/>
              </a:rPr>
              <a:t>El uso del EPP adecuado es el factor más importante.</a:t>
            </a:r>
          </a:p>
        </p:txBody>
      </p:sp>
      <p:sp>
        <p:nvSpPr>
          <p:cNvPr id="17"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8"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9"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88</a:t>
            </a:r>
          </a:p>
        </p:txBody>
      </p:sp>
    </p:spTree>
    <p:extLst>
      <p:ext uri="{BB962C8B-B14F-4D97-AF65-F5344CB8AC3E}">
        <p14:creationId xmlns:p14="http://schemas.microsoft.com/office/powerpoint/2010/main" val="37332821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Objeto 12">
            <a:extLst>
              <a:ext uri="{FF2B5EF4-FFF2-40B4-BE49-F238E27FC236}">
                <a16:creationId xmlns:a16="http://schemas.microsoft.com/office/drawing/2014/main" id="{89CD08D9-14BD-4F19-BA26-BAB8537F5F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7446" b="61958"/>
          <a:stretch>
            <a:fillRect/>
          </a:stretch>
        </p:blipFill>
        <p:spPr bwMode="auto">
          <a:xfrm>
            <a:off x="2929784" y="2672080"/>
            <a:ext cx="3284431" cy="2792511"/>
          </a:xfrm>
          <a:prstGeom prst="rect">
            <a:avLst/>
          </a:prstGeom>
          <a:noFill/>
        </p:spPr>
      </p:pic>
      <p:sp>
        <p:nvSpPr>
          <p:cNvPr id="14"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 DE PROTECCIÓN PERSONAL</a:t>
            </a:r>
          </a:p>
        </p:txBody>
      </p:sp>
      <p:sp>
        <p:nvSpPr>
          <p:cNvPr id="15"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Zapatos de seguridad dieléctricos</a:t>
            </a:r>
          </a:p>
        </p:txBody>
      </p:sp>
      <p:sp>
        <p:nvSpPr>
          <p:cNvPr id="16" name="Cuerpo"/>
          <p:cNvSpPr txBox="1"/>
          <p:nvPr/>
        </p:nvSpPr>
        <p:spPr>
          <a:xfrm>
            <a:off x="548640" y="1463040"/>
            <a:ext cx="8046720" cy="980440"/>
          </a:xfrm>
          <a:prstGeom prst="rect">
            <a:avLst/>
          </a:prstGeom>
          <a:noFill/>
        </p:spPr>
        <p:txBody>
          <a:bodyPr wrap="square" lIns="0" rIns="0" tIns="0" bIns="0">
            <a:spAutoFit/>
          </a:bodyPr>
          <a:lstStyle/>
          <a:p>
            <a:pPr>
              <a:spcAft>
                <a:spcPts val="800"/>
              </a:spcAft>
            </a:pPr>
            <a:r>
              <a:rPr sz="1600" b="0">
                <a:solidFill>
                  <a:srgbClr val="222233"/>
                </a:solidFill>
                <a:latin typeface="Calibri"/>
              </a:rPr>
              <a:t>Deben estar certificados según la norma NCh 2147/2 Of. 1993.</a:t>
            </a:r>
          </a:p>
          <a:p>
            <a:pPr>
              <a:spcAft>
                <a:spcPts val="800"/>
              </a:spcAft>
            </a:pPr>
            <a:r>
              <a:rPr sz="1600" b="0">
                <a:solidFill>
                  <a:srgbClr val="222233"/>
                </a:solidFill>
                <a:latin typeface="Calibri"/>
              </a:rPr>
              <a:t>Para tensiones inferiores a 600 V, el calzado dieléctrico debe presentar una resistencia eléctrica superior a 1.000 MΩ.</a:t>
            </a:r>
          </a:p>
        </p:txBody>
      </p:sp>
      <p:sp>
        <p:nvSpPr>
          <p:cNvPr id="17"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8"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9"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89</a:t>
            </a:r>
          </a:p>
        </p:txBody>
      </p:sp>
    </p:spTree>
    <p:extLst>
      <p:ext uri="{BB962C8B-B14F-4D97-AF65-F5344CB8AC3E}">
        <p14:creationId xmlns:p14="http://schemas.microsoft.com/office/powerpoint/2010/main" val="6275140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C6D7D0E-7277-A8E0-980A-5C4AA34203DA}"/>
              </a:ext>
            </a:extLst>
          </p:cNvPr>
          <p:cNvPicPr>
            <a:picLocks noChangeAspect="1"/>
          </p:cNvPicPr>
          <p:nvPr/>
        </p:nvPicPr>
        <p:blipFill rotWithShape="1">
          <a:blip r:embed="rId2"/>
          <a:srcRect l="18782" t="9124" r="5000" b="13377"/>
          <a:stretch/>
        </p:blipFill>
        <p:spPr>
          <a:xfrm>
            <a:off x="917192" y="2082800"/>
            <a:ext cx="7309614" cy="4180839"/>
          </a:xfrm>
          <a:prstGeom prst="rect">
            <a:avLst/>
          </a:prstGeom>
        </p:spPr>
      </p:pic>
      <p:sp>
        <p:nvSpPr>
          <p:cNvPr id="6"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 DE PROTECCIÓN PERSONAL</a:t>
            </a:r>
          </a:p>
        </p:txBody>
      </p:sp>
      <p:sp>
        <p:nvSpPr>
          <p:cNvPr id="7"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Guantes dieléctricos</a:t>
            </a:r>
          </a:p>
        </p:txBody>
      </p:sp>
      <p:sp>
        <p:nvSpPr>
          <p:cNvPr id="8" name="Cuerpo"/>
          <p:cNvSpPr txBox="1"/>
          <p:nvPr/>
        </p:nvSpPr>
        <p:spPr>
          <a:xfrm>
            <a:off x="548640" y="1463040"/>
            <a:ext cx="8046720" cy="391160"/>
          </a:xfrm>
          <a:prstGeom prst="rect">
            <a:avLst/>
          </a:prstGeom>
          <a:noFill/>
        </p:spPr>
        <p:txBody>
          <a:bodyPr wrap="square" lIns="0" rIns="0" tIns="0" bIns="0">
            <a:spAutoFit/>
          </a:bodyPr>
          <a:lstStyle/>
          <a:p>
            <a:pPr>
              <a:spcAft>
                <a:spcPts val="800"/>
              </a:spcAft>
            </a:pPr>
            <a:r>
              <a:rPr sz="1600" b="0">
                <a:solidFill>
                  <a:srgbClr val="222233"/>
                </a:solidFill>
                <a:latin typeface="Calibri"/>
              </a:rPr>
              <a:t>El uso de EPP se define por categorías de acuerdo con el estándar NFPA 70E.</a:t>
            </a:r>
          </a:p>
        </p:txBody>
      </p:sp>
      <p:sp>
        <p:nvSpPr>
          <p:cNvPr id="9"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1"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90</a:t>
            </a:r>
          </a:p>
        </p:txBody>
      </p:sp>
    </p:spTree>
    <p:extLst>
      <p:ext uri="{BB962C8B-B14F-4D97-AF65-F5344CB8AC3E}">
        <p14:creationId xmlns:p14="http://schemas.microsoft.com/office/powerpoint/2010/main" val="4444881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27784E7-7195-82BF-9E19-D2ECB61F8F1F}"/>
            </a:ext>
          </a:extLst>
        </p:cNvPr>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 DE PROTECCIÓN PERSONAL</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Selección de guantes dieléctricos</a:t>
            </a:r>
          </a:p>
        </p:txBody>
      </p:sp>
      <p:sp>
        <p:nvSpPr>
          <p:cNvPr id="4" name="Rounded Rectangle 3"/>
          <p:cNvSpPr/>
          <p:nvPr/>
        </p:nvSpPr>
        <p:spPr>
          <a:xfrm>
            <a:off x="548640" y="1508760"/>
            <a:ext cx="8046720" cy="237744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HardHat_w.png"/>
          <p:cNvPicPr>
            <a:picLocks noChangeAspect="1"/>
          </p:cNvPicPr>
          <p:nvPr/>
        </p:nvPicPr>
        <p:blipFill>
          <a:blip r:embed="rId2"/>
          <a:stretch>
            <a:fillRect/>
          </a:stretch>
        </p:blipFill>
        <p:spPr>
          <a:xfrm>
            <a:off x="1077163" y="2037283"/>
            <a:ext cx="451713" cy="451713"/>
          </a:xfrm>
          <a:prstGeom prst="rect">
            <a:avLst/>
          </a:prstGeom>
        </p:spPr>
      </p:pic>
      <p:sp>
        <p:nvSpPr>
          <p:cNvPr id="7" name="Cuerpo"/>
          <p:cNvSpPr txBox="1"/>
          <p:nvPr/>
        </p:nvSpPr>
        <p:spPr>
          <a:xfrm>
            <a:off x="2057400" y="1874519"/>
            <a:ext cx="6263640" cy="1224280"/>
          </a:xfrm>
          <a:prstGeom prst="rect">
            <a:avLst/>
          </a:prstGeom>
          <a:noFill/>
        </p:spPr>
        <p:txBody>
          <a:bodyPr wrap="square" lIns="0" rIns="0" tIns="0" bIns="0">
            <a:spAutoFit/>
          </a:bodyPr>
          <a:lstStyle/>
          <a:p>
            <a:pPr>
              <a:spcAft>
                <a:spcPts val="800"/>
              </a:spcAft>
            </a:pPr>
            <a:r>
              <a:rPr sz="1600" b="0">
                <a:solidFill>
                  <a:srgbClr val="222233"/>
                </a:solidFill>
                <a:latin typeface="Calibri"/>
              </a:rPr>
              <a:t>Los guantes deben cumplir la norma internacional IEC 60903, la europea EN 60903 y la NFPA 70E.</a:t>
            </a:r>
          </a:p>
          <a:p>
            <a:pPr>
              <a:spcAft>
                <a:spcPts val="800"/>
              </a:spcAft>
            </a:pPr>
            <a:r>
              <a:rPr sz="1600" b="0">
                <a:solidFill>
                  <a:srgbClr val="222233"/>
                </a:solidFill>
                <a:latin typeface="Calibri"/>
              </a:rPr>
              <a:t>Se eligen en función de su clase, que corresponde al nivel de tensión de utilización.</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91</a:t>
            </a:r>
          </a:p>
        </p:txBody>
      </p:sp>
    </p:spTree>
    <p:extLst>
      <p:ext uri="{BB962C8B-B14F-4D97-AF65-F5344CB8AC3E}">
        <p14:creationId xmlns:p14="http://schemas.microsoft.com/office/powerpoint/2010/main" val="34852974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3E5B0F6-5D6A-A223-84C3-7EE07E5981EC}"/>
              </a:ext>
            </a:extLst>
          </p:cNvPr>
          <p:cNvPicPr>
            <a:picLocks noChangeAspect="1"/>
          </p:cNvPicPr>
          <p:nvPr/>
        </p:nvPicPr>
        <p:blipFill rotWithShape="1">
          <a:blip r:embed="rId2"/>
          <a:srcRect l="28696" t="21687" r="13305" b="39372"/>
          <a:stretch/>
        </p:blipFill>
        <p:spPr>
          <a:xfrm>
            <a:off x="548640" y="2572444"/>
            <a:ext cx="8046720" cy="3038991"/>
          </a:xfrm>
          <a:prstGeom prst="rect">
            <a:avLst/>
          </a:prstGeom>
        </p:spPr>
      </p:pic>
      <p:sp>
        <p:nvSpPr>
          <p:cNvPr id="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 DE PROTECCIÓN PERSONAL</a:t>
            </a:r>
          </a:p>
        </p:txBody>
      </p:sp>
      <p:sp>
        <p:nvSpPr>
          <p:cNvPr id="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Clases de guantes dieléctricos</a:t>
            </a:r>
          </a:p>
        </p:txBody>
      </p:sp>
      <p:sp>
        <p:nvSpPr>
          <p:cNvPr id="9" name="TextBox 8"/>
          <p:cNvSpPr txBox="1"/>
          <p:nvPr/>
        </p:nvSpPr>
        <p:spPr>
          <a:xfrm>
            <a:off x="548640" y="1417320"/>
            <a:ext cx="8046720" cy="365760"/>
          </a:xfrm>
          <a:prstGeom prst="rect">
            <a:avLst/>
          </a:prstGeom>
          <a:noFill/>
        </p:spPr>
        <p:txBody>
          <a:bodyPr wrap="square" anchor="t" lIns="0" rIns="0" tIns="0" bIns="0">
            <a:spAutoFit/>
          </a:bodyPr>
          <a:lstStyle/>
          <a:p>
            <a:pPr algn="l"/>
            <a:r>
              <a:rPr sz="1500" b="0" i="0">
                <a:solidFill>
                  <a:srgbClr val="5A5A6E"/>
                </a:solidFill>
                <a:latin typeface="Calibri"/>
              </a:rPr>
              <a:t>EPP según categorías de la NFPA 70E.</a:t>
            </a:r>
          </a:p>
        </p:txBody>
      </p:sp>
      <p:sp>
        <p:nvSpPr>
          <p:cNvPr id="10"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92</a:t>
            </a:r>
          </a:p>
        </p:txBody>
      </p:sp>
    </p:spTree>
    <p:extLst>
      <p:ext uri="{BB962C8B-B14F-4D97-AF65-F5344CB8AC3E}">
        <p14:creationId xmlns:p14="http://schemas.microsoft.com/office/powerpoint/2010/main" val="18492219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652" name="Picture 4" descr="Resultado de imagen para caretas faciales nfpa70e">
            <a:extLst>
              <a:ext uri="{FF2B5EF4-FFF2-40B4-BE49-F238E27FC236}">
                <a16:creationId xmlns:a16="http://schemas.microsoft.com/office/drawing/2014/main" id="{7F1085DA-8076-4BDD-80A6-7D3F6038B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570" y="2326640"/>
            <a:ext cx="2303996" cy="2680610"/>
          </a:xfrm>
          <a:prstGeom prst="rect">
            <a:avLst/>
          </a:prstGeom>
          <a:noFill/>
          <a:effectLst>
            <a:softEdge rad="50800"/>
          </a:effectLst>
          <a:extLst>
            <a:ext uri="{909E8E84-426E-40DD-AFC4-6F175D3DCCD1}">
              <a14:hiddenFill xmlns:a14="http://schemas.microsoft.com/office/drawing/2010/main">
                <a:solidFill>
                  <a:srgbClr val="FFFFFF"/>
                </a:solidFill>
              </a14:hiddenFill>
            </a:ext>
          </a:extLst>
        </p:spPr>
      </p:pic>
      <p:pic>
        <p:nvPicPr>
          <p:cNvPr id="27654" name="Picture 6" descr="Resultado de imagen para caretas faciales nfpa70e">
            <a:extLst>
              <a:ext uri="{FF2B5EF4-FFF2-40B4-BE49-F238E27FC236}">
                <a16:creationId xmlns:a16="http://schemas.microsoft.com/office/drawing/2014/main" id="{7B169D9B-4E54-4E6B-9E57-1A7410BB46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2326640"/>
            <a:ext cx="2680610" cy="2680610"/>
          </a:xfrm>
          <a:prstGeom prst="rect">
            <a:avLst/>
          </a:prstGeom>
          <a:noFill/>
          <a:effectLst>
            <a:softEdge rad="88900"/>
          </a:effectLst>
          <a:extLst>
            <a:ext uri="{909E8E84-426E-40DD-AFC4-6F175D3DCCD1}">
              <a14:hiddenFill xmlns:a14="http://schemas.microsoft.com/office/drawing/2010/main">
                <a:solidFill>
                  <a:srgbClr val="FFFFFF"/>
                </a:solidFill>
              </a14:hiddenFill>
            </a:ext>
          </a:extLst>
        </p:spPr>
      </p:pic>
      <p:pic>
        <p:nvPicPr>
          <p:cNvPr id="15" name="Imagen 14" descr="Imagen relacionada">
            <a:extLst>
              <a:ext uri="{FF2B5EF4-FFF2-40B4-BE49-F238E27FC236}">
                <a16:creationId xmlns:a16="http://schemas.microsoft.com/office/drawing/2014/main" id="{28963A25-7AC6-4A50-85F6-98F6A5521CF1}"/>
              </a:ext>
            </a:extLst>
          </p:cNvPr>
          <p:cNvPicPr/>
          <p:nvPr/>
        </p:nvPicPr>
        <p:blipFill rotWithShape="1">
          <a:blip r:embed="rId4">
            <a:extLst>
              <a:ext uri="{28A0092B-C50C-407E-A947-70E740481C1C}">
                <a14:useLocalDpi xmlns:a14="http://schemas.microsoft.com/office/drawing/2010/main" val="0"/>
              </a:ext>
            </a:extLst>
          </a:blip>
          <a:srcRect l="77060" t="8561" b="66732"/>
          <a:stretch/>
        </p:blipFill>
        <p:spPr bwMode="auto">
          <a:xfrm>
            <a:off x="6081887" y="2326640"/>
            <a:ext cx="2513472" cy="2680610"/>
          </a:xfrm>
          <a:prstGeom prst="rect">
            <a:avLst/>
          </a:prstGeom>
          <a:noFill/>
          <a:ln>
            <a:noFill/>
          </a:ln>
          <a:effectLst>
            <a:softEdge rad="88900"/>
          </a:effectLst>
          <a:extLst>
            <a:ext uri="{53640926-AAD7-44D8-BBD7-CCE9431645EC}">
              <a14:shadowObscured xmlns:a14="http://schemas.microsoft.com/office/drawing/2010/main"/>
            </a:ext>
          </a:extLst>
        </p:spPr>
      </p:pic>
      <p:sp>
        <p:nvSpPr>
          <p:cNvPr id="2765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 DE PROTECCIÓN PERSONAL</a:t>
            </a:r>
          </a:p>
        </p:txBody>
      </p:sp>
      <p:sp>
        <p:nvSpPr>
          <p:cNvPr id="2765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Caretas faciales</a:t>
            </a:r>
          </a:p>
        </p:txBody>
      </p:sp>
      <p:sp>
        <p:nvSpPr>
          <p:cNvPr id="27657" name="Cuerpo"/>
          <p:cNvSpPr txBox="1"/>
          <p:nvPr/>
        </p:nvSpPr>
        <p:spPr>
          <a:xfrm>
            <a:off x="548640" y="1463040"/>
            <a:ext cx="8046720" cy="635000"/>
          </a:xfrm>
          <a:prstGeom prst="rect">
            <a:avLst/>
          </a:prstGeom>
          <a:noFill/>
        </p:spPr>
        <p:txBody>
          <a:bodyPr wrap="square" lIns="0" rIns="0" tIns="0" bIns="0">
            <a:spAutoFit/>
          </a:bodyPr>
          <a:lstStyle/>
          <a:p>
            <a:pPr>
              <a:spcAft>
                <a:spcPts val="800"/>
              </a:spcAft>
            </a:pPr>
            <a:r>
              <a:rPr sz="1600" b="0">
                <a:solidFill>
                  <a:srgbClr val="222233"/>
                </a:solidFill>
                <a:latin typeface="Calibri"/>
              </a:rPr>
              <a:t>Uso de caretas faciales con la clase de protección adecuada, según las categorías de la NFPA 70E.</a:t>
            </a:r>
          </a:p>
        </p:txBody>
      </p:sp>
      <p:sp>
        <p:nvSpPr>
          <p:cNvPr id="27658"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765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766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93</a:t>
            </a:r>
          </a:p>
        </p:txBody>
      </p:sp>
    </p:spTree>
    <p:extLst>
      <p:ext uri="{BB962C8B-B14F-4D97-AF65-F5344CB8AC3E}">
        <p14:creationId xmlns:p14="http://schemas.microsoft.com/office/powerpoint/2010/main" val="39892004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3635C366-DBD1-4A5A-B5C8-A6098F5B1672}"/>
              </a:ext>
            </a:extLst>
          </p:cNvPr>
          <p:cNvPicPr/>
          <p:nvPr/>
        </p:nvPicPr>
        <p:blipFill rotWithShape="1">
          <a:blip r:embed="rId2"/>
          <a:srcRect l="35854" t="30968" r="34245" b="21636"/>
          <a:stretch/>
        </p:blipFill>
        <p:spPr bwMode="auto">
          <a:xfrm>
            <a:off x="827732" y="1417320"/>
            <a:ext cx="7488535" cy="4846320"/>
          </a:xfrm>
          <a:prstGeom prst="rect">
            <a:avLst/>
          </a:prstGeom>
          <a:ln>
            <a:noFill/>
          </a:ln>
          <a:extLst>
            <a:ext uri="{53640926-AAD7-44D8-BBD7-CCE9431645EC}">
              <a14:shadowObscured xmlns:a14="http://schemas.microsoft.com/office/drawing/2010/main"/>
            </a:ext>
          </a:extLst>
        </p:spPr>
      </p:pic>
      <p:sp>
        <p:nvSpPr>
          <p:cNvPr id="14"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 DE PROTECCIÓN PERSONAL</a:t>
            </a:r>
          </a:p>
        </p:txBody>
      </p:sp>
      <p:sp>
        <p:nvSpPr>
          <p:cNvPr id="15"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EPP según categorías NFPA 70E</a:t>
            </a:r>
          </a:p>
        </p:txBody>
      </p:sp>
      <p:sp>
        <p:nvSpPr>
          <p:cNvPr id="16"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94</a:t>
            </a:r>
          </a:p>
        </p:txBody>
      </p:sp>
    </p:spTree>
    <p:extLst>
      <p:ext uri="{BB962C8B-B14F-4D97-AF65-F5344CB8AC3E}">
        <p14:creationId xmlns:p14="http://schemas.microsoft.com/office/powerpoint/2010/main" val="18110994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532693A-8857-BC3F-7B34-7D4F869748D7}"/>
            </a:ext>
          </a:extLst>
        </p:cNvPr>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EQUIPOS DE MANIOBRA</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Maniobras de operación</a:t>
            </a:r>
          </a:p>
        </p:txBody>
      </p:sp>
      <p:sp>
        <p:nvSpPr>
          <p:cNvPr id="4" name="Rounded Rectangle 3"/>
          <p:cNvSpPr/>
          <p:nvPr/>
        </p:nvSpPr>
        <p:spPr>
          <a:xfrm>
            <a:off x="548640" y="1508760"/>
            <a:ext cx="8046720" cy="343916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Tools_w.png"/>
          <p:cNvPicPr>
            <a:picLocks noChangeAspect="1"/>
          </p:cNvPicPr>
          <p:nvPr/>
        </p:nvPicPr>
        <p:blipFill>
          <a:blip r:embed="rId2"/>
          <a:stretch>
            <a:fillRect/>
          </a:stretch>
        </p:blipFill>
        <p:spPr>
          <a:xfrm>
            <a:off x="1077163" y="2037283"/>
            <a:ext cx="451713" cy="451713"/>
          </a:xfrm>
          <a:prstGeom prst="rect">
            <a:avLst/>
          </a:prstGeom>
        </p:spPr>
      </p:pic>
      <p:sp>
        <p:nvSpPr>
          <p:cNvPr id="7" name="Cuerpo"/>
          <p:cNvSpPr txBox="1"/>
          <p:nvPr/>
        </p:nvSpPr>
        <p:spPr>
          <a:xfrm>
            <a:off x="2057400" y="1874519"/>
            <a:ext cx="6263640" cy="2707639"/>
          </a:xfrm>
          <a:prstGeom prst="rect">
            <a:avLst/>
          </a:prstGeom>
          <a:noFill/>
        </p:spPr>
        <p:txBody>
          <a:bodyPr wrap="square" lIns="0" rIns="0" tIns="0" bIns="0">
            <a:spAutoFit/>
          </a:bodyPr>
          <a:lstStyle/>
          <a:p>
            <a:pPr>
              <a:spcAft>
                <a:spcPts val="800"/>
              </a:spcAft>
            </a:pPr>
            <a:r>
              <a:rPr sz="1600" b="0">
                <a:solidFill>
                  <a:srgbClr val="222233"/>
                </a:solidFill>
                <a:latin typeface="Calibri"/>
              </a:rPr>
              <a:t>Las maniobras de operación son acciones del personal de la empresa eléctrica con diferentes propósitos:</a:t>
            </a:r>
          </a:p>
          <a:p>
            <a:pPr marL="256032" indent="-256032">
              <a:spcAft>
                <a:spcPts val="800"/>
              </a:spcAft>
              <a:buClr>
                <a:srgbClr val="6A4C9C"/>
              </a:buClr>
              <a:buFont typeface="Arial"/>
              <a:buChar char="•"/>
            </a:pPr>
            <a:r>
              <a:rPr sz="1600" b="0">
                <a:solidFill>
                  <a:srgbClr val="222233"/>
                </a:solidFill>
                <a:latin typeface="Calibri"/>
              </a:rPr>
              <a:t>Atención de fallas.</a:t>
            </a:r>
          </a:p>
          <a:p>
            <a:pPr marL="256032" indent="-256032">
              <a:spcAft>
                <a:spcPts val="800"/>
              </a:spcAft>
              <a:buClr>
                <a:srgbClr val="6A4C9C"/>
              </a:buClr>
              <a:buFont typeface="Arial"/>
              <a:buChar char="•"/>
            </a:pPr>
            <a:r>
              <a:rPr sz="1600" b="0">
                <a:solidFill>
                  <a:srgbClr val="222233"/>
                </a:solidFill>
                <a:latin typeface="Calibri"/>
              </a:rPr>
              <a:t>Desconexiones.</a:t>
            </a:r>
          </a:p>
          <a:p>
            <a:pPr marL="256032" indent="-256032">
              <a:spcAft>
                <a:spcPts val="800"/>
              </a:spcAft>
              <a:buClr>
                <a:srgbClr val="6A4C9C"/>
              </a:buClr>
              <a:buFont typeface="Arial"/>
              <a:buChar char="•"/>
            </a:pPr>
            <a:r>
              <a:rPr sz="1600" b="0">
                <a:solidFill>
                  <a:srgbClr val="222233"/>
                </a:solidFill>
                <a:latin typeface="Calibri"/>
              </a:rPr>
              <a:t>Verificaciones.</a:t>
            </a:r>
          </a:p>
          <a:p>
            <a:pPr marL="256032" indent="-256032">
              <a:spcAft>
                <a:spcPts val="800"/>
              </a:spcAft>
              <a:buClr>
                <a:srgbClr val="6A4C9C"/>
              </a:buClr>
              <a:buFont typeface="Arial"/>
              <a:buChar char="•"/>
            </a:pPr>
            <a:r>
              <a:rPr sz="1600" b="0">
                <a:solidFill>
                  <a:srgbClr val="222233"/>
                </a:solidFill>
                <a:latin typeface="Calibri"/>
              </a:rPr>
              <a:t>Reparaciones.</a:t>
            </a:r>
          </a:p>
          <a:p>
            <a:pPr marL="256032" indent="-256032">
              <a:spcAft>
                <a:spcPts val="800"/>
              </a:spcAft>
              <a:buClr>
                <a:srgbClr val="6A4C9C"/>
              </a:buClr>
              <a:buFont typeface="Arial"/>
              <a:buChar char="•"/>
            </a:pPr>
            <a:r>
              <a:rPr sz="1600" b="0">
                <a:solidFill>
                  <a:srgbClr val="222233"/>
                </a:solidFill>
                <a:latin typeface="Calibri"/>
              </a:rPr>
              <a:t>Mantenciones.</a:t>
            </a:r>
          </a:p>
          <a:p>
            <a:pPr>
              <a:spcAft>
                <a:spcPts val="800"/>
              </a:spcAft>
            </a:pPr>
            <a:r>
              <a:rPr sz="1600" b="1">
                <a:solidFill>
                  <a:srgbClr val="4B2E83"/>
                </a:solidFill>
                <a:latin typeface="Calibri"/>
              </a:rPr>
              <a:t>¡En toda intervención existen riesgos que debemos controlar!</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95</a:t>
            </a:r>
          </a:p>
        </p:txBody>
      </p:sp>
    </p:spTree>
    <p:extLst>
      <p:ext uri="{BB962C8B-B14F-4D97-AF65-F5344CB8AC3E}">
        <p14:creationId xmlns:p14="http://schemas.microsoft.com/office/powerpoint/2010/main" val="826043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7BD2B8C-25E8-0791-E471-BB22807D6FD6}"/>
            </a:ext>
          </a:extLst>
        </p:cNvPr>
        <p:cNvGrpSpPr/>
        <p:nvPr/>
      </p:nvGrpSpPr>
      <p:grpSpPr>
        <a:xfrm>
          <a:off x="0" y="0"/>
          <a:ext cx="0" cy="0"/>
          <a:chOff x="0" y="0"/>
          <a:chExt cx="0" cy="0"/>
        </a:xfrm>
      </p:grpSpPr>
      <p:pic>
        <p:nvPicPr>
          <p:cNvPr id="14338" name="Picture 2" descr="Ingeniero Eléctrico Que Utiliza Equipos Medición Digitales Varios Medidores  Para — Foto de stock #401886470 © eakrinr">
            <a:extLst>
              <a:ext uri="{FF2B5EF4-FFF2-40B4-BE49-F238E27FC236}">
                <a16:creationId xmlns:a16="http://schemas.microsoft.com/office/drawing/2014/main" id="{0B7CE478-31D7-A5D6-38B2-B4A5A6099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4986" y="2672080"/>
            <a:ext cx="4450373" cy="3248941"/>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9989E264-8B7E-0F5B-9518-F7496A86181C}"/>
              </a:ext>
            </a:extLst>
          </p:cNvPr>
          <p:cNvPicPr>
            <a:picLocks noChangeAspect="1"/>
          </p:cNvPicPr>
          <p:nvPr/>
        </p:nvPicPr>
        <p:blipFill>
          <a:blip r:embed="rId3"/>
          <a:stretch>
            <a:fillRect/>
          </a:stretch>
        </p:blipFill>
        <p:spPr>
          <a:xfrm>
            <a:off x="548640" y="2672080"/>
            <a:ext cx="3322026" cy="3248941"/>
          </a:xfrm>
          <a:prstGeom prst="rect">
            <a:avLst/>
          </a:prstGeom>
        </p:spPr>
      </p:pic>
      <p:sp>
        <p:nvSpPr>
          <p:cNvPr id="1433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EQUIPOS DE MANIOBRA</a:t>
            </a:r>
          </a:p>
        </p:txBody>
      </p:sp>
      <p:sp>
        <p:nvSpPr>
          <p:cNvPr id="1434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Detectores de tensión en B.T.</a:t>
            </a:r>
          </a:p>
        </p:txBody>
      </p:sp>
      <p:sp>
        <p:nvSpPr>
          <p:cNvPr id="14341" name="Cuerpo"/>
          <p:cNvSpPr txBox="1"/>
          <p:nvPr/>
        </p:nvSpPr>
        <p:spPr>
          <a:xfrm>
            <a:off x="548640" y="1463040"/>
            <a:ext cx="8046720" cy="980440"/>
          </a:xfrm>
          <a:prstGeom prst="rect">
            <a:avLst/>
          </a:prstGeom>
          <a:noFill/>
        </p:spPr>
        <p:txBody>
          <a:bodyPr wrap="square" lIns="0" rIns="0" tIns="0" bIns="0">
            <a:spAutoFit/>
          </a:bodyPr>
          <a:lstStyle/>
          <a:p>
            <a:pPr>
              <a:spcAft>
                <a:spcPts val="800"/>
              </a:spcAft>
            </a:pPr>
            <a:r>
              <a:rPr sz="1600" b="1">
                <a:solidFill>
                  <a:srgbClr val="4B2E83"/>
                </a:solidFill>
                <a:latin typeface="Calibri"/>
              </a:rPr>
              <a:t>Una importante causa de muerte por electrocución: no verificar la ausencia de tensión con los instrumentos adecuados.</a:t>
            </a:r>
          </a:p>
          <a:p>
            <a:pPr>
              <a:spcAft>
                <a:spcPts val="800"/>
              </a:spcAft>
            </a:pPr>
            <a:r>
              <a:rPr sz="1600" b="0">
                <a:solidFill>
                  <a:srgbClr val="222233"/>
                </a:solidFill>
                <a:latin typeface="Calibri"/>
              </a:rPr>
              <a:t>En baja tensión se utilizan voltímetros.</a:t>
            </a:r>
          </a:p>
        </p:txBody>
      </p:sp>
      <p:sp>
        <p:nvSpPr>
          <p:cNvPr id="14342"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4343"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4344"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96</a:t>
            </a:r>
          </a:p>
        </p:txBody>
      </p:sp>
    </p:spTree>
    <p:extLst>
      <p:ext uri="{BB962C8B-B14F-4D97-AF65-F5344CB8AC3E}">
        <p14:creationId xmlns:p14="http://schemas.microsoft.com/office/powerpoint/2010/main" val="15614178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3A70B2E-B4C0-D22B-965F-4E8F7E02090F}"/>
            </a:ext>
          </a:extLst>
        </p:cNvPr>
        <p:cNvGrpSpPr/>
        <p:nvPr/>
      </p:nvGrpSpPr>
      <p:grpSpPr>
        <a:xfrm>
          <a:off x="0" y="0"/>
          <a:ext cx="0" cy="0"/>
          <a:chOff x="0" y="0"/>
          <a:chExt cx="0" cy="0"/>
        </a:xfrm>
      </p:grpSpPr>
      <p:pic>
        <p:nvPicPr>
          <p:cNvPr id="22532" name="Picture 4" descr="Detectores de tensión &gt; 1 000 V CA">
            <a:extLst>
              <a:ext uri="{FF2B5EF4-FFF2-40B4-BE49-F238E27FC236}">
                <a16:creationId xmlns:a16="http://schemas.microsoft.com/office/drawing/2014/main" id="{88F2DB9B-D5EC-0863-F8A2-FE63A7ACC6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432" y="2326640"/>
            <a:ext cx="3857625" cy="3857625"/>
          </a:xfrm>
          <a:prstGeom prst="rect">
            <a:avLst/>
          </a:prstGeom>
          <a:noFill/>
          <a:extLst>
            <a:ext uri="{909E8E84-426E-40DD-AFC4-6F175D3DCCD1}">
              <a14:hiddenFill xmlns:a14="http://schemas.microsoft.com/office/drawing/2010/main">
                <a:solidFill>
                  <a:srgbClr val="FFFFFF"/>
                </a:solidFill>
              </a14:hiddenFill>
            </a:ext>
          </a:extLst>
        </p:spPr>
      </p:pic>
      <p:pic>
        <p:nvPicPr>
          <p:cNvPr id="22534" name="Picture 6" descr="Cat N° CC-765-3/10-K Detector de Tension 3/10KV Marca CATU | Comulsa Chile">
            <a:extLst>
              <a:ext uri="{FF2B5EF4-FFF2-40B4-BE49-F238E27FC236}">
                <a16:creationId xmlns:a16="http://schemas.microsoft.com/office/drawing/2014/main" id="{DD7940A8-387C-E3FB-4A19-32E89DBC46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377" y="2326640"/>
            <a:ext cx="3739189" cy="3857625"/>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2253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EQUIPOS DE MANIOBRA</a:t>
            </a:r>
          </a:p>
        </p:txBody>
      </p:sp>
      <p:sp>
        <p:nvSpPr>
          <p:cNvPr id="2253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Detectores unipolares de tensión</a:t>
            </a:r>
          </a:p>
        </p:txBody>
      </p:sp>
      <p:sp>
        <p:nvSpPr>
          <p:cNvPr id="22537" name="Cuerpo"/>
          <p:cNvSpPr txBox="1"/>
          <p:nvPr/>
        </p:nvSpPr>
        <p:spPr>
          <a:xfrm>
            <a:off x="548640" y="1463040"/>
            <a:ext cx="8046720" cy="635000"/>
          </a:xfrm>
          <a:prstGeom prst="rect">
            <a:avLst/>
          </a:prstGeom>
          <a:noFill/>
        </p:spPr>
        <p:txBody>
          <a:bodyPr wrap="square" lIns="0" rIns="0" tIns="0" bIns="0">
            <a:spAutoFit/>
          </a:bodyPr>
          <a:lstStyle/>
          <a:p>
            <a:pPr>
              <a:spcAft>
                <a:spcPts val="800"/>
              </a:spcAft>
            </a:pPr>
            <a:r>
              <a:rPr sz="1600" b="0">
                <a:solidFill>
                  <a:srgbClr val="222233"/>
                </a:solidFill>
                <a:latin typeface="Calibri"/>
              </a:rPr>
              <a:t>Detectores para M.T. y A.T. que indican la presencia de energía eléctrica. Son de contacto o de inducción.</a:t>
            </a:r>
          </a:p>
        </p:txBody>
      </p:sp>
      <p:sp>
        <p:nvSpPr>
          <p:cNvPr id="22538"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53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254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97</a:t>
            </a:r>
          </a:p>
        </p:txBody>
      </p:sp>
    </p:spTree>
    <p:extLst>
      <p:ext uri="{BB962C8B-B14F-4D97-AF65-F5344CB8AC3E}">
        <p14:creationId xmlns:p14="http://schemas.microsoft.com/office/powerpoint/2010/main" val="20547970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03E374-0EE8-CD73-6ECB-BE72A2D3F013}"/>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DE9342B0-9127-2A92-807D-4FF23ED841E3}"/>
              </a:ext>
            </a:extLst>
          </p:cNvPr>
          <p:cNvPicPr>
            <a:picLocks noChangeAspect="1"/>
          </p:cNvPicPr>
          <p:nvPr/>
        </p:nvPicPr>
        <p:blipFill>
          <a:blip r:embed="rId2"/>
          <a:srcRect l="70760" t="12050" r="13037" b="9325"/>
          <a:stretch/>
        </p:blipFill>
        <p:spPr>
          <a:xfrm>
            <a:off x="5564699" y="1417320"/>
            <a:ext cx="2358000" cy="4846320"/>
          </a:xfrm>
          <a:prstGeom prst="rect">
            <a:avLst/>
          </a:prstGeom>
        </p:spPr>
      </p:pic>
      <p:sp>
        <p:nvSpPr>
          <p:cNvPr id="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EQUIPOS DE MANIOBRA</a:t>
            </a:r>
          </a:p>
        </p:txBody>
      </p:sp>
      <p:sp>
        <p:nvSpPr>
          <p:cNvPr id="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Detectores bipolares de tensión</a:t>
            </a:r>
          </a:p>
        </p:txBody>
      </p:sp>
      <p:sp>
        <p:nvSpPr>
          <p:cNvPr id="9" name="Cuerpo"/>
          <p:cNvSpPr txBox="1"/>
          <p:nvPr/>
        </p:nvSpPr>
        <p:spPr>
          <a:xfrm>
            <a:off x="548640" y="1463040"/>
            <a:ext cx="4023360" cy="878839"/>
          </a:xfrm>
          <a:prstGeom prst="rect">
            <a:avLst/>
          </a:prstGeom>
          <a:noFill/>
        </p:spPr>
        <p:txBody>
          <a:bodyPr wrap="square" lIns="0" rIns="0" tIns="0" bIns="0">
            <a:spAutoFit/>
          </a:bodyPr>
          <a:lstStyle/>
          <a:p>
            <a:pPr>
              <a:spcAft>
                <a:spcPts val="800"/>
              </a:spcAft>
            </a:pPr>
            <a:r>
              <a:rPr sz="1600" b="0">
                <a:solidFill>
                  <a:srgbClr val="222233"/>
                </a:solidFill>
                <a:latin typeface="Calibri"/>
              </a:rPr>
              <a:t>Detectores para M.T. y A.T. que miden la tensión entre dos conductores de la red.</a:t>
            </a:r>
          </a:p>
        </p:txBody>
      </p:sp>
      <p:sp>
        <p:nvSpPr>
          <p:cNvPr id="10"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98</a:t>
            </a:r>
          </a:p>
        </p:txBody>
      </p:sp>
    </p:spTree>
    <p:extLst>
      <p:ext uri="{BB962C8B-B14F-4D97-AF65-F5344CB8AC3E}">
        <p14:creationId xmlns:p14="http://schemas.microsoft.com/office/powerpoint/2010/main" val="32259522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A9493D2-581D-EE12-9196-CA115523BD10}"/>
            </a:ext>
          </a:extLst>
        </p:cNvPr>
        <p:cNvGrpSpPr/>
        <p:nvPr/>
      </p:nvGrpSpPr>
      <p:grpSpPr>
        <a:xfrm>
          <a:off x="0" y="0"/>
          <a:ext cx="0" cy="0"/>
          <a:chOff x="0" y="0"/>
          <a:chExt cx="0" cy="0"/>
        </a:xfrm>
      </p:grpSpPr>
      <p:pic>
        <p:nvPicPr>
          <p:cNvPr id="5" name="Picture 4" descr="Traslado y cambio de red en Dia de desconexión en media tensión">
            <a:extLst>
              <a:ext uri="{FF2B5EF4-FFF2-40B4-BE49-F238E27FC236}">
                <a16:creationId xmlns:a16="http://schemas.microsoft.com/office/drawing/2014/main" id="{D0015175-73DA-B0FF-50A2-271666F2D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2040" y="1668456"/>
            <a:ext cx="3703320" cy="4344046"/>
          </a:xfrm>
          <a:prstGeom prst="rect">
            <a:avLst/>
          </a:prstGeom>
          <a:noFill/>
          <a:extLst>
            <a:ext uri="{909E8E84-426E-40DD-AFC4-6F175D3DCCD1}">
              <a14:hiddenFill xmlns:a14="http://schemas.microsoft.com/office/drawing/2010/main">
                <a:solidFill>
                  <a:srgbClr val="FFFFFF"/>
                </a:solidFill>
              </a14:hiddenFill>
            </a:ext>
          </a:extLst>
        </p:spPr>
      </p:pic>
      <p:sp>
        <p:nvSpPr>
          <p:cNvPr id="6"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EQUIPOS DE MANIOBRA</a:t>
            </a:r>
          </a:p>
        </p:txBody>
      </p:sp>
      <p:sp>
        <p:nvSpPr>
          <p:cNvPr id="7"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Pértigas dieléctricas</a:t>
            </a:r>
          </a:p>
        </p:txBody>
      </p:sp>
      <p:sp>
        <p:nvSpPr>
          <p:cNvPr id="8" name="Cuerpo"/>
          <p:cNvSpPr txBox="1"/>
          <p:nvPr/>
        </p:nvSpPr>
        <p:spPr>
          <a:xfrm>
            <a:off x="548640" y="1463040"/>
            <a:ext cx="4023360" cy="2646680"/>
          </a:xfrm>
          <a:prstGeom prst="rect">
            <a:avLst/>
          </a:prstGeom>
          <a:noFill/>
        </p:spPr>
        <p:txBody>
          <a:bodyPr wrap="square" lIns="0" rIns="0" tIns="0" bIns="0">
            <a:spAutoFit/>
          </a:bodyPr>
          <a:lstStyle/>
          <a:p>
            <a:pPr>
              <a:spcAft>
                <a:spcPts val="800"/>
              </a:spcAft>
            </a:pPr>
            <a:r>
              <a:rPr sz="1600" b="0">
                <a:solidFill>
                  <a:srgbClr val="222233"/>
                </a:solidFill>
                <a:latin typeface="Calibri"/>
              </a:rPr>
              <a:t>Permiten operar equipos en labores de mantenimiento y reparación a grandes alturas o en lugares de difícil acceso, sin recurrir a escaleras u otros medios que afecten la seguridad.</a:t>
            </a:r>
          </a:p>
          <a:p>
            <a:pPr>
              <a:spcAft>
                <a:spcPts val="800"/>
              </a:spcAft>
            </a:pPr>
            <a:r>
              <a:rPr sz="1600" b="0">
                <a:solidFill>
                  <a:srgbClr val="222233"/>
                </a:solidFill>
                <a:latin typeface="Calibri"/>
              </a:rPr>
              <a:t>Por ejemplo, permiten:</a:t>
            </a:r>
          </a:p>
          <a:p>
            <a:pPr marL="256032" indent="-256032">
              <a:spcAft>
                <a:spcPts val="800"/>
              </a:spcAft>
              <a:buClr>
                <a:srgbClr val="6A4C9C"/>
              </a:buClr>
              <a:buFont typeface="Arial"/>
              <a:buChar char="•"/>
            </a:pPr>
            <a:r>
              <a:rPr sz="1600" b="0">
                <a:solidFill>
                  <a:srgbClr val="222233"/>
                </a:solidFill>
                <a:latin typeface="Calibri"/>
              </a:rPr>
              <a:t>Operar equipos.</a:t>
            </a:r>
          </a:p>
          <a:p>
            <a:pPr marL="256032" indent="-256032">
              <a:spcAft>
                <a:spcPts val="800"/>
              </a:spcAft>
              <a:buClr>
                <a:srgbClr val="6A4C9C"/>
              </a:buClr>
              <a:buFont typeface="Arial"/>
              <a:buChar char="•"/>
            </a:pPr>
            <a:r>
              <a:rPr sz="1600" b="0">
                <a:solidFill>
                  <a:srgbClr val="222233"/>
                </a:solidFill>
                <a:latin typeface="Calibri"/>
              </a:rPr>
              <a:t>Verificar elementos de las líneas eléctricas.</a:t>
            </a:r>
          </a:p>
        </p:txBody>
      </p:sp>
      <p:sp>
        <p:nvSpPr>
          <p:cNvPr id="9"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1"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99</a:t>
            </a:r>
          </a:p>
        </p:txBody>
      </p:sp>
    </p:spTree>
    <p:extLst>
      <p:ext uri="{BB962C8B-B14F-4D97-AF65-F5344CB8AC3E}">
        <p14:creationId xmlns:p14="http://schemas.microsoft.com/office/powerpoint/2010/main" val="27512378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FB9619-F6F3-3D17-23C7-A3E4A8C4C73B}"/>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A60F9902-46A4-DB90-0AEB-7052D442A194}"/>
              </a:ext>
            </a:extLst>
          </p:cNvPr>
          <p:cNvPicPr>
            <a:picLocks noChangeAspect="1"/>
          </p:cNvPicPr>
          <p:nvPr/>
        </p:nvPicPr>
        <p:blipFill>
          <a:blip r:embed="rId2"/>
          <a:srcRect l="16582" t="53319" r="50000" b="8425"/>
          <a:stretch/>
        </p:blipFill>
        <p:spPr>
          <a:xfrm>
            <a:off x="548640" y="1959090"/>
            <a:ext cx="4159547" cy="3451882"/>
          </a:xfrm>
          <a:prstGeom prst="rect">
            <a:avLst/>
          </a:prstGeom>
        </p:spPr>
      </p:pic>
      <p:pic>
        <p:nvPicPr>
          <p:cNvPr id="13" name="Imagen 12">
            <a:extLst>
              <a:ext uri="{FF2B5EF4-FFF2-40B4-BE49-F238E27FC236}">
                <a16:creationId xmlns:a16="http://schemas.microsoft.com/office/drawing/2014/main" id="{BCFCED72-505D-FA9C-B3D9-F419D546C00B}"/>
              </a:ext>
            </a:extLst>
          </p:cNvPr>
          <p:cNvPicPr>
            <a:picLocks noChangeAspect="1"/>
          </p:cNvPicPr>
          <p:nvPr/>
        </p:nvPicPr>
        <p:blipFill>
          <a:blip r:embed="rId3"/>
          <a:srcRect l="23164" t="20914" r="51266" b="35654"/>
          <a:stretch/>
        </p:blipFill>
        <p:spPr>
          <a:xfrm>
            <a:off x="4982507" y="1959090"/>
            <a:ext cx="3612852" cy="3451882"/>
          </a:xfrm>
          <a:prstGeom prst="rect">
            <a:avLst/>
          </a:prstGeom>
        </p:spPr>
      </p:pic>
      <p:sp>
        <p:nvSpPr>
          <p:cNvPr id="14"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EQUIPOS DE MANIOBRA</a:t>
            </a:r>
          </a:p>
        </p:txBody>
      </p:sp>
      <p:sp>
        <p:nvSpPr>
          <p:cNvPr id="15"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Tipos de pértigas</a:t>
            </a:r>
          </a:p>
        </p:txBody>
      </p:sp>
      <p:sp>
        <p:nvSpPr>
          <p:cNvPr id="16" name="TextBox 15"/>
          <p:cNvSpPr txBox="1"/>
          <p:nvPr/>
        </p:nvSpPr>
        <p:spPr>
          <a:xfrm>
            <a:off x="274320" y="5456693"/>
            <a:ext cx="4708187" cy="274320"/>
          </a:xfrm>
          <a:prstGeom prst="rect">
            <a:avLst/>
          </a:prstGeom>
          <a:noFill/>
        </p:spPr>
        <p:txBody>
          <a:bodyPr wrap="square" anchor="t" lIns="0" rIns="0" tIns="0" bIns="0">
            <a:spAutoFit/>
          </a:bodyPr>
          <a:lstStyle/>
          <a:p>
            <a:pPr algn="ctr"/>
            <a:r>
              <a:rPr sz="1200" b="1" i="0">
                <a:solidFill>
                  <a:srgbClr val="6A4C9C"/>
                </a:solidFill>
                <a:latin typeface="Calibri"/>
              </a:rPr>
              <a:t>Pértiga telescópica</a:t>
            </a:r>
          </a:p>
        </p:txBody>
      </p:sp>
      <p:sp>
        <p:nvSpPr>
          <p:cNvPr id="17" name="TextBox 16"/>
          <p:cNvSpPr txBox="1"/>
          <p:nvPr/>
        </p:nvSpPr>
        <p:spPr>
          <a:xfrm>
            <a:off x="4708187" y="5456693"/>
            <a:ext cx="4161492" cy="274320"/>
          </a:xfrm>
          <a:prstGeom prst="rect">
            <a:avLst/>
          </a:prstGeom>
          <a:noFill/>
        </p:spPr>
        <p:txBody>
          <a:bodyPr wrap="square" anchor="t" lIns="0" rIns="0" tIns="0" bIns="0">
            <a:spAutoFit/>
          </a:bodyPr>
          <a:lstStyle/>
          <a:p>
            <a:pPr algn="ctr"/>
            <a:r>
              <a:rPr sz="1200" b="1" i="0">
                <a:solidFill>
                  <a:srgbClr val="6A4C9C"/>
                </a:solidFill>
                <a:latin typeface="Calibri"/>
              </a:rPr>
              <a:t>Pértiga de longitud fija</a:t>
            </a:r>
          </a:p>
        </p:txBody>
      </p:sp>
      <p:sp>
        <p:nvSpPr>
          <p:cNvPr id="18"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100</a:t>
            </a:r>
          </a:p>
        </p:txBody>
      </p:sp>
    </p:spTree>
    <p:extLst>
      <p:ext uri="{BB962C8B-B14F-4D97-AF65-F5344CB8AC3E}">
        <p14:creationId xmlns:p14="http://schemas.microsoft.com/office/powerpoint/2010/main" val="31005821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4436781-2074-E03C-CCED-62B1AD239E35}"/>
            </a:ext>
          </a:extLst>
        </p:cNvPr>
        <p:cNvGrpSpPr/>
        <p:nvPr/>
      </p:nvGrpSpPr>
      <p:grpSpPr>
        <a:xfrm>
          <a:off x="0" y="0"/>
          <a:ext cx="0" cy="0"/>
          <a:chOff x="0" y="0"/>
          <a:chExt cx="0" cy="0"/>
        </a:xfrm>
      </p:grpSpPr>
      <p:pic>
        <p:nvPicPr>
          <p:cNvPr id="23554" name="Picture 2" descr="LOAD-RANGER® XLT Herramienta Rompecargas">
            <a:extLst>
              <a:ext uri="{FF2B5EF4-FFF2-40B4-BE49-F238E27FC236}">
                <a16:creationId xmlns:a16="http://schemas.microsoft.com/office/drawing/2014/main" id="{71184EE0-EA5B-3A1F-B346-953A6316F06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8313"/>
          <a:stretch/>
        </p:blipFill>
        <p:spPr bwMode="auto">
          <a:xfrm>
            <a:off x="5106930" y="2915920"/>
            <a:ext cx="3422586" cy="3347720"/>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Loadbuster® – La Herramienta Rompecarga de S&amp;C">
            <a:extLst>
              <a:ext uri="{FF2B5EF4-FFF2-40B4-BE49-F238E27FC236}">
                <a16:creationId xmlns:a16="http://schemas.microsoft.com/office/drawing/2014/main" id="{711C65D9-D810-BD52-66C1-DD291FA92E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482" y="2915920"/>
            <a:ext cx="4218127" cy="3347720"/>
          </a:xfrm>
          <a:prstGeom prst="rect">
            <a:avLst/>
          </a:prstGeom>
          <a:noFill/>
          <a:extLst>
            <a:ext uri="{909E8E84-426E-40DD-AFC4-6F175D3DCCD1}">
              <a14:hiddenFill xmlns:a14="http://schemas.microsoft.com/office/drawing/2010/main">
                <a:solidFill>
                  <a:srgbClr val="FFFFFF"/>
                </a:solidFill>
              </a14:hiddenFill>
            </a:ext>
          </a:extLst>
        </p:spPr>
      </p:pic>
      <p:sp>
        <p:nvSpPr>
          <p:cNvPr id="23557"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EQUIPOS DE MANIOBRA</a:t>
            </a:r>
          </a:p>
        </p:txBody>
      </p:sp>
      <p:sp>
        <p:nvSpPr>
          <p:cNvPr id="23558"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Loadbuster</a:t>
            </a:r>
          </a:p>
        </p:txBody>
      </p:sp>
      <p:sp>
        <p:nvSpPr>
          <p:cNvPr id="23559" name="Cuerpo"/>
          <p:cNvSpPr txBox="1"/>
          <p:nvPr/>
        </p:nvSpPr>
        <p:spPr>
          <a:xfrm>
            <a:off x="548640" y="1463040"/>
            <a:ext cx="8046720" cy="1224280"/>
          </a:xfrm>
          <a:prstGeom prst="rect">
            <a:avLst/>
          </a:prstGeom>
          <a:noFill/>
        </p:spPr>
        <p:txBody>
          <a:bodyPr wrap="square" lIns="0" rIns="0" tIns="0" bIns="0">
            <a:spAutoFit/>
          </a:bodyPr>
          <a:lstStyle/>
          <a:p>
            <a:pPr>
              <a:spcAft>
                <a:spcPts val="800"/>
              </a:spcAft>
            </a:pPr>
            <a:r>
              <a:rPr sz="1600" b="0">
                <a:solidFill>
                  <a:srgbClr val="222233"/>
                </a:solidFill>
                <a:latin typeface="Calibri"/>
              </a:rPr>
              <a:t>Herramienta portátil, liviana y fácil de usar para abrir con carga seccionadores, cortacircuitos, fusibles de potencia y fusibles limitadores. Opera hasta 34,5 kV, con 600 A nominales y 900 A máximo.</a:t>
            </a:r>
          </a:p>
          <a:p>
            <a:pPr>
              <a:spcAft>
                <a:spcPts val="800"/>
              </a:spcAft>
            </a:pPr>
            <a:r>
              <a:rPr sz="1600" b="1">
                <a:solidFill>
                  <a:srgbClr val="4B2E83"/>
                </a:solidFill>
                <a:latin typeface="Calibri"/>
              </a:rPr>
              <a:t>Impide la aparición del arco eléctrico.</a:t>
            </a:r>
          </a:p>
        </p:txBody>
      </p:sp>
      <p:sp>
        <p:nvSpPr>
          <p:cNvPr id="2356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356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56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101</a:t>
            </a:r>
          </a:p>
        </p:txBody>
      </p:sp>
    </p:spTree>
    <p:extLst>
      <p:ext uri="{BB962C8B-B14F-4D97-AF65-F5344CB8AC3E}">
        <p14:creationId xmlns:p14="http://schemas.microsoft.com/office/powerpoint/2010/main" val="31328115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50704B1-ABD0-97E2-F8AB-F70D75AFE016}"/>
            </a:ext>
          </a:extLst>
        </p:cNvPr>
        <p:cNvGrpSpPr/>
        <p:nvPr/>
      </p:nvGrpSpPr>
      <p:grpSpPr>
        <a:xfrm>
          <a:off x="0" y="0"/>
          <a:ext cx="0" cy="0"/>
          <a:chOff x="0" y="0"/>
          <a:chExt cx="0" cy="0"/>
        </a:xfrm>
      </p:grpSpPr>
      <p:pic>
        <p:nvPicPr>
          <p:cNvPr id="5" name="Picture 2" descr="Equipos para puesta a tierra">
            <a:extLst>
              <a:ext uri="{FF2B5EF4-FFF2-40B4-BE49-F238E27FC236}">
                <a16:creationId xmlns:a16="http://schemas.microsoft.com/office/drawing/2014/main" id="{F237B343-FFBE-E373-DB7D-D1D60CD28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2040" y="1852291"/>
            <a:ext cx="3703320" cy="3976376"/>
          </a:xfrm>
          <a:prstGeom prst="rect">
            <a:avLst/>
          </a:prstGeom>
          <a:noFill/>
          <a:extLst>
            <a:ext uri="{909E8E84-426E-40DD-AFC4-6F175D3DCCD1}">
              <a14:hiddenFill xmlns:a14="http://schemas.microsoft.com/office/drawing/2010/main">
                <a:solidFill>
                  <a:srgbClr val="FFFFFF"/>
                </a:solidFill>
              </a14:hiddenFill>
            </a:ext>
          </a:extLst>
        </p:spPr>
      </p:pic>
      <p:sp>
        <p:nvSpPr>
          <p:cNvPr id="6"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PUESTA A TIERRA TEMPORAL</a:t>
            </a:r>
          </a:p>
        </p:txBody>
      </p:sp>
      <p:sp>
        <p:nvSpPr>
          <p:cNvPr id="7"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Puestas a tierra</a:t>
            </a:r>
          </a:p>
        </p:txBody>
      </p:sp>
      <p:sp>
        <p:nvSpPr>
          <p:cNvPr id="8" name="Cuerpo"/>
          <p:cNvSpPr txBox="1"/>
          <p:nvPr/>
        </p:nvSpPr>
        <p:spPr>
          <a:xfrm>
            <a:off x="548640" y="1463040"/>
            <a:ext cx="4023360" cy="1955799"/>
          </a:xfrm>
          <a:prstGeom prst="rect">
            <a:avLst/>
          </a:prstGeom>
          <a:noFill/>
        </p:spPr>
        <p:txBody>
          <a:bodyPr wrap="square" lIns="0" rIns="0" tIns="0" bIns="0">
            <a:spAutoFit/>
          </a:bodyPr>
          <a:lstStyle/>
          <a:p>
            <a:pPr>
              <a:spcAft>
                <a:spcPts val="800"/>
              </a:spcAft>
            </a:pPr>
            <a:r>
              <a:rPr sz="1600" b="0">
                <a:solidFill>
                  <a:srgbClr val="222233"/>
                </a:solidFill>
                <a:latin typeface="Calibri"/>
              </a:rPr>
              <a:t>Es la puesta a tierra provisional de líneas de transmisión y distribución sin electricidad.</a:t>
            </a:r>
          </a:p>
          <a:p>
            <a:pPr>
              <a:spcAft>
                <a:spcPts val="800"/>
              </a:spcAft>
            </a:pPr>
            <a:r>
              <a:rPr sz="1600" b="0">
                <a:solidFill>
                  <a:srgbClr val="222233"/>
                </a:solidFill>
                <a:latin typeface="Calibri"/>
              </a:rPr>
              <a:t>Se utiliza para proteger a los linieros u operarios mientras duran los trabajos de construcción o de mantención de estas instalaciones.</a:t>
            </a:r>
          </a:p>
        </p:txBody>
      </p:sp>
      <p:sp>
        <p:nvSpPr>
          <p:cNvPr id="9"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1"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102</a:t>
            </a:r>
          </a:p>
        </p:txBody>
      </p:sp>
    </p:spTree>
    <p:extLst>
      <p:ext uri="{BB962C8B-B14F-4D97-AF65-F5344CB8AC3E}">
        <p14:creationId xmlns:p14="http://schemas.microsoft.com/office/powerpoint/2010/main" val="30303250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74" name="Picture 2" descr="Accesorios Puesta a tierra para líneas aéreas - Comulsa Colombia">
            <a:extLst>
              <a:ext uri="{FF2B5EF4-FFF2-40B4-BE49-F238E27FC236}">
                <a16:creationId xmlns:a16="http://schemas.microsoft.com/office/drawing/2014/main" id="{B1845D2A-E528-8368-3E72-95D498BFF7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7347" b="12286"/>
          <a:stretch/>
        </p:blipFill>
        <p:spPr bwMode="auto">
          <a:xfrm>
            <a:off x="2137795" y="2672080"/>
            <a:ext cx="4868409" cy="3591560"/>
          </a:xfrm>
          <a:prstGeom prst="rect">
            <a:avLst/>
          </a:prstGeom>
          <a:noFill/>
          <a:extLst>
            <a:ext uri="{909E8E84-426E-40DD-AFC4-6F175D3DCCD1}">
              <a14:hiddenFill xmlns:a14="http://schemas.microsoft.com/office/drawing/2010/main">
                <a:solidFill>
                  <a:srgbClr val="FFFFFF"/>
                </a:solidFill>
              </a14:hiddenFill>
            </a:ext>
          </a:extLst>
        </p:spPr>
      </p:pic>
      <p:sp>
        <p:nvSpPr>
          <p:cNvPr id="307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PUESTA A TIERRA TEMPORAL</a:t>
            </a:r>
          </a:p>
        </p:txBody>
      </p:sp>
      <p:sp>
        <p:nvSpPr>
          <p:cNvPr id="307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Requisitos generales (1/3)</a:t>
            </a:r>
          </a:p>
        </p:txBody>
      </p:sp>
      <p:sp>
        <p:nvSpPr>
          <p:cNvPr id="3077" name="Cuerpo"/>
          <p:cNvSpPr txBox="1"/>
          <p:nvPr/>
        </p:nvSpPr>
        <p:spPr>
          <a:xfrm>
            <a:off x="548640" y="1463040"/>
            <a:ext cx="8046720" cy="980440"/>
          </a:xfrm>
          <a:prstGeom prst="rect">
            <a:avLst/>
          </a:prstGeom>
          <a:noFill/>
        </p:spPr>
        <p:txBody>
          <a:bodyPr wrap="square" lIns="0" rIns="0" tIns="0" bIns="0">
            <a:spAutoFit/>
          </a:bodyPr>
          <a:lstStyle/>
          <a:p>
            <a:pPr marL="256032" indent="-256032">
              <a:spcAft>
                <a:spcPts val="800"/>
              </a:spcAft>
              <a:buClr>
                <a:srgbClr val="6A4C9C"/>
              </a:buClr>
              <a:buFont typeface="Arial"/>
              <a:buChar char="•"/>
            </a:pPr>
            <a:r>
              <a:rPr sz="1600" b="0">
                <a:solidFill>
                  <a:srgbClr val="222233"/>
                </a:solidFill>
                <a:latin typeface="Calibri"/>
              </a:rPr>
              <a:t>Electrodo tipo barreno con longitud mínima de 1,5 m.</a:t>
            </a:r>
          </a:p>
          <a:p>
            <a:pPr marL="256032" indent="-256032">
              <a:spcAft>
                <a:spcPts val="800"/>
              </a:spcAft>
              <a:buClr>
                <a:srgbClr val="6A4C9C"/>
              </a:buClr>
              <a:buFont typeface="Arial"/>
              <a:buChar char="•"/>
            </a:pPr>
            <a:r>
              <a:rPr sz="1600" b="0">
                <a:solidFill>
                  <a:srgbClr val="222233"/>
                </a:solidFill>
                <a:latin typeface="Calibri"/>
              </a:rPr>
              <a:t>Grapas o pinzas adecuadas a la geometría del elemento a conectar (planas o con dientes).</a:t>
            </a:r>
          </a:p>
        </p:txBody>
      </p:sp>
      <p:sp>
        <p:nvSpPr>
          <p:cNvPr id="307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307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308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103</a:t>
            </a:r>
          </a:p>
        </p:txBody>
      </p:sp>
    </p:spTree>
    <p:extLst>
      <p:ext uri="{BB962C8B-B14F-4D97-AF65-F5344CB8AC3E}">
        <p14:creationId xmlns:p14="http://schemas.microsoft.com/office/powerpoint/2010/main" val="32082403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PUESTA A TIERRA TEMPORAL</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Requisitos generales (2/3)</a:t>
            </a:r>
          </a:p>
        </p:txBody>
      </p:sp>
      <p:sp>
        <p:nvSpPr>
          <p:cNvPr id="4" name="Rounded Rectangle 3"/>
          <p:cNvSpPr/>
          <p:nvPr/>
        </p:nvSpPr>
        <p:spPr>
          <a:xfrm>
            <a:off x="548640" y="1508760"/>
            <a:ext cx="8046720" cy="2992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Bolt_w.png"/>
          <p:cNvPicPr>
            <a:picLocks noChangeAspect="1"/>
          </p:cNvPicPr>
          <p:nvPr/>
        </p:nvPicPr>
        <p:blipFill>
          <a:blip r:embed="rId3"/>
          <a:stretch>
            <a:fillRect/>
          </a:stretch>
        </p:blipFill>
        <p:spPr>
          <a:xfrm>
            <a:off x="1077163" y="2037283"/>
            <a:ext cx="451713" cy="451713"/>
          </a:xfrm>
          <a:prstGeom prst="rect">
            <a:avLst/>
          </a:prstGeom>
        </p:spPr>
      </p:pic>
      <p:sp>
        <p:nvSpPr>
          <p:cNvPr id="7" name="Cuerpo"/>
          <p:cNvSpPr txBox="1"/>
          <p:nvPr/>
        </p:nvSpPr>
        <p:spPr>
          <a:xfrm>
            <a:off x="2057400" y="1874519"/>
            <a:ext cx="6263640" cy="2260599"/>
          </a:xfrm>
          <a:prstGeom prst="rect">
            <a:avLst/>
          </a:prstGeom>
          <a:noFill/>
        </p:spPr>
        <p:txBody>
          <a:bodyPr wrap="square" lIns="0" rIns="0" tIns="0" bIns="0">
            <a:spAutoFit/>
          </a:bodyPr>
          <a:lstStyle/>
          <a:p>
            <a:pPr>
              <a:spcAft>
                <a:spcPts val="800"/>
              </a:spcAft>
            </a:pPr>
            <a:r>
              <a:rPr sz="1600" b="0">
                <a:solidFill>
                  <a:srgbClr val="222233"/>
                </a:solidFill>
                <a:latin typeface="Calibri"/>
              </a:rPr>
              <a:t>Cable de cobre flexible, cilíndrico, con cubierta transparente o translúcida que permita su inspección visual, y con un calibre que soporte como mínimo:</a:t>
            </a:r>
          </a:p>
          <a:p>
            <a:pPr marL="256032" indent="-256032">
              <a:spcAft>
                <a:spcPts val="800"/>
              </a:spcAft>
              <a:buClr>
                <a:srgbClr val="6A4C9C"/>
              </a:buClr>
              <a:buFont typeface="Arial"/>
              <a:buChar char="•"/>
            </a:pPr>
            <a:r>
              <a:rPr sz="1600" b="0">
                <a:solidFill>
                  <a:srgbClr val="222233"/>
                </a:solidFill>
                <a:latin typeface="Calibri"/>
              </a:rPr>
              <a:t>Alta tensión: 40 kA eficaces durante 1 s.</a:t>
            </a:r>
          </a:p>
          <a:p>
            <a:pPr marL="256032" indent="-256032">
              <a:spcAft>
                <a:spcPts val="800"/>
              </a:spcAft>
              <a:buClr>
                <a:srgbClr val="6A4C9C"/>
              </a:buClr>
              <a:buFont typeface="Arial"/>
              <a:buChar char="•"/>
            </a:pPr>
            <a:r>
              <a:rPr sz="1600" b="0">
                <a:solidFill>
                  <a:srgbClr val="222233"/>
                </a:solidFill>
                <a:latin typeface="Calibri"/>
              </a:rPr>
              <a:t>Media tensión: 8 kA eficaces durante 1 s.</a:t>
            </a:r>
          </a:p>
          <a:p>
            <a:pPr marL="256032" indent="-256032">
              <a:spcAft>
                <a:spcPts val="800"/>
              </a:spcAft>
              <a:buClr>
                <a:srgbClr val="6A4C9C"/>
              </a:buClr>
              <a:buFont typeface="Arial"/>
              <a:buChar char="•"/>
            </a:pPr>
            <a:r>
              <a:rPr sz="1600" b="0">
                <a:solidFill>
                  <a:srgbClr val="222233"/>
                </a:solidFill>
                <a:latin typeface="Calibri"/>
              </a:rPr>
              <a:t>Baja tensión: 3 kA eficaces durante 1 s.</a:t>
            </a:r>
          </a:p>
          <a:p>
            <a:pPr>
              <a:spcAft>
                <a:spcPts val="800"/>
              </a:spcAft>
            </a:pPr>
            <a:r>
              <a:rPr sz="1600" b="0">
                <a:solidFill>
                  <a:srgbClr val="222233"/>
                </a:solidFill>
                <a:latin typeface="Calibri"/>
              </a:rPr>
              <a:t>Con una temperatura final de 700 °C.</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104</a:t>
            </a:r>
          </a:p>
        </p:txBody>
      </p:sp>
    </p:spTree>
    <p:extLst>
      <p:ext uri="{BB962C8B-B14F-4D97-AF65-F5344CB8AC3E}">
        <p14:creationId xmlns:p14="http://schemas.microsoft.com/office/powerpoint/2010/main" val="300189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2" descr="Equipos Puesta Tierra Temporal">
            <a:extLst>
              <a:ext uri="{FF2B5EF4-FFF2-40B4-BE49-F238E27FC236}">
                <a16:creationId xmlns:a16="http://schemas.microsoft.com/office/drawing/2014/main" id="{606A293B-B32B-102E-76E6-CF45E991E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1897380"/>
            <a:ext cx="3886200" cy="3886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it Sistema Puesta a tierra Media Tensión | Soldexel">
            <a:extLst>
              <a:ext uri="{FF2B5EF4-FFF2-40B4-BE49-F238E27FC236}">
                <a16:creationId xmlns:a16="http://schemas.microsoft.com/office/drawing/2014/main" id="{B878AF70-425A-2434-5E03-91275FCEBF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9159" y="1897380"/>
            <a:ext cx="3886200" cy="3886200"/>
          </a:xfrm>
          <a:prstGeom prst="rect">
            <a:avLst/>
          </a:prstGeom>
          <a:noFill/>
          <a:extLst>
            <a:ext uri="{909E8E84-426E-40DD-AFC4-6F175D3DCCD1}">
              <a14:hiddenFill xmlns:a14="http://schemas.microsoft.com/office/drawing/2010/main">
                <a:solidFill>
                  <a:srgbClr val="FFFFFF"/>
                </a:solidFill>
              </a14:hiddenFill>
            </a:ext>
          </a:extLst>
        </p:spPr>
      </p:pic>
      <p:sp>
        <p:nvSpPr>
          <p:cNvPr id="1029"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PUESTA A TIERRA TEMPORAL</a:t>
            </a:r>
          </a:p>
        </p:txBody>
      </p:sp>
      <p:sp>
        <p:nvSpPr>
          <p:cNvPr id="1030"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Equipos de puesta a tierra de M.T.</a:t>
            </a:r>
          </a:p>
        </p:txBody>
      </p:sp>
      <p:sp>
        <p:nvSpPr>
          <p:cNvPr id="1031"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3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3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105</a:t>
            </a:r>
          </a:p>
        </p:txBody>
      </p:sp>
    </p:spTree>
    <p:extLst>
      <p:ext uri="{BB962C8B-B14F-4D97-AF65-F5344CB8AC3E}">
        <p14:creationId xmlns:p14="http://schemas.microsoft.com/office/powerpoint/2010/main" val="24629944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3AC057A-494E-BA28-9C9B-B43F57D06A65}"/>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E363C123-2F95-80D2-EC90-E851D70E59C5}"/>
              </a:ext>
            </a:extLst>
          </p:cNvPr>
          <p:cNvPicPr>
            <a:picLocks noChangeAspect="1"/>
          </p:cNvPicPr>
          <p:nvPr/>
        </p:nvPicPr>
        <p:blipFill>
          <a:blip r:embed="rId3"/>
          <a:srcRect l="10120"/>
          <a:stretch/>
        </p:blipFill>
        <p:spPr>
          <a:xfrm>
            <a:off x="1660915" y="1417320"/>
            <a:ext cx="5822168" cy="4846320"/>
          </a:xfrm>
          <a:prstGeom prst="rect">
            <a:avLst/>
          </a:prstGeom>
        </p:spPr>
      </p:pic>
      <p:sp>
        <p:nvSpPr>
          <p:cNvPr id="4"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PUESTA A TIERRA TEMPORAL</a:t>
            </a:r>
          </a:p>
        </p:txBody>
      </p:sp>
      <p:sp>
        <p:nvSpPr>
          <p:cNvPr id="5"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Puesta a tierra temporal en B.T.</a:t>
            </a:r>
          </a:p>
        </p:txBody>
      </p:sp>
      <p:sp>
        <p:nvSpPr>
          <p:cNvPr id="6"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7"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8"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106</a:t>
            </a:r>
          </a:p>
        </p:txBody>
      </p:sp>
    </p:spTree>
    <p:extLst>
      <p:ext uri="{BB962C8B-B14F-4D97-AF65-F5344CB8AC3E}">
        <p14:creationId xmlns:p14="http://schemas.microsoft.com/office/powerpoint/2010/main" val="28344863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PUESTA A TIERRA TEMPORAL</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Requisitos generales (3/3)</a:t>
            </a:r>
          </a:p>
        </p:txBody>
      </p:sp>
      <p:sp>
        <p:nvSpPr>
          <p:cNvPr id="4" name="Rounded Rectangle 3"/>
          <p:cNvSpPr/>
          <p:nvPr/>
        </p:nvSpPr>
        <p:spPr>
          <a:xfrm>
            <a:off x="548640" y="1508760"/>
            <a:ext cx="8046720" cy="237744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lipboardCheck_w.png"/>
          <p:cNvPicPr>
            <a:picLocks noChangeAspect="1"/>
          </p:cNvPicPr>
          <p:nvPr/>
        </p:nvPicPr>
        <p:blipFill>
          <a:blip r:embed="rId3"/>
          <a:stretch>
            <a:fillRect/>
          </a:stretch>
        </p:blipFill>
        <p:spPr>
          <a:xfrm>
            <a:off x="1077163" y="2037283"/>
            <a:ext cx="451713" cy="451713"/>
          </a:xfrm>
          <a:prstGeom prst="rect">
            <a:avLst/>
          </a:prstGeom>
        </p:spPr>
      </p:pic>
      <p:sp>
        <p:nvSpPr>
          <p:cNvPr id="7" name="Cuerpo"/>
          <p:cNvSpPr txBox="1"/>
          <p:nvPr/>
        </p:nvSpPr>
        <p:spPr>
          <a:xfrm>
            <a:off x="2057400" y="1874519"/>
            <a:ext cx="6263640" cy="1468119"/>
          </a:xfrm>
          <a:prstGeom prst="rect">
            <a:avLst/>
          </a:prstGeom>
          <a:noFill/>
        </p:spPr>
        <p:txBody>
          <a:bodyPr wrap="square" lIns="0" rIns="0" tIns="0" bIns="0">
            <a:spAutoFit/>
          </a:bodyPr>
          <a:lstStyle/>
          <a:p>
            <a:pPr>
              <a:spcAft>
                <a:spcPts val="800"/>
              </a:spcAft>
            </a:pPr>
            <a:r>
              <a:rPr sz="1600" b="0">
                <a:solidFill>
                  <a:srgbClr val="222233"/>
                </a:solidFill>
                <a:latin typeface="Calibri"/>
              </a:rPr>
              <a:t>Se pueden usar cables de menor calibre siempre que la corriente de falla calculada sea menor a los valores indicados y el tiempo de despeje evite que el conductor supere los 700 °C.</a:t>
            </a:r>
          </a:p>
          <a:p>
            <a:pPr>
              <a:spcAft>
                <a:spcPts val="800"/>
              </a:spcAft>
            </a:pPr>
            <a:r>
              <a:rPr sz="1600" b="0">
                <a:solidFill>
                  <a:srgbClr val="222233"/>
                </a:solidFill>
                <a:latin typeface="Calibri"/>
              </a:rPr>
              <a:t>Si la corriente de falla es superior, se debe usar un cable con capacidad suficiente para soportarla.</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107</a:t>
            </a:r>
          </a:p>
        </p:txBody>
      </p:sp>
    </p:spTree>
    <p:extLst>
      <p:ext uri="{BB962C8B-B14F-4D97-AF65-F5344CB8AC3E}">
        <p14:creationId xmlns:p14="http://schemas.microsoft.com/office/powerpoint/2010/main" val="195890794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602" name="Picture 2" descr="Puesta a Tierra para subestaciones de MT, Modelo PIMT 610, Fameca">
            <a:extLst>
              <a:ext uri="{FF2B5EF4-FFF2-40B4-BE49-F238E27FC236}">
                <a16:creationId xmlns:a16="http://schemas.microsoft.com/office/drawing/2014/main" id="{D5AC834A-4F03-C4B6-4911-A10FC9B36D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9159" y="1897380"/>
            <a:ext cx="3886200" cy="3886200"/>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MT-5805-870">
            <a:extLst>
              <a:ext uri="{FF2B5EF4-FFF2-40B4-BE49-F238E27FC236}">
                <a16:creationId xmlns:a16="http://schemas.microsoft.com/office/drawing/2014/main" id="{8A67D0C1-2F17-103F-AAEE-FA52AA0CBE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 y="1897380"/>
            <a:ext cx="3886200" cy="3886200"/>
          </a:xfrm>
          <a:prstGeom prst="rect">
            <a:avLst/>
          </a:prstGeom>
          <a:noFill/>
          <a:extLst>
            <a:ext uri="{909E8E84-426E-40DD-AFC4-6F175D3DCCD1}">
              <a14:hiddenFill xmlns:a14="http://schemas.microsoft.com/office/drawing/2010/main">
                <a:solidFill>
                  <a:srgbClr val="FFFFFF"/>
                </a:solidFill>
              </a14:hiddenFill>
            </a:ext>
          </a:extLst>
        </p:spPr>
      </p:pic>
      <p:sp>
        <p:nvSpPr>
          <p:cNvPr id="2560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PUESTA A TIERRA TEMPORAL</a:t>
            </a:r>
          </a:p>
        </p:txBody>
      </p:sp>
      <p:sp>
        <p:nvSpPr>
          <p:cNvPr id="2560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Otros equipos de puesta a tierra</a:t>
            </a:r>
          </a:p>
        </p:txBody>
      </p:sp>
      <p:sp>
        <p:nvSpPr>
          <p:cNvPr id="25607"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5608"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5609"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108</a:t>
            </a:r>
          </a:p>
        </p:txBody>
      </p:sp>
    </p:spTree>
    <p:extLst>
      <p:ext uri="{BB962C8B-B14F-4D97-AF65-F5344CB8AC3E}">
        <p14:creationId xmlns:p14="http://schemas.microsoft.com/office/powerpoint/2010/main" val="553791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8C0DF9-90E7-E9F3-9970-E292177AA3B4}"/>
            </a:ext>
          </a:extLst>
        </p:cNvPr>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PUESTA A TIERRA TEMPORAL</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Requisitos de instalación</a:t>
            </a:r>
          </a:p>
        </p:txBody>
      </p:sp>
      <p:sp>
        <p:nvSpPr>
          <p:cNvPr id="4" name="Rounded Rectangle 3"/>
          <p:cNvSpPr/>
          <p:nvPr/>
        </p:nvSpPr>
        <p:spPr>
          <a:xfrm>
            <a:off x="548640" y="1508760"/>
            <a:ext cx="8046720" cy="254508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HardHat_w.png"/>
          <p:cNvPicPr>
            <a:picLocks noChangeAspect="1"/>
          </p:cNvPicPr>
          <p:nvPr/>
        </p:nvPicPr>
        <p:blipFill>
          <a:blip r:embed="rId3"/>
          <a:stretch>
            <a:fillRect/>
          </a:stretch>
        </p:blipFill>
        <p:spPr>
          <a:xfrm>
            <a:off x="1077163" y="2037283"/>
            <a:ext cx="451713" cy="451713"/>
          </a:xfrm>
          <a:prstGeom prst="rect">
            <a:avLst/>
          </a:prstGeom>
        </p:spPr>
      </p:pic>
      <p:sp>
        <p:nvSpPr>
          <p:cNvPr id="7" name="Cuerpo"/>
          <p:cNvSpPr txBox="1"/>
          <p:nvPr/>
        </p:nvSpPr>
        <p:spPr>
          <a:xfrm>
            <a:off x="2057400" y="1874519"/>
            <a:ext cx="6263640" cy="1813559"/>
          </a:xfrm>
          <a:prstGeom prst="rect">
            <a:avLst/>
          </a:prstGeom>
          <a:noFill/>
        </p:spPr>
        <p:txBody>
          <a:bodyPr wrap="square" lIns="0" rIns="0" tIns="0" bIns="0">
            <a:spAutoFit/>
          </a:bodyPr>
          <a:lstStyle/>
          <a:p>
            <a:pPr marL="256032" indent="-256032">
              <a:spcAft>
                <a:spcPts val="800"/>
              </a:spcAft>
              <a:buClr>
                <a:srgbClr val="6A4C9C"/>
              </a:buClr>
              <a:buFont typeface="Arial"/>
              <a:buChar char="•"/>
            </a:pPr>
            <a:r>
              <a:rPr sz="1600" b="0">
                <a:solidFill>
                  <a:srgbClr val="222233"/>
                </a:solidFill>
                <a:latin typeface="Calibri"/>
              </a:rPr>
              <a:t>El montaje debe hacerse de modo que los pies del liniero queden a potencial de tierra y que los conductores conectados a la línea tengan la menor longitud e impedancia posible.</a:t>
            </a:r>
          </a:p>
          <a:p>
            <a:pPr marL="256032" indent="-256032">
              <a:spcAft>
                <a:spcPts val="800"/>
              </a:spcAft>
              <a:buClr>
                <a:srgbClr val="6A4C9C"/>
              </a:buClr>
              <a:buFont typeface="Arial"/>
              <a:buChar char="•"/>
            </a:pPr>
            <a:r>
              <a:rPr sz="1600" b="0">
                <a:solidFill>
                  <a:srgbClr val="222233"/>
                </a:solidFill>
                <a:latin typeface="Calibri"/>
              </a:rPr>
              <a:t>La secuencia de montaje es desde la tierra hasta la última fase.</a:t>
            </a:r>
          </a:p>
          <a:p>
            <a:pPr marL="256032" indent="-256032">
              <a:spcAft>
                <a:spcPts val="800"/>
              </a:spcAft>
              <a:buClr>
                <a:srgbClr val="6A4C9C"/>
              </a:buClr>
              <a:buFont typeface="Arial"/>
              <a:buChar char="•"/>
            </a:pPr>
            <a:r>
              <a:rPr sz="1600" b="0">
                <a:solidFill>
                  <a:srgbClr val="222233"/>
                </a:solidFill>
                <a:latin typeface="Calibri"/>
              </a:rPr>
              <a:t>El desmontaje se hace desde las fases hasta la tierra.</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109</a:t>
            </a:r>
          </a:p>
        </p:txBody>
      </p:sp>
    </p:spTree>
    <p:extLst>
      <p:ext uri="{BB962C8B-B14F-4D97-AF65-F5344CB8AC3E}">
        <p14:creationId xmlns:p14="http://schemas.microsoft.com/office/powerpoint/2010/main" val="16419483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076C87D-D938-9397-A2C1-326CCB6C2503}"/>
            </a:ext>
          </a:extLst>
        </p:cNvPr>
        <p:cNvGrpSpPr/>
        <p:nvPr/>
      </p:nvGrpSpPr>
      <p:grpSpPr>
        <a:xfrm>
          <a:off x="0" y="0"/>
          <a:ext cx="0" cy="0"/>
          <a:chOff x="0" y="0"/>
          <a:chExt cx="0" cy="0"/>
        </a:xfrm>
      </p:grpSpPr>
      <p:pic>
        <p:nvPicPr>
          <p:cNvPr id="12" name="Imagen 11" descr="Imagen que contiene exterior, luz, calle, alambre&#10;&#10;Descripción generada automáticamente">
            <a:extLst>
              <a:ext uri="{FF2B5EF4-FFF2-40B4-BE49-F238E27FC236}">
                <a16:creationId xmlns:a16="http://schemas.microsoft.com/office/drawing/2014/main" id="{D37F9293-B645-8E6A-1BDF-6C8D38C1C32C}"/>
              </a:ext>
            </a:extLst>
          </p:cNvPr>
          <p:cNvPicPr>
            <a:picLocks noChangeAspect="1"/>
          </p:cNvPicPr>
          <p:nvPr/>
        </p:nvPicPr>
        <p:blipFill>
          <a:blip r:embed="rId3"/>
          <a:stretch>
            <a:fillRect/>
          </a:stretch>
        </p:blipFill>
        <p:spPr>
          <a:xfrm>
            <a:off x="2384890" y="2672080"/>
            <a:ext cx="4374218" cy="3280664"/>
          </a:xfrm>
          <a:prstGeom prst="rect">
            <a:avLst/>
          </a:prstGeom>
        </p:spPr>
      </p:pic>
      <p:sp>
        <p:nvSpPr>
          <p:cNvPr id="1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3.1 TIPOS DE EQUIPOS EN LA RED</a:t>
            </a:r>
          </a:p>
        </p:txBody>
      </p:sp>
      <p:sp>
        <p:nvSpPr>
          <p:cNvPr id="1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Desconectador fusible de M.T.</a:t>
            </a:r>
          </a:p>
        </p:txBody>
      </p:sp>
      <p:sp>
        <p:nvSpPr>
          <p:cNvPr id="15" name="Cuerpo"/>
          <p:cNvSpPr txBox="1"/>
          <p:nvPr/>
        </p:nvSpPr>
        <p:spPr>
          <a:xfrm>
            <a:off x="548640" y="1463040"/>
            <a:ext cx="8046720" cy="980440"/>
          </a:xfrm>
          <a:prstGeom prst="rect">
            <a:avLst/>
          </a:prstGeom>
          <a:noFill/>
        </p:spPr>
        <p:txBody>
          <a:bodyPr wrap="square" lIns="0" rIns="0" tIns="0" bIns="0">
            <a:spAutoFit/>
          </a:bodyPr>
          <a:lstStyle/>
          <a:p>
            <a:pPr>
              <a:spcAft>
                <a:spcPts val="800"/>
              </a:spcAft>
            </a:pPr>
            <a:r>
              <a:rPr sz="1600" b="0">
                <a:solidFill>
                  <a:srgbClr val="222233"/>
                </a:solidFill>
                <a:latin typeface="Calibri"/>
              </a:rPr>
              <a:t>Equipo de maniobra y de protección capaz de aislar en forma visible tramos de circuitos o equipos para efectuar maniobras de operación y mantenimiento.</a:t>
            </a:r>
          </a:p>
          <a:p>
            <a:pPr>
              <a:spcAft>
                <a:spcPts val="800"/>
              </a:spcAft>
            </a:pPr>
            <a:r>
              <a:rPr sz="1600" b="0">
                <a:solidFill>
                  <a:srgbClr val="222233"/>
                </a:solidFill>
                <a:latin typeface="Calibri"/>
              </a:rPr>
              <a:t>La interrupción de la corriente la realiza un elemento interno llamado fusible.</a:t>
            </a:r>
          </a:p>
        </p:txBody>
      </p:sp>
      <p:sp>
        <p:nvSpPr>
          <p:cNvPr id="16" name="TextBox 15"/>
          <p:cNvSpPr txBox="1"/>
          <p:nvPr/>
        </p:nvSpPr>
        <p:spPr>
          <a:xfrm>
            <a:off x="2110570" y="5998464"/>
            <a:ext cx="4922858" cy="274320"/>
          </a:xfrm>
          <a:prstGeom prst="rect">
            <a:avLst/>
          </a:prstGeom>
          <a:noFill/>
        </p:spPr>
        <p:txBody>
          <a:bodyPr wrap="square" anchor="t" lIns="0" rIns="0" tIns="0" bIns="0">
            <a:spAutoFit/>
          </a:bodyPr>
          <a:lstStyle/>
          <a:p>
            <a:pPr algn="ctr"/>
            <a:r>
              <a:rPr sz="1200" b="1" i="0">
                <a:solidFill>
                  <a:srgbClr val="6A4C9C"/>
                </a:solidFill>
                <a:latin typeface="Calibri"/>
              </a:rPr>
              <a:t>Desconectador</a:t>
            </a:r>
          </a:p>
        </p:txBody>
      </p:sp>
      <p:sp>
        <p:nvSpPr>
          <p:cNvPr id="17"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8"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9"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110</a:t>
            </a:r>
          </a:p>
        </p:txBody>
      </p:sp>
    </p:spTree>
    <p:extLst>
      <p:ext uri="{BB962C8B-B14F-4D97-AF65-F5344CB8AC3E}">
        <p14:creationId xmlns:p14="http://schemas.microsoft.com/office/powerpoint/2010/main" val="25000307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09F64F0-A533-77A1-97B2-DA63C8ED8FA6}"/>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F96FAF29-147D-5D23-4ADC-8D1CD1070FD5}"/>
              </a:ext>
            </a:extLst>
          </p:cNvPr>
          <p:cNvPicPr>
            <a:picLocks noChangeAspect="1"/>
          </p:cNvPicPr>
          <p:nvPr/>
        </p:nvPicPr>
        <p:blipFill>
          <a:blip r:embed="rId3"/>
          <a:srcRect l="33001" t="36004" r="50924" b="25065"/>
          <a:stretch/>
        </p:blipFill>
        <p:spPr>
          <a:xfrm>
            <a:off x="548640" y="2397028"/>
            <a:ext cx="2281960" cy="2576007"/>
          </a:xfrm>
          <a:prstGeom prst="rect">
            <a:avLst/>
          </a:prstGeom>
        </p:spPr>
      </p:pic>
      <p:pic>
        <p:nvPicPr>
          <p:cNvPr id="8" name="Imagen 7">
            <a:extLst>
              <a:ext uri="{FF2B5EF4-FFF2-40B4-BE49-F238E27FC236}">
                <a16:creationId xmlns:a16="http://schemas.microsoft.com/office/drawing/2014/main" id="{755A35BB-DBCE-3065-A4A7-18D10A3636BD}"/>
              </a:ext>
            </a:extLst>
          </p:cNvPr>
          <p:cNvPicPr>
            <a:picLocks noChangeAspect="1"/>
          </p:cNvPicPr>
          <p:nvPr/>
        </p:nvPicPr>
        <p:blipFill>
          <a:blip r:embed="rId4"/>
          <a:srcRect l="68732" t="10074"/>
          <a:stretch/>
        </p:blipFill>
        <p:spPr>
          <a:xfrm>
            <a:off x="3104920" y="2397028"/>
            <a:ext cx="1354324" cy="2576007"/>
          </a:xfrm>
          <a:prstGeom prst="rect">
            <a:avLst/>
          </a:prstGeom>
        </p:spPr>
      </p:pic>
      <p:pic>
        <p:nvPicPr>
          <p:cNvPr id="13314" name="Picture 2" descr="Cómo garantizar la seguridad del liniero en el mantenimiento de la línea de  transmisión - TTF Telecom">
            <a:extLst>
              <a:ext uri="{FF2B5EF4-FFF2-40B4-BE49-F238E27FC236}">
                <a16:creationId xmlns:a16="http://schemas.microsoft.com/office/drawing/2014/main" id="{152D05BF-1386-5401-FE5C-4F37484562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3565" y="2397028"/>
            <a:ext cx="3861794" cy="2576007"/>
          </a:xfrm>
          <a:prstGeom prst="rect">
            <a:avLst/>
          </a:prstGeom>
          <a:noFill/>
          <a:extLst>
            <a:ext uri="{909E8E84-426E-40DD-AFC4-6F175D3DCCD1}">
              <a14:hiddenFill xmlns:a14="http://schemas.microsoft.com/office/drawing/2010/main">
                <a:solidFill>
                  <a:srgbClr val="FFFFFF"/>
                </a:solidFill>
              </a14:hiddenFill>
            </a:ext>
          </a:extLst>
        </p:spPr>
      </p:pic>
      <p:sp>
        <p:nvSpPr>
          <p:cNvPr id="1331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3.1 TIPOS DE EQUIPOS EN LA RED</a:t>
            </a:r>
          </a:p>
        </p:txBody>
      </p:sp>
      <p:sp>
        <p:nvSpPr>
          <p:cNvPr id="1331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Desconectador y fusible</a:t>
            </a:r>
          </a:p>
        </p:txBody>
      </p:sp>
      <p:sp>
        <p:nvSpPr>
          <p:cNvPr id="13317" name="TextBox 13316"/>
          <p:cNvSpPr txBox="1"/>
          <p:nvPr/>
        </p:nvSpPr>
        <p:spPr>
          <a:xfrm>
            <a:off x="274320" y="5018755"/>
            <a:ext cx="2830600" cy="274320"/>
          </a:xfrm>
          <a:prstGeom prst="rect">
            <a:avLst/>
          </a:prstGeom>
          <a:noFill/>
        </p:spPr>
        <p:txBody>
          <a:bodyPr wrap="square" anchor="t" lIns="0" rIns="0" tIns="0" bIns="0">
            <a:spAutoFit/>
          </a:bodyPr>
          <a:lstStyle/>
          <a:p>
            <a:pPr algn="ctr"/>
            <a:r>
              <a:rPr sz="1200" b="1" i="0">
                <a:solidFill>
                  <a:srgbClr val="6A4C9C"/>
                </a:solidFill>
                <a:latin typeface="Calibri"/>
              </a:rPr>
              <a:t>Desconectador</a:t>
            </a:r>
          </a:p>
        </p:txBody>
      </p:sp>
      <p:sp>
        <p:nvSpPr>
          <p:cNvPr id="13318" name="TextBox 13317"/>
          <p:cNvSpPr txBox="1"/>
          <p:nvPr/>
        </p:nvSpPr>
        <p:spPr>
          <a:xfrm>
            <a:off x="2830600" y="5018755"/>
            <a:ext cx="1902964" cy="274320"/>
          </a:xfrm>
          <a:prstGeom prst="rect">
            <a:avLst/>
          </a:prstGeom>
          <a:noFill/>
        </p:spPr>
        <p:txBody>
          <a:bodyPr wrap="square" anchor="t" lIns="0" rIns="0" tIns="0" bIns="0">
            <a:spAutoFit/>
          </a:bodyPr>
          <a:lstStyle/>
          <a:p>
            <a:pPr algn="ctr"/>
            <a:r>
              <a:rPr sz="1200" b="1" i="0">
                <a:solidFill>
                  <a:srgbClr val="6A4C9C"/>
                </a:solidFill>
                <a:latin typeface="Calibri"/>
              </a:rPr>
              <a:t>Fusible</a:t>
            </a:r>
          </a:p>
        </p:txBody>
      </p:sp>
      <p:sp>
        <p:nvSpPr>
          <p:cNvPr id="13319" name="TextBox 13318"/>
          <p:cNvSpPr txBox="1"/>
          <p:nvPr/>
        </p:nvSpPr>
        <p:spPr>
          <a:xfrm>
            <a:off x="4459245" y="5018755"/>
            <a:ext cx="4410434" cy="274320"/>
          </a:xfrm>
          <a:prstGeom prst="rect">
            <a:avLst/>
          </a:prstGeom>
          <a:noFill/>
        </p:spPr>
        <p:txBody>
          <a:bodyPr wrap="square" anchor="t" lIns="0" rIns="0" tIns="0" bIns="0">
            <a:spAutoFit/>
          </a:bodyPr>
          <a:lstStyle/>
          <a:p>
            <a:pPr algn="ctr"/>
            <a:r>
              <a:rPr sz="1200" b="1" i="0">
                <a:solidFill>
                  <a:srgbClr val="6A4C9C"/>
                </a:solidFill>
                <a:latin typeface="Calibri"/>
              </a:rPr>
              <a:t>Operación con pértiga</a:t>
            </a:r>
          </a:p>
        </p:txBody>
      </p:sp>
      <p:sp>
        <p:nvSpPr>
          <p:cNvPr id="13320"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33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33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111</a:t>
            </a:r>
          </a:p>
        </p:txBody>
      </p:sp>
    </p:spTree>
    <p:extLst>
      <p:ext uri="{BB962C8B-B14F-4D97-AF65-F5344CB8AC3E}">
        <p14:creationId xmlns:p14="http://schemas.microsoft.com/office/powerpoint/2010/main" val="24958827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DF9E2C-7C19-9023-CB34-0993261A6C83}"/>
            </a:ext>
          </a:extLst>
        </p:cNvPr>
        <p:cNvGrpSpPr/>
        <p:nvPr/>
      </p:nvGrpSpPr>
      <p:grpSpPr>
        <a:xfrm>
          <a:off x="0" y="0"/>
          <a:ext cx="0" cy="0"/>
          <a:chOff x="0" y="0"/>
          <a:chExt cx="0" cy="0"/>
        </a:xfrm>
      </p:grpSpPr>
      <p:pic>
        <p:nvPicPr>
          <p:cNvPr id="4" name="Imagen 3" descr="Imagen que contiene exterior, alambre, colgando, firmar&#10;&#10;Descripción generada automáticamente">
            <a:extLst>
              <a:ext uri="{FF2B5EF4-FFF2-40B4-BE49-F238E27FC236}">
                <a16:creationId xmlns:a16="http://schemas.microsoft.com/office/drawing/2014/main" id="{F6FC9E40-9E33-7273-C2AE-65CAFC7B468D}"/>
              </a:ext>
            </a:extLst>
          </p:cNvPr>
          <p:cNvPicPr>
            <a:picLocks noChangeAspect="1"/>
          </p:cNvPicPr>
          <p:nvPr/>
        </p:nvPicPr>
        <p:blipFill>
          <a:blip r:embed="rId3"/>
          <a:srcRect t="13580" r="26296"/>
          <a:stretch/>
        </p:blipFill>
        <p:spPr>
          <a:xfrm>
            <a:off x="2845348" y="2915920"/>
            <a:ext cx="3453303" cy="3036824"/>
          </a:xfrm>
          <a:prstGeom prst="rect">
            <a:avLst/>
          </a:prstGeom>
        </p:spPr>
      </p:pic>
      <p:sp>
        <p:nvSpPr>
          <p:cNvPr id="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3.1 TIPOS DE EQUIPOS EN LA RED</a:t>
            </a:r>
          </a:p>
        </p:txBody>
      </p:sp>
      <p:sp>
        <p:nvSpPr>
          <p:cNvPr id="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Seccionadores sin carga</a:t>
            </a:r>
          </a:p>
        </p:txBody>
      </p:sp>
      <p:sp>
        <p:nvSpPr>
          <p:cNvPr id="7" name="Cuerpo"/>
          <p:cNvSpPr txBox="1"/>
          <p:nvPr/>
        </p:nvSpPr>
        <p:spPr>
          <a:xfrm>
            <a:off x="548640" y="1463040"/>
            <a:ext cx="8046720" cy="1224280"/>
          </a:xfrm>
          <a:prstGeom prst="rect">
            <a:avLst/>
          </a:prstGeom>
          <a:noFill/>
        </p:spPr>
        <p:txBody>
          <a:bodyPr wrap="square" lIns="0" rIns="0" tIns="0" bIns="0">
            <a:spAutoFit/>
          </a:bodyPr>
          <a:lstStyle/>
          <a:p>
            <a:pPr>
              <a:spcAft>
                <a:spcPts val="800"/>
              </a:spcAft>
            </a:pPr>
            <a:r>
              <a:rPr sz="1600" b="0">
                <a:solidFill>
                  <a:srgbClr val="222233"/>
                </a:solidFill>
                <a:latin typeface="Calibri"/>
              </a:rPr>
              <a:t>Dispositivos de M.T. que permiten aislar una parte de la red de manera segura. Su función es seccionar o dejar en vacío la carga conectada para realizar mantenimiento o ante una falla.</a:t>
            </a:r>
          </a:p>
          <a:p>
            <a:pPr>
              <a:spcAft>
                <a:spcPts val="800"/>
              </a:spcAft>
            </a:pPr>
            <a:r>
              <a:rPr sz="1600" b="1">
                <a:solidFill>
                  <a:srgbClr val="4B2E83"/>
                </a:solidFill>
                <a:latin typeface="Calibri"/>
              </a:rPr>
              <a:t>No deben operarse con carga.</a:t>
            </a:r>
          </a:p>
        </p:txBody>
      </p:sp>
      <p:sp>
        <p:nvSpPr>
          <p:cNvPr id="8" name="TextBox 7"/>
          <p:cNvSpPr txBox="1"/>
          <p:nvPr/>
        </p:nvSpPr>
        <p:spPr>
          <a:xfrm>
            <a:off x="2571028" y="5998464"/>
            <a:ext cx="4001943" cy="274320"/>
          </a:xfrm>
          <a:prstGeom prst="rect">
            <a:avLst/>
          </a:prstGeom>
          <a:noFill/>
        </p:spPr>
        <p:txBody>
          <a:bodyPr wrap="square" anchor="t" lIns="0" rIns="0" tIns="0" bIns="0">
            <a:spAutoFit/>
          </a:bodyPr>
          <a:lstStyle/>
          <a:p>
            <a:pPr algn="ctr"/>
            <a:r>
              <a:rPr sz="1200" b="1" i="0">
                <a:solidFill>
                  <a:srgbClr val="6A4C9C"/>
                </a:solidFill>
                <a:latin typeface="Calibri"/>
              </a:rPr>
              <a:t>Seccionador</a:t>
            </a:r>
          </a:p>
        </p:txBody>
      </p:sp>
      <p:sp>
        <p:nvSpPr>
          <p:cNvPr id="9"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0"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1"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112</a:t>
            </a:r>
          </a:p>
        </p:txBody>
      </p:sp>
    </p:spTree>
    <p:extLst>
      <p:ext uri="{BB962C8B-B14F-4D97-AF65-F5344CB8AC3E}">
        <p14:creationId xmlns:p14="http://schemas.microsoft.com/office/powerpoint/2010/main" val="27121878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25E938A-D382-9D14-A0F8-33D3AB2356EC}"/>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92FFCF00-A4A5-C420-E745-904B68725721}"/>
              </a:ext>
            </a:extLst>
          </p:cNvPr>
          <p:cNvPicPr>
            <a:picLocks noChangeAspect="1"/>
          </p:cNvPicPr>
          <p:nvPr/>
        </p:nvPicPr>
        <p:blipFill>
          <a:blip r:embed="rId3"/>
          <a:srcRect l="40971" t="43743" r="34175" b="23980"/>
          <a:stretch/>
        </p:blipFill>
        <p:spPr>
          <a:xfrm>
            <a:off x="548640" y="2915920"/>
            <a:ext cx="4546079" cy="3320770"/>
          </a:xfrm>
          <a:prstGeom prst="rect">
            <a:avLst/>
          </a:prstGeom>
        </p:spPr>
      </p:pic>
      <p:pic>
        <p:nvPicPr>
          <p:cNvPr id="10" name="Imagen 9">
            <a:extLst>
              <a:ext uri="{FF2B5EF4-FFF2-40B4-BE49-F238E27FC236}">
                <a16:creationId xmlns:a16="http://schemas.microsoft.com/office/drawing/2014/main" id="{D4C03D1F-EA10-27C0-03D6-FB20687D0EF2}"/>
              </a:ext>
            </a:extLst>
          </p:cNvPr>
          <p:cNvPicPr>
            <a:picLocks noChangeAspect="1"/>
          </p:cNvPicPr>
          <p:nvPr/>
        </p:nvPicPr>
        <p:blipFill>
          <a:blip r:embed="rId4"/>
          <a:srcRect l="31763" t="62211" r="51447" b="7066"/>
          <a:stretch/>
        </p:blipFill>
        <p:spPr>
          <a:xfrm>
            <a:off x="5369039" y="2915920"/>
            <a:ext cx="3226320" cy="3320770"/>
          </a:xfrm>
          <a:prstGeom prst="rect">
            <a:avLst/>
          </a:prstGeom>
        </p:spPr>
      </p:pic>
      <p:sp>
        <p:nvSpPr>
          <p:cNvPr id="1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3.1 TIPOS DE EQUIPOS EN LA RED</a:t>
            </a:r>
          </a:p>
        </p:txBody>
      </p:sp>
      <p:sp>
        <p:nvSpPr>
          <p:cNvPr id="1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Desconectador bajo carga Alduti Rupter</a:t>
            </a:r>
          </a:p>
        </p:txBody>
      </p:sp>
      <p:sp>
        <p:nvSpPr>
          <p:cNvPr id="13" name="Cuerpo"/>
          <p:cNvSpPr txBox="1"/>
          <p:nvPr/>
        </p:nvSpPr>
        <p:spPr>
          <a:xfrm>
            <a:off x="548640" y="1463040"/>
            <a:ext cx="8046720" cy="1224280"/>
          </a:xfrm>
          <a:prstGeom prst="rect">
            <a:avLst/>
          </a:prstGeom>
          <a:noFill/>
        </p:spPr>
        <p:txBody>
          <a:bodyPr wrap="square" lIns="0" rIns="0" tIns="0" bIns="0">
            <a:spAutoFit/>
          </a:bodyPr>
          <a:lstStyle/>
          <a:p>
            <a:pPr>
              <a:spcAft>
                <a:spcPts val="800"/>
              </a:spcAft>
            </a:pPr>
            <a:r>
              <a:rPr sz="1600" b="0">
                <a:solidFill>
                  <a:srgbClr val="222233"/>
                </a:solidFill>
                <a:latin typeface="Calibri"/>
              </a:rPr>
              <a:t>Desconectador bajo carga para maniobras de apertura o cierre, manual o remota, en alimentadores de M.T., para establecer límites de zona o semizona. Opera entre 14,4 y 69 kV y entre 600 y 900 A.</a:t>
            </a:r>
          </a:p>
          <a:p>
            <a:pPr>
              <a:spcAft>
                <a:spcPts val="800"/>
              </a:spcAft>
            </a:pPr>
            <a:r>
              <a:rPr sz="1600" b="1">
                <a:solidFill>
                  <a:srgbClr val="4B2E83"/>
                </a:solidFill>
                <a:latin typeface="Calibri"/>
              </a:rPr>
              <a:t>Evita el arco eléctrico o flameo.</a:t>
            </a:r>
          </a:p>
        </p:txBody>
      </p:sp>
      <p:sp>
        <p:nvSpPr>
          <p:cNvPr id="14"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5"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6"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113</a:t>
            </a:r>
          </a:p>
        </p:txBody>
      </p:sp>
    </p:spTree>
    <p:extLst>
      <p:ext uri="{BB962C8B-B14F-4D97-AF65-F5344CB8AC3E}">
        <p14:creationId xmlns:p14="http://schemas.microsoft.com/office/powerpoint/2010/main" val="28488561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003A2B-7E9F-86E2-F91D-AD7EEB858171}"/>
            </a:ext>
          </a:extLst>
        </p:cNvPr>
        <p:cNvGrpSpPr/>
        <p:nvPr/>
      </p:nvGrpSpPr>
      <p:grpSpPr>
        <a:xfrm>
          <a:off x="0" y="0"/>
          <a:ext cx="0" cy="0"/>
          <a:chOff x="0" y="0"/>
          <a:chExt cx="0" cy="0"/>
        </a:xfrm>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3.1 TIPOS DE EQUIPOS EN LA RED</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Reconectadores automáticos</a:t>
            </a:r>
          </a:p>
        </p:txBody>
      </p:sp>
      <p:sp>
        <p:nvSpPr>
          <p:cNvPr id="4" name="Rounded Rectangle 3"/>
          <p:cNvSpPr/>
          <p:nvPr/>
        </p:nvSpPr>
        <p:spPr>
          <a:xfrm>
            <a:off x="548640" y="1508760"/>
            <a:ext cx="8046720" cy="303276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828800"/>
            <a:ext cx="868680" cy="8686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Redo_w.png"/>
          <p:cNvPicPr>
            <a:picLocks noChangeAspect="1"/>
          </p:cNvPicPr>
          <p:nvPr/>
        </p:nvPicPr>
        <p:blipFill>
          <a:blip r:embed="rId3"/>
          <a:stretch>
            <a:fillRect/>
          </a:stretch>
        </p:blipFill>
        <p:spPr>
          <a:xfrm>
            <a:off x="1077163" y="2037283"/>
            <a:ext cx="451713" cy="451713"/>
          </a:xfrm>
          <a:prstGeom prst="rect">
            <a:avLst/>
          </a:prstGeom>
        </p:spPr>
      </p:pic>
      <p:sp>
        <p:nvSpPr>
          <p:cNvPr id="7" name="Cuerpo"/>
          <p:cNvSpPr txBox="1"/>
          <p:nvPr/>
        </p:nvSpPr>
        <p:spPr>
          <a:xfrm>
            <a:off x="2057400" y="1874519"/>
            <a:ext cx="6263640" cy="2301240"/>
          </a:xfrm>
          <a:prstGeom prst="rect">
            <a:avLst/>
          </a:prstGeom>
          <a:noFill/>
        </p:spPr>
        <p:txBody>
          <a:bodyPr wrap="square" lIns="0" rIns="0" tIns="0" bIns="0">
            <a:spAutoFit/>
          </a:bodyPr>
          <a:lstStyle/>
          <a:p>
            <a:pPr>
              <a:spcAft>
                <a:spcPts val="800"/>
              </a:spcAft>
            </a:pPr>
            <a:r>
              <a:rPr sz="1600" b="0">
                <a:solidFill>
                  <a:srgbClr val="222233"/>
                </a:solidFill>
                <a:latin typeface="Calibri"/>
              </a:rPr>
              <a:t>Entre el 80 % y el 95 % de las fallas en distribución son temporales, de muy corta duración, causadas por viento o árboles. Por eso se instalan estos interruptores automáticos con detección de corrientes de fase y residual ante cortocircuitos.</a:t>
            </a:r>
          </a:p>
          <a:p>
            <a:pPr>
              <a:spcAft>
                <a:spcPts val="800"/>
              </a:spcAft>
            </a:pPr>
            <a:r>
              <a:rPr sz="1600" b="0">
                <a:solidFill>
                  <a:srgbClr val="222233"/>
                </a:solidFill>
                <a:latin typeface="Calibri"/>
              </a:rPr>
              <a:t>Habitualmente se programan para reconectar automáticamente tres veces.</a:t>
            </a:r>
          </a:p>
          <a:p>
            <a:pPr>
              <a:spcAft>
                <a:spcPts val="800"/>
              </a:spcAft>
            </a:pPr>
            <a:r>
              <a:rPr sz="1600" b="0">
                <a:solidFill>
                  <a:srgbClr val="222233"/>
                </a:solidFill>
                <a:latin typeface="Calibri"/>
              </a:rPr>
              <a:t>El trabajador interactúa con ellos para desconectarlos o conectarlos con pértiga, mediante el conocido «pato amarillo».</a:t>
            </a:r>
          </a:p>
        </p:txBody>
      </p:sp>
      <p:sp>
        <p:nvSpPr>
          <p:cNvPr id="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114</a:t>
            </a:r>
          </a:p>
        </p:txBody>
      </p:sp>
    </p:spTree>
    <p:extLst>
      <p:ext uri="{BB962C8B-B14F-4D97-AF65-F5344CB8AC3E}">
        <p14:creationId xmlns:p14="http://schemas.microsoft.com/office/powerpoint/2010/main" val="11079858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FAF154C-4F27-409E-785B-6D9C9F748E21}"/>
            </a:ext>
          </a:extLst>
        </p:cNvPr>
        <p:cNvGrpSpPr/>
        <p:nvPr/>
      </p:nvGrpSpPr>
      <p:grpSpPr>
        <a:xfrm>
          <a:off x="0" y="0"/>
          <a:ext cx="0" cy="0"/>
          <a:chOff x="0" y="0"/>
          <a:chExt cx="0" cy="0"/>
        </a:xfrm>
      </p:grpSpPr>
      <p:pic>
        <p:nvPicPr>
          <p:cNvPr id="26626" name="Picture 2" descr="Conceptos fundamentales de los reconectores | Eaton">
            <a:extLst>
              <a:ext uri="{FF2B5EF4-FFF2-40B4-BE49-F238E27FC236}">
                <a16:creationId xmlns:a16="http://schemas.microsoft.com/office/drawing/2014/main" id="{D96DDEDE-1A45-AC5F-8445-B971EBD755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1872404"/>
            <a:ext cx="3625255" cy="3625255"/>
          </a:xfrm>
          <a:prstGeom prst="rect">
            <a:avLst/>
          </a:prstGeom>
          <a:noFill/>
          <a:extLst>
            <a:ext uri="{909E8E84-426E-40DD-AFC4-6F175D3DCCD1}">
              <a14:hiddenFill xmlns:a14="http://schemas.microsoft.com/office/drawing/2010/main">
                <a:solidFill>
                  <a:srgbClr val="FFFFFF"/>
                </a:solidFill>
              </a14:hiddenFill>
            </a:ext>
          </a:extLst>
        </p:spPr>
      </p:pic>
      <p:pic>
        <p:nvPicPr>
          <p:cNvPr id="26632" name="Picture 8" descr="RECONECTADOR MEDIA TENSIÓN NOVA 27 KV, 630A | Magnotek">
            <a:extLst>
              <a:ext uri="{FF2B5EF4-FFF2-40B4-BE49-F238E27FC236}">
                <a16:creationId xmlns:a16="http://schemas.microsoft.com/office/drawing/2014/main" id="{421218E3-D188-6129-472C-DFB5EEFD23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8215" y="1872404"/>
            <a:ext cx="4147144" cy="3625255"/>
          </a:xfrm>
          <a:prstGeom prst="rect">
            <a:avLst/>
          </a:prstGeom>
          <a:noFill/>
          <a:extLst>
            <a:ext uri="{909E8E84-426E-40DD-AFC4-6F175D3DCCD1}">
              <a14:hiddenFill xmlns:a14="http://schemas.microsoft.com/office/drawing/2010/main">
                <a:solidFill>
                  <a:srgbClr val="FFFFFF"/>
                </a:solidFill>
              </a14:hiddenFill>
            </a:ext>
          </a:extLst>
        </p:spPr>
      </p:pic>
      <p:sp>
        <p:nvSpPr>
          <p:cNvPr id="26633"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3.1 TIPOS DE EQUIPOS EN LA RED</a:t>
            </a:r>
          </a:p>
        </p:txBody>
      </p:sp>
      <p:sp>
        <p:nvSpPr>
          <p:cNvPr id="26634"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Reconectador: operación manual</a:t>
            </a:r>
          </a:p>
        </p:txBody>
      </p:sp>
      <p:sp>
        <p:nvSpPr>
          <p:cNvPr id="26635" name="TextBox 26634"/>
          <p:cNvSpPr txBox="1"/>
          <p:nvPr/>
        </p:nvSpPr>
        <p:spPr>
          <a:xfrm>
            <a:off x="274320" y="5543379"/>
            <a:ext cx="4173895" cy="274320"/>
          </a:xfrm>
          <a:prstGeom prst="rect">
            <a:avLst/>
          </a:prstGeom>
          <a:noFill/>
        </p:spPr>
        <p:txBody>
          <a:bodyPr wrap="square" anchor="t" lIns="0" rIns="0" tIns="0" bIns="0">
            <a:spAutoFit/>
          </a:bodyPr>
          <a:lstStyle/>
          <a:p>
            <a:pPr algn="ctr"/>
            <a:r>
              <a:rPr sz="1200" b="1" i="0">
                <a:solidFill>
                  <a:srgbClr val="6A4C9C"/>
                </a:solidFill>
                <a:latin typeface="Calibri"/>
              </a:rPr>
              <a:t>«Pato amarillo» para operación manual</a:t>
            </a:r>
          </a:p>
        </p:txBody>
      </p:sp>
      <p:sp>
        <p:nvSpPr>
          <p:cNvPr id="26636" name="TextBox 26635"/>
          <p:cNvSpPr txBox="1"/>
          <p:nvPr/>
        </p:nvSpPr>
        <p:spPr>
          <a:xfrm>
            <a:off x="4173895" y="5543379"/>
            <a:ext cx="4695784" cy="274320"/>
          </a:xfrm>
          <a:prstGeom prst="rect">
            <a:avLst/>
          </a:prstGeom>
          <a:noFill/>
        </p:spPr>
        <p:txBody>
          <a:bodyPr wrap="square" anchor="t" lIns="0" rIns="0" tIns="0" bIns="0">
            <a:spAutoFit/>
          </a:bodyPr>
          <a:lstStyle/>
          <a:p>
            <a:pPr algn="ctr"/>
            <a:r>
              <a:rPr sz="1200" b="1" i="0">
                <a:solidFill>
                  <a:srgbClr val="6A4C9C"/>
                </a:solidFill>
                <a:latin typeface="Calibri"/>
              </a:rPr>
              <a:t>Gabinete de control</a:t>
            </a:r>
          </a:p>
        </p:txBody>
      </p:sp>
      <p:sp>
        <p:nvSpPr>
          <p:cNvPr id="26637"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6638"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6639"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115</a:t>
            </a:r>
          </a:p>
        </p:txBody>
      </p:sp>
    </p:spTree>
    <p:extLst>
      <p:ext uri="{BB962C8B-B14F-4D97-AF65-F5344CB8AC3E}">
        <p14:creationId xmlns:p14="http://schemas.microsoft.com/office/powerpoint/2010/main" val="11772444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E95A734-C4AD-58EA-51EF-1B018D854DBD}"/>
            </a:ext>
          </a:extLst>
        </p:cNvPr>
        <p:cNvGrpSpPr/>
        <p:nvPr/>
      </p:nvGrpSpPr>
      <p:grpSpPr>
        <a:xfrm>
          <a:off x="0" y="0"/>
          <a:ext cx="0" cy="0"/>
          <a:chOff x="0" y="0"/>
          <a:chExt cx="0" cy="0"/>
        </a:xfrm>
      </p:grpSpPr>
      <p:pic>
        <p:nvPicPr>
          <p:cNvPr id="26628" name="Picture 4" descr="Reconectadores de exterior | Schneider Electric Chile">
            <a:extLst>
              <a:ext uri="{FF2B5EF4-FFF2-40B4-BE49-F238E27FC236}">
                <a16:creationId xmlns:a16="http://schemas.microsoft.com/office/drawing/2014/main" id="{F9795A11-1456-4FD7-3B35-68EEFB3D2C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8883" y="2262241"/>
            <a:ext cx="3156476" cy="3156476"/>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27650" name="Picture 2" descr="Estudio de coordinación de protecciones en alta y media tensión en la  subestación Machala propiedad de la Corporación Nacion">
            <a:extLst>
              <a:ext uri="{FF2B5EF4-FFF2-40B4-BE49-F238E27FC236}">
                <a16:creationId xmlns:a16="http://schemas.microsoft.com/office/drawing/2014/main" id="{5E4D0B77-1F8D-74ED-51F0-9B89C492F2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 y="2262241"/>
            <a:ext cx="4615923" cy="3156476"/>
          </a:xfrm>
          <a:prstGeom prst="rect">
            <a:avLst/>
          </a:prstGeom>
          <a:noFill/>
          <a:extLst>
            <a:ext uri="{909E8E84-426E-40DD-AFC4-6F175D3DCCD1}">
              <a14:hiddenFill xmlns:a14="http://schemas.microsoft.com/office/drawing/2010/main">
                <a:solidFill>
                  <a:srgbClr val="FFFFFF"/>
                </a:solidFill>
              </a14:hiddenFill>
            </a:ext>
          </a:extLst>
        </p:spPr>
      </p:pic>
      <p:sp>
        <p:nvSpPr>
          <p:cNvPr id="27651"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3.1 TIPOS DE EQUIPOS EN LA RED</a:t>
            </a:r>
          </a:p>
        </p:txBody>
      </p:sp>
      <p:sp>
        <p:nvSpPr>
          <p:cNvPr id="27652"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Reconectadores en la red</a:t>
            </a:r>
          </a:p>
        </p:txBody>
      </p:sp>
      <p:sp>
        <p:nvSpPr>
          <p:cNvPr id="27653"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7654"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7655"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116</a:t>
            </a:r>
          </a:p>
        </p:txBody>
      </p:sp>
    </p:spTree>
    <p:extLst>
      <p:ext uri="{BB962C8B-B14F-4D97-AF65-F5344CB8AC3E}">
        <p14:creationId xmlns:p14="http://schemas.microsoft.com/office/powerpoint/2010/main" val="5373430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44FF0EF-2CE7-73A5-03C0-7F9D3A4A1853}"/>
            </a:ext>
          </a:extLst>
        </p:cNvPr>
        <p:cNvGrpSpPr/>
        <p:nvPr/>
      </p:nvGrpSpPr>
      <p:grpSpPr>
        <a:xfrm>
          <a:off x="0" y="0"/>
          <a:ext cx="0" cy="0"/>
          <a:chOff x="0" y="0"/>
          <a:chExt cx="0" cy="0"/>
        </a:xfrm>
      </p:grpSpPr>
      <p:pic>
        <p:nvPicPr>
          <p:cNvPr id="28674" name="Picture 2" descr="Seccionador para fusibles NH tamaños 1, 2 y 3 hasta 630 A, 500 V, Bronal -  TRENT">
            <a:extLst>
              <a:ext uri="{FF2B5EF4-FFF2-40B4-BE49-F238E27FC236}">
                <a16:creationId xmlns:a16="http://schemas.microsoft.com/office/drawing/2014/main" id="{9F393364-669C-67E1-270E-A242736946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2773680"/>
            <a:ext cx="3331028" cy="3331028"/>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descr="Imagen que contiene pájaro, exterior, rebaño, alambre&#10;&#10;Descripción generada automáticamente">
            <a:extLst>
              <a:ext uri="{FF2B5EF4-FFF2-40B4-BE49-F238E27FC236}">
                <a16:creationId xmlns:a16="http://schemas.microsoft.com/office/drawing/2014/main" id="{F8893935-3793-60F0-4BA5-79AD0C0B3C2E}"/>
              </a:ext>
            </a:extLst>
          </p:cNvPr>
          <p:cNvPicPr>
            <a:picLocks noChangeAspect="1"/>
          </p:cNvPicPr>
          <p:nvPr/>
        </p:nvPicPr>
        <p:blipFill>
          <a:blip r:embed="rId4"/>
          <a:stretch>
            <a:fillRect/>
          </a:stretch>
        </p:blipFill>
        <p:spPr>
          <a:xfrm>
            <a:off x="4153988" y="2773680"/>
            <a:ext cx="4441371" cy="3331028"/>
          </a:xfrm>
          <a:prstGeom prst="rect">
            <a:avLst/>
          </a:prstGeom>
        </p:spPr>
      </p:pic>
      <p:sp>
        <p:nvSpPr>
          <p:cNvPr id="28675"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3.1 TIPOS DE EQUIPOS EN LA RED</a:t>
            </a:r>
          </a:p>
        </p:txBody>
      </p:sp>
      <p:sp>
        <p:nvSpPr>
          <p:cNvPr id="28676"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Fusible NH de B.T.</a:t>
            </a:r>
          </a:p>
        </p:txBody>
      </p:sp>
      <p:sp>
        <p:nvSpPr>
          <p:cNvPr id="28677" name="Cuerpo"/>
          <p:cNvSpPr txBox="1"/>
          <p:nvPr/>
        </p:nvSpPr>
        <p:spPr>
          <a:xfrm>
            <a:off x="548640" y="1463040"/>
            <a:ext cx="8046720" cy="1082040"/>
          </a:xfrm>
          <a:prstGeom prst="rect">
            <a:avLst/>
          </a:prstGeom>
          <a:noFill/>
        </p:spPr>
        <p:txBody>
          <a:bodyPr wrap="square" lIns="0" rIns="0" tIns="0" bIns="0">
            <a:spAutoFit/>
          </a:bodyPr>
          <a:lstStyle/>
          <a:p>
            <a:pPr>
              <a:spcAft>
                <a:spcPts val="800"/>
              </a:spcAft>
            </a:pPr>
            <a:r>
              <a:rPr sz="1600" b="0">
                <a:solidFill>
                  <a:srgbClr val="222233"/>
                </a:solidFill>
                <a:latin typeface="Calibri"/>
              </a:rPr>
              <a:t>Elementos de conexión y desconexión de circuitos eléctricos con dos funciones:</a:t>
            </a:r>
          </a:p>
          <a:p>
            <a:pPr marL="256032" indent="-256032">
              <a:spcAft>
                <a:spcPts val="800"/>
              </a:spcAft>
              <a:buClr>
                <a:srgbClr val="6A4C9C"/>
              </a:buClr>
              <a:buFont typeface="Arial"/>
              <a:buChar char="•"/>
            </a:pPr>
            <a:r>
              <a:rPr sz="1600" b="0">
                <a:solidFill>
                  <a:srgbClr val="222233"/>
                </a:solidFill>
                <a:latin typeface="Calibri"/>
              </a:rPr>
              <a:t>Como cuchilla desconectadora.</a:t>
            </a:r>
          </a:p>
          <a:p>
            <a:pPr marL="256032" indent="-256032">
              <a:spcAft>
                <a:spcPts val="800"/>
              </a:spcAft>
              <a:buClr>
                <a:srgbClr val="6A4C9C"/>
              </a:buClr>
              <a:buFont typeface="Arial"/>
              <a:buChar char="•"/>
            </a:pPr>
            <a:r>
              <a:rPr sz="1600" b="0">
                <a:solidFill>
                  <a:srgbClr val="222233"/>
                </a:solidFill>
                <a:latin typeface="Calibri"/>
              </a:rPr>
              <a:t>Como elemento de protección.</a:t>
            </a:r>
          </a:p>
        </p:txBody>
      </p:sp>
      <p:sp>
        <p:nvSpPr>
          <p:cNvPr id="28678"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867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868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117</a:t>
            </a:r>
          </a:p>
        </p:txBody>
      </p:sp>
    </p:spTree>
    <p:extLst>
      <p:ext uri="{BB962C8B-B14F-4D97-AF65-F5344CB8AC3E}">
        <p14:creationId xmlns:p14="http://schemas.microsoft.com/office/powerpoint/2010/main" val="2859133754"/>
      </p:ext>
    </p:extLst>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4B2E83"/>
        </a:solidFill>
        <a:effectLst/>
      </p:bgPr>
    </p:bg>
    <p:spTree>
      <p:nvGrpSpPr>
        <p:cNvPr id="1" name=""/>
        <p:cNvGrpSpPr/>
        <p:nvPr/>
      </p:nvGrpSpPr>
      <p:grpSpPr/>
      <p:sp>
        <p:nvSpPr>
          <p:cNvPr id="2" name="TextBox 1"/>
          <p:cNvSpPr txBox="1"/>
          <p:nvPr/>
        </p:nvSpPr>
        <p:spPr>
          <a:xfrm>
            <a:off x="640080" y="822960"/>
            <a:ext cx="7863840" cy="365760"/>
          </a:xfrm>
          <a:prstGeom prst="rect">
            <a:avLst/>
          </a:prstGeom>
          <a:noFill/>
        </p:spPr>
        <p:txBody>
          <a:bodyPr wrap="square" anchor="t" lIns="0" rIns="0" tIns="0" bIns="0">
            <a:spAutoFit/>
          </a:bodyPr>
          <a:lstStyle/>
          <a:p>
            <a:pPr algn="l"/>
            <a:r>
              <a:rPr sz="1400" b="1" i="0">
                <a:solidFill>
                  <a:srgbClr val="F2A900"/>
                </a:solidFill>
                <a:latin typeface="Calibri"/>
              </a:rPr>
              <a:t>CURSO ON-LINE ASINCRÓNICO</a:t>
            </a:r>
          </a:p>
        </p:txBody>
      </p:sp>
      <p:sp>
        <p:nvSpPr>
          <p:cNvPr id="3" name="TextBox 2"/>
          <p:cNvSpPr txBox="1"/>
          <p:nvPr/>
        </p:nvSpPr>
        <p:spPr>
          <a:xfrm>
            <a:off x="640080" y="1234440"/>
            <a:ext cx="7863840" cy="1737360"/>
          </a:xfrm>
          <a:prstGeom prst="rect">
            <a:avLst/>
          </a:prstGeom>
          <a:noFill/>
        </p:spPr>
        <p:txBody>
          <a:bodyPr wrap="square" anchor="t" lIns="0" rIns="0" tIns="0" bIns="0">
            <a:spAutoFit/>
          </a:bodyPr>
          <a:lstStyle/>
          <a:p>
            <a:pPr algn="l"/>
            <a:r>
              <a:rPr sz="3800" b="1" i="0">
                <a:solidFill>
                  <a:srgbClr val="FFFFFF"/>
                </a:solidFill>
                <a:latin typeface="Calibri"/>
              </a:rPr>
              <a:t>Riesgos eléctricos en redes aéreas de distribución</a:t>
            </a:r>
          </a:p>
        </p:txBody>
      </p:sp>
      <p:sp>
        <p:nvSpPr>
          <p:cNvPr id="4" name="TextBox 3"/>
          <p:cNvSpPr txBox="1"/>
          <p:nvPr/>
        </p:nvSpPr>
        <p:spPr>
          <a:xfrm>
            <a:off x="640080" y="2971800"/>
            <a:ext cx="7863840" cy="548640"/>
          </a:xfrm>
          <a:prstGeom prst="rect">
            <a:avLst/>
          </a:prstGeom>
          <a:noFill/>
        </p:spPr>
        <p:txBody>
          <a:bodyPr wrap="square" anchor="t" lIns="0" rIns="0" tIns="0" bIns="0">
            <a:spAutoFit/>
          </a:bodyPr>
          <a:lstStyle/>
          <a:p>
            <a:pPr algn="l"/>
            <a:r>
              <a:rPr sz="2000" b="0" i="0">
                <a:solidFill>
                  <a:srgbClr val="D9CCEE"/>
                </a:solidFill>
                <a:latin typeface="Calibri"/>
              </a:rPr>
              <a:t>Operación segura en baja y media tensión</a:t>
            </a:r>
          </a:p>
        </p:txBody>
      </p:sp>
      <p:sp>
        <p:nvSpPr>
          <p:cNvPr id="5" name="Rounded Rectangle 4"/>
          <p:cNvSpPr/>
          <p:nvPr/>
        </p:nvSpPr>
        <p:spPr>
          <a:xfrm>
            <a:off x="640080" y="4069080"/>
            <a:ext cx="2423160" cy="1737360"/>
          </a:xfrm>
          <a:prstGeom prst="roundRect">
            <a:avLst>
              <a:gd name="adj" fmla="val 10000"/>
            </a:avLst>
          </a:prstGeom>
          <a:solidFill>
            <a:srgbClr val="6A4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8680" y="4297680"/>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aListUl_w.png"/>
          <p:cNvPicPr>
            <a:picLocks noChangeAspect="1"/>
          </p:cNvPicPr>
          <p:nvPr/>
        </p:nvPicPr>
        <p:blipFill>
          <a:blip r:embed="rId2"/>
          <a:stretch>
            <a:fillRect/>
          </a:stretch>
        </p:blipFill>
        <p:spPr>
          <a:xfrm>
            <a:off x="1000353" y="4429353"/>
            <a:ext cx="285292" cy="285292"/>
          </a:xfrm>
          <a:prstGeom prst="rect">
            <a:avLst/>
          </a:prstGeom>
        </p:spPr>
      </p:pic>
      <p:sp>
        <p:nvSpPr>
          <p:cNvPr id="8" name="TextBox 7"/>
          <p:cNvSpPr txBox="1"/>
          <p:nvPr/>
        </p:nvSpPr>
        <p:spPr>
          <a:xfrm>
            <a:off x="868680" y="4892040"/>
            <a:ext cx="2011680" cy="548640"/>
          </a:xfrm>
          <a:prstGeom prst="rect">
            <a:avLst/>
          </a:prstGeom>
          <a:noFill/>
        </p:spPr>
        <p:txBody>
          <a:bodyPr wrap="square" anchor="t" lIns="0" rIns="0" tIns="0" bIns="0">
            <a:spAutoFit/>
          </a:bodyPr>
          <a:lstStyle/>
          <a:p>
            <a:pPr algn="l"/>
            <a:r>
              <a:rPr sz="3000" b="1" i="0">
                <a:solidFill>
                  <a:srgbClr val="FFFFFF"/>
                </a:solidFill>
                <a:latin typeface="Calibri"/>
              </a:rPr>
              <a:t>3</a:t>
            </a:r>
          </a:p>
        </p:txBody>
      </p:sp>
      <p:sp>
        <p:nvSpPr>
          <p:cNvPr id="9" name="TextBox 8"/>
          <p:cNvSpPr txBox="1"/>
          <p:nvPr/>
        </p:nvSpPr>
        <p:spPr>
          <a:xfrm>
            <a:off x="868680" y="5394960"/>
            <a:ext cx="2011680" cy="320040"/>
          </a:xfrm>
          <a:prstGeom prst="rect">
            <a:avLst/>
          </a:prstGeom>
          <a:noFill/>
        </p:spPr>
        <p:txBody>
          <a:bodyPr wrap="square" anchor="t" lIns="0" rIns="0" tIns="0" bIns="0">
            <a:spAutoFit/>
          </a:bodyPr>
          <a:lstStyle/>
          <a:p>
            <a:pPr algn="l"/>
            <a:r>
              <a:rPr sz="1400" b="0" i="0">
                <a:solidFill>
                  <a:srgbClr val="E6DDF3"/>
                </a:solidFill>
                <a:latin typeface="Calibri"/>
              </a:rPr>
              <a:t>módulos</a:t>
            </a:r>
          </a:p>
        </p:txBody>
      </p:sp>
      <p:sp>
        <p:nvSpPr>
          <p:cNvPr id="10" name="Rounded Rectangle 9"/>
          <p:cNvSpPr/>
          <p:nvPr/>
        </p:nvSpPr>
        <p:spPr>
          <a:xfrm>
            <a:off x="3337560" y="4069080"/>
            <a:ext cx="2423160" cy="1737360"/>
          </a:xfrm>
          <a:prstGeom prst="roundRect">
            <a:avLst>
              <a:gd name="adj" fmla="val 10000"/>
            </a:avLst>
          </a:prstGeom>
          <a:solidFill>
            <a:srgbClr val="6A4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566160" y="4297680"/>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Clock_w.png"/>
          <p:cNvPicPr>
            <a:picLocks noChangeAspect="1"/>
          </p:cNvPicPr>
          <p:nvPr/>
        </p:nvPicPr>
        <p:blipFill>
          <a:blip r:embed="rId3"/>
          <a:stretch>
            <a:fillRect/>
          </a:stretch>
        </p:blipFill>
        <p:spPr>
          <a:xfrm>
            <a:off x="3697833" y="4429353"/>
            <a:ext cx="285292" cy="285292"/>
          </a:xfrm>
          <a:prstGeom prst="rect">
            <a:avLst/>
          </a:prstGeom>
        </p:spPr>
      </p:pic>
      <p:sp>
        <p:nvSpPr>
          <p:cNvPr id="13" name="TextBox 12"/>
          <p:cNvSpPr txBox="1"/>
          <p:nvPr/>
        </p:nvSpPr>
        <p:spPr>
          <a:xfrm>
            <a:off x="3566160" y="4892040"/>
            <a:ext cx="2011680" cy="548640"/>
          </a:xfrm>
          <a:prstGeom prst="rect">
            <a:avLst/>
          </a:prstGeom>
          <a:noFill/>
        </p:spPr>
        <p:txBody>
          <a:bodyPr wrap="square" anchor="t" lIns="0" rIns="0" tIns="0" bIns="0">
            <a:spAutoFit/>
          </a:bodyPr>
          <a:lstStyle/>
          <a:p>
            <a:pPr algn="l"/>
            <a:r>
              <a:rPr sz="3000" b="1" i="0">
                <a:solidFill>
                  <a:srgbClr val="FFFFFF"/>
                </a:solidFill>
                <a:latin typeface="Calibri"/>
              </a:rPr>
              <a:t>≈ 4 h</a:t>
            </a:r>
          </a:p>
        </p:txBody>
      </p:sp>
      <p:sp>
        <p:nvSpPr>
          <p:cNvPr id="14" name="TextBox 13"/>
          <p:cNvSpPr txBox="1"/>
          <p:nvPr/>
        </p:nvSpPr>
        <p:spPr>
          <a:xfrm>
            <a:off x="3566160" y="5394960"/>
            <a:ext cx="2011680" cy="320040"/>
          </a:xfrm>
          <a:prstGeom prst="rect">
            <a:avLst/>
          </a:prstGeom>
          <a:noFill/>
        </p:spPr>
        <p:txBody>
          <a:bodyPr wrap="square" anchor="t" lIns="0" rIns="0" tIns="0" bIns="0">
            <a:spAutoFit/>
          </a:bodyPr>
          <a:lstStyle/>
          <a:p>
            <a:pPr algn="l"/>
            <a:r>
              <a:rPr sz="1400" b="0" i="0">
                <a:solidFill>
                  <a:srgbClr val="E6DDF3"/>
                </a:solidFill>
                <a:latin typeface="Calibri"/>
              </a:rPr>
              <a:t>de estudio</a:t>
            </a:r>
          </a:p>
        </p:txBody>
      </p:sp>
      <p:sp>
        <p:nvSpPr>
          <p:cNvPr id="15" name="Rounded Rectangle 14"/>
          <p:cNvSpPr/>
          <p:nvPr/>
        </p:nvSpPr>
        <p:spPr>
          <a:xfrm>
            <a:off x="6035040" y="4069080"/>
            <a:ext cx="2423160" cy="1737360"/>
          </a:xfrm>
          <a:prstGeom prst="roundRect">
            <a:avLst>
              <a:gd name="adj" fmla="val 10000"/>
            </a:avLst>
          </a:prstGeom>
          <a:solidFill>
            <a:srgbClr val="6A4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263640" y="4297680"/>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Laptop_w.png"/>
          <p:cNvPicPr>
            <a:picLocks noChangeAspect="1"/>
          </p:cNvPicPr>
          <p:nvPr/>
        </p:nvPicPr>
        <p:blipFill>
          <a:blip r:embed="rId4"/>
          <a:stretch>
            <a:fillRect/>
          </a:stretch>
        </p:blipFill>
        <p:spPr>
          <a:xfrm>
            <a:off x="6395313" y="4429353"/>
            <a:ext cx="285292" cy="285292"/>
          </a:xfrm>
          <a:prstGeom prst="rect">
            <a:avLst/>
          </a:prstGeom>
        </p:spPr>
      </p:pic>
      <p:sp>
        <p:nvSpPr>
          <p:cNvPr id="18" name="TextBox 17"/>
          <p:cNvSpPr txBox="1"/>
          <p:nvPr/>
        </p:nvSpPr>
        <p:spPr>
          <a:xfrm>
            <a:off x="6263640" y="4892040"/>
            <a:ext cx="2011680" cy="548640"/>
          </a:xfrm>
          <a:prstGeom prst="rect">
            <a:avLst/>
          </a:prstGeom>
          <a:noFill/>
        </p:spPr>
        <p:txBody>
          <a:bodyPr wrap="square" anchor="t" lIns="0" rIns="0" tIns="0" bIns="0">
            <a:spAutoFit/>
          </a:bodyPr>
          <a:lstStyle/>
          <a:p>
            <a:pPr algn="l"/>
            <a:r>
              <a:rPr sz="3000" b="1" i="0">
                <a:solidFill>
                  <a:srgbClr val="FFFFFF"/>
                </a:solidFill>
                <a:latin typeface="Calibri"/>
              </a:rPr>
              <a:t>24/7</a:t>
            </a:r>
          </a:p>
        </p:txBody>
      </p:sp>
      <p:sp>
        <p:nvSpPr>
          <p:cNvPr id="19" name="TextBox 18"/>
          <p:cNvSpPr txBox="1"/>
          <p:nvPr/>
        </p:nvSpPr>
        <p:spPr>
          <a:xfrm>
            <a:off x="6263640" y="5394960"/>
            <a:ext cx="2011680" cy="320040"/>
          </a:xfrm>
          <a:prstGeom prst="rect">
            <a:avLst/>
          </a:prstGeom>
          <a:noFill/>
        </p:spPr>
        <p:txBody>
          <a:bodyPr wrap="square" anchor="t" lIns="0" rIns="0" tIns="0" bIns="0">
            <a:spAutoFit/>
          </a:bodyPr>
          <a:lstStyle/>
          <a:p>
            <a:pPr algn="l"/>
            <a:r>
              <a:rPr sz="1400" b="0" i="0">
                <a:solidFill>
                  <a:srgbClr val="E6DDF3"/>
                </a:solidFill>
                <a:latin typeface="Calibri"/>
              </a:rPr>
              <a:t>a tu propio ritmo</a:t>
            </a:r>
          </a:p>
        </p:txBody>
      </p:sp>
      <p:sp>
        <p:nvSpPr>
          <p:cNvPr id="20" name="Botón Índice">
            <a:hlinkClick action="ppaction://hlinksldjump" r:id="rId6"/>
          </p:cNvPr>
          <p:cNvSpPr/>
          <p:nvPr/>
        </p:nvSpPr>
        <p:spPr>
          <a:xfrm>
            <a:off x="137160" y="6455664"/>
            <a:ext cx="914400" cy="292608"/>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4B2E83"/>
                </a:solidFill>
                <a:latin typeface="Calibri"/>
              </a:rPr>
              <a:t>Índice</a:t>
            </a:r>
          </a:p>
        </p:txBody>
      </p:sp>
      <p:sp>
        <p:nvSpPr>
          <p:cNvPr id="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D9CCEE"/>
                </a:solidFill>
                <a:latin typeface="Calibri"/>
              </a:rPr>
              <a:t>Riesgos eléctricos en redes aéreas de distribución  ·  SSGI OTEC</a:t>
            </a:r>
          </a:p>
        </p:txBody>
      </p:sp>
      <p:sp>
        <p:nvSpPr>
          <p:cNvPr id="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D9CCEE"/>
                </a:solidFill>
                <a:latin typeface="Calibri"/>
              </a:rPr>
              <a:t>2</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ANTES DE COMENZAR</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Cómo estudiar este curso</a:t>
            </a:r>
          </a:p>
        </p:txBody>
      </p:sp>
      <p:sp>
        <p:nvSpPr>
          <p:cNvPr id="4" name="Rounded Rectangle 3"/>
          <p:cNvSpPr/>
          <p:nvPr/>
        </p:nvSpPr>
        <p:spPr>
          <a:xfrm>
            <a:off x="548640" y="1508760"/>
            <a:ext cx="3840480" cy="137160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783080"/>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Route_w.png"/>
          <p:cNvPicPr>
            <a:picLocks noChangeAspect="1"/>
          </p:cNvPicPr>
          <p:nvPr/>
        </p:nvPicPr>
        <p:blipFill>
          <a:blip r:embed="rId2"/>
          <a:stretch>
            <a:fillRect/>
          </a:stretch>
        </p:blipFill>
        <p:spPr>
          <a:xfrm>
            <a:off x="952804" y="1958644"/>
            <a:ext cx="380390" cy="380390"/>
          </a:xfrm>
          <a:prstGeom prst="rect">
            <a:avLst/>
          </a:prstGeom>
        </p:spPr>
      </p:pic>
      <p:sp>
        <p:nvSpPr>
          <p:cNvPr id="7" name="TextBox 6"/>
          <p:cNvSpPr txBox="1"/>
          <p:nvPr/>
        </p:nvSpPr>
        <p:spPr>
          <a:xfrm>
            <a:off x="1691640" y="1709928"/>
            <a:ext cx="2560320" cy="365760"/>
          </a:xfrm>
          <a:prstGeom prst="rect">
            <a:avLst/>
          </a:prstGeom>
          <a:noFill/>
        </p:spPr>
        <p:txBody>
          <a:bodyPr wrap="square" anchor="t" lIns="0" rIns="0" tIns="0" bIns="0">
            <a:spAutoFit/>
          </a:bodyPr>
          <a:lstStyle/>
          <a:p>
            <a:pPr algn="l"/>
            <a:r>
              <a:rPr sz="1700" b="1" i="0">
                <a:solidFill>
                  <a:srgbClr val="4B2E83"/>
                </a:solidFill>
                <a:latin typeface="Calibri"/>
              </a:rPr>
              <a:t>Avanza a tu ritmo</a:t>
            </a:r>
          </a:p>
        </p:txBody>
      </p:sp>
      <p:sp>
        <p:nvSpPr>
          <p:cNvPr id="8" name="TextBox 7"/>
          <p:cNvSpPr txBox="1"/>
          <p:nvPr/>
        </p:nvSpPr>
        <p:spPr>
          <a:xfrm>
            <a:off x="1691640" y="2057400"/>
            <a:ext cx="2560320" cy="777240"/>
          </a:xfrm>
          <a:prstGeom prst="rect">
            <a:avLst/>
          </a:prstGeom>
          <a:noFill/>
        </p:spPr>
        <p:txBody>
          <a:bodyPr wrap="square" anchor="t" lIns="0" rIns="0" tIns="0" bIns="0">
            <a:spAutoFit/>
          </a:bodyPr>
          <a:lstStyle/>
          <a:p>
            <a:pPr algn="l"/>
            <a:r>
              <a:rPr sz="1300" b="0" i="0">
                <a:solidFill>
                  <a:srgbClr val="222233"/>
                </a:solidFill>
                <a:latin typeface="Calibri"/>
              </a:rPr>
              <a:t>Recorre los módulos en orden. Puedes pausar y retomar cuando quieras.</a:t>
            </a:r>
          </a:p>
        </p:txBody>
      </p:sp>
      <p:sp>
        <p:nvSpPr>
          <p:cNvPr id="9" name="Rounded Rectangle 8"/>
          <p:cNvSpPr/>
          <p:nvPr/>
        </p:nvSpPr>
        <p:spPr>
          <a:xfrm>
            <a:off x="4663440" y="1508760"/>
            <a:ext cx="3840480" cy="137160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892040" y="1783080"/>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aStickyNote_w.png"/>
          <p:cNvPicPr>
            <a:picLocks noChangeAspect="1"/>
          </p:cNvPicPr>
          <p:nvPr/>
        </p:nvPicPr>
        <p:blipFill>
          <a:blip r:embed="rId3"/>
          <a:stretch>
            <a:fillRect/>
          </a:stretch>
        </p:blipFill>
        <p:spPr>
          <a:xfrm>
            <a:off x="5067604" y="1958644"/>
            <a:ext cx="380390" cy="380390"/>
          </a:xfrm>
          <a:prstGeom prst="rect">
            <a:avLst/>
          </a:prstGeom>
        </p:spPr>
      </p:pic>
      <p:sp>
        <p:nvSpPr>
          <p:cNvPr id="12" name="TextBox 11"/>
          <p:cNvSpPr txBox="1"/>
          <p:nvPr/>
        </p:nvSpPr>
        <p:spPr>
          <a:xfrm>
            <a:off x="5806440" y="1709928"/>
            <a:ext cx="2560320" cy="365760"/>
          </a:xfrm>
          <a:prstGeom prst="rect">
            <a:avLst/>
          </a:prstGeom>
          <a:noFill/>
        </p:spPr>
        <p:txBody>
          <a:bodyPr wrap="square" anchor="t" lIns="0" rIns="0" tIns="0" bIns="0">
            <a:spAutoFit/>
          </a:bodyPr>
          <a:lstStyle/>
          <a:p>
            <a:pPr algn="l"/>
            <a:r>
              <a:rPr sz="1700" b="1" i="0">
                <a:solidFill>
                  <a:srgbClr val="4B2E83"/>
                </a:solidFill>
                <a:latin typeface="Calibri"/>
              </a:rPr>
              <a:t>Lee y escucha</a:t>
            </a:r>
          </a:p>
        </p:txBody>
      </p:sp>
      <p:sp>
        <p:nvSpPr>
          <p:cNvPr id="13" name="TextBox 12"/>
          <p:cNvSpPr txBox="1"/>
          <p:nvPr/>
        </p:nvSpPr>
        <p:spPr>
          <a:xfrm>
            <a:off x="5806440" y="2057400"/>
            <a:ext cx="2560320" cy="777240"/>
          </a:xfrm>
          <a:prstGeom prst="rect">
            <a:avLst/>
          </a:prstGeom>
          <a:noFill/>
        </p:spPr>
        <p:txBody>
          <a:bodyPr wrap="square" anchor="t" lIns="0" rIns="0" tIns="0" bIns="0">
            <a:spAutoFit/>
          </a:bodyPr>
          <a:lstStyle/>
          <a:p>
            <a:pPr algn="l"/>
            <a:r>
              <a:rPr sz="1300" b="0" i="0">
                <a:solidFill>
                  <a:srgbClr val="222233"/>
                </a:solidFill>
                <a:latin typeface="Calibri"/>
              </a:rPr>
              <a:t>Cada lámina incluye un guion explicativo en las notas o en el audio.</a:t>
            </a:r>
          </a:p>
        </p:txBody>
      </p:sp>
      <p:sp>
        <p:nvSpPr>
          <p:cNvPr id="14" name="Rounded Rectangle 13"/>
          <p:cNvSpPr/>
          <p:nvPr/>
        </p:nvSpPr>
        <p:spPr>
          <a:xfrm>
            <a:off x="548640" y="3108960"/>
            <a:ext cx="3840480" cy="137160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3383279"/>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aPlayCircle_w.png"/>
          <p:cNvPicPr>
            <a:picLocks noChangeAspect="1"/>
          </p:cNvPicPr>
          <p:nvPr/>
        </p:nvPicPr>
        <p:blipFill>
          <a:blip r:embed="rId4"/>
          <a:stretch>
            <a:fillRect/>
          </a:stretch>
        </p:blipFill>
        <p:spPr>
          <a:xfrm>
            <a:off x="952804" y="3558844"/>
            <a:ext cx="380390" cy="380390"/>
          </a:xfrm>
          <a:prstGeom prst="rect">
            <a:avLst/>
          </a:prstGeom>
        </p:spPr>
      </p:pic>
      <p:sp>
        <p:nvSpPr>
          <p:cNvPr id="17" name="TextBox 16"/>
          <p:cNvSpPr txBox="1"/>
          <p:nvPr/>
        </p:nvSpPr>
        <p:spPr>
          <a:xfrm>
            <a:off x="1691640" y="3310128"/>
            <a:ext cx="2560320" cy="365760"/>
          </a:xfrm>
          <a:prstGeom prst="rect">
            <a:avLst/>
          </a:prstGeom>
          <a:noFill/>
        </p:spPr>
        <p:txBody>
          <a:bodyPr wrap="square" anchor="t" lIns="0" rIns="0" tIns="0" bIns="0">
            <a:spAutoFit/>
          </a:bodyPr>
          <a:lstStyle/>
          <a:p>
            <a:pPr algn="l"/>
            <a:r>
              <a:rPr sz="1700" b="1" i="0">
                <a:solidFill>
                  <a:srgbClr val="4B2E83"/>
                </a:solidFill>
                <a:latin typeface="Calibri"/>
              </a:rPr>
              <a:t>Mira los videos</a:t>
            </a:r>
          </a:p>
        </p:txBody>
      </p:sp>
      <p:sp>
        <p:nvSpPr>
          <p:cNvPr id="18" name="TextBox 17"/>
          <p:cNvSpPr txBox="1"/>
          <p:nvPr/>
        </p:nvSpPr>
        <p:spPr>
          <a:xfrm>
            <a:off x="1691640" y="3657600"/>
            <a:ext cx="2560320" cy="777240"/>
          </a:xfrm>
          <a:prstGeom prst="rect">
            <a:avLst/>
          </a:prstGeom>
          <a:noFill/>
        </p:spPr>
        <p:txBody>
          <a:bodyPr wrap="square" anchor="t" lIns="0" rIns="0" tIns="0" bIns="0">
            <a:spAutoFit/>
          </a:bodyPr>
          <a:lstStyle/>
          <a:p>
            <a:pPr algn="l"/>
            <a:r>
              <a:rPr sz="1300" b="0" i="0">
                <a:solidFill>
                  <a:srgbClr val="222233"/>
                </a:solidFill>
                <a:latin typeface="Calibri"/>
              </a:rPr>
              <a:t>Los videos muestran accidentes reales: obsérvalos con una pregunta en mente.</a:t>
            </a:r>
          </a:p>
        </p:txBody>
      </p:sp>
      <p:sp>
        <p:nvSpPr>
          <p:cNvPr id="19" name="Rounded Rectangle 18"/>
          <p:cNvSpPr/>
          <p:nvPr/>
        </p:nvSpPr>
        <p:spPr>
          <a:xfrm>
            <a:off x="4663440" y="3108960"/>
            <a:ext cx="3840480" cy="137160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92040" y="3383279"/>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aQuestionCircle_w.png"/>
          <p:cNvPicPr>
            <a:picLocks noChangeAspect="1"/>
          </p:cNvPicPr>
          <p:nvPr/>
        </p:nvPicPr>
        <p:blipFill>
          <a:blip r:embed="rId5"/>
          <a:stretch>
            <a:fillRect/>
          </a:stretch>
        </p:blipFill>
        <p:spPr>
          <a:xfrm>
            <a:off x="5067604" y="3558844"/>
            <a:ext cx="380390" cy="380390"/>
          </a:xfrm>
          <a:prstGeom prst="rect">
            <a:avLst/>
          </a:prstGeom>
        </p:spPr>
      </p:pic>
      <p:sp>
        <p:nvSpPr>
          <p:cNvPr id="22" name="TextBox 21"/>
          <p:cNvSpPr txBox="1"/>
          <p:nvPr/>
        </p:nvSpPr>
        <p:spPr>
          <a:xfrm>
            <a:off x="5806440" y="3310128"/>
            <a:ext cx="2560320" cy="365760"/>
          </a:xfrm>
          <a:prstGeom prst="rect">
            <a:avLst/>
          </a:prstGeom>
          <a:noFill/>
        </p:spPr>
        <p:txBody>
          <a:bodyPr wrap="square" anchor="t" lIns="0" rIns="0" tIns="0" bIns="0">
            <a:spAutoFit/>
          </a:bodyPr>
          <a:lstStyle/>
          <a:p>
            <a:pPr algn="l"/>
            <a:r>
              <a:rPr sz="1700" b="1" i="0">
                <a:solidFill>
                  <a:srgbClr val="4B2E83"/>
                </a:solidFill>
                <a:latin typeface="Calibri"/>
              </a:rPr>
              <a:t>Autoevalúate</a:t>
            </a:r>
          </a:p>
        </p:txBody>
      </p:sp>
      <p:sp>
        <p:nvSpPr>
          <p:cNvPr id="23" name="TextBox 22"/>
          <p:cNvSpPr txBox="1"/>
          <p:nvPr/>
        </p:nvSpPr>
        <p:spPr>
          <a:xfrm>
            <a:off x="5806440" y="3657600"/>
            <a:ext cx="2560320" cy="777240"/>
          </a:xfrm>
          <a:prstGeom prst="rect">
            <a:avLst/>
          </a:prstGeom>
          <a:noFill/>
        </p:spPr>
        <p:txBody>
          <a:bodyPr wrap="square" anchor="t" lIns="0" rIns="0" tIns="0" bIns="0">
            <a:spAutoFit/>
          </a:bodyPr>
          <a:lstStyle/>
          <a:p>
            <a:pPr algn="l"/>
            <a:r>
              <a:rPr sz="1300" b="0" i="0">
                <a:solidFill>
                  <a:srgbClr val="222233"/>
                </a:solidFill>
                <a:latin typeface="Calibri"/>
              </a:rPr>
              <a:t>Haz clic en tu respuesta y recibe retroalimentación inmediata (en modo Presentación).</a:t>
            </a:r>
          </a:p>
        </p:txBody>
      </p:sp>
      <p:sp>
        <p:nvSpPr>
          <p:cNvPr id="24" name="Rounded Rectangle 23"/>
          <p:cNvSpPr/>
          <p:nvPr/>
        </p:nvSpPr>
        <p:spPr>
          <a:xfrm>
            <a:off x="548640" y="4709160"/>
            <a:ext cx="3840480" cy="137160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77240" y="4983480"/>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FaHome_w.png"/>
          <p:cNvPicPr>
            <a:picLocks noChangeAspect="1"/>
          </p:cNvPicPr>
          <p:nvPr/>
        </p:nvPicPr>
        <p:blipFill>
          <a:blip r:embed="rId6"/>
          <a:stretch>
            <a:fillRect/>
          </a:stretch>
        </p:blipFill>
        <p:spPr>
          <a:xfrm>
            <a:off x="952804" y="5159044"/>
            <a:ext cx="380390" cy="380390"/>
          </a:xfrm>
          <a:prstGeom prst="rect">
            <a:avLst/>
          </a:prstGeom>
        </p:spPr>
      </p:pic>
      <p:sp>
        <p:nvSpPr>
          <p:cNvPr id="27" name="TextBox 26"/>
          <p:cNvSpPr txBox="1"/>
          <p:nvPr/>
        </p:nvSpPr>
        <p:spPr>
          <a:xfrm>
            <a:off x="1691640" y="4910328"/>
            <a:ext cx="2560320" cy="365760"/>
          </a:xfrm>
          <a:prstGeom prst="rect">
            <a:avLst/>
          </a:prstGeom>
          <a:noFill/>
        </p:spPr>
        <p:txBody>
          <a:bodyPr wrap="square" anchor="t" lIns="0" rIns="0" tIns="0" bIns="0">
            <a:spAutoFit/>
          </a:bodyPr>
          <a:lstStyle/>
          <a:p>
            <a:pPr algn="l"/>
            <a:r>
              <a:rPr sz="1700" b="1" i="0">
                <a:solidFill>
                  <a:srgbClr val="4B2E83"/>
                </a:solidFill>
                <a:latin typeface="Calibri"/>
              </a:rPr>
              <a:t>Usa el índice</a:t>
            </a:r>
          </a:p>
        </p:txBody>
      </p:sp>
      <p:sp>
        <p:nvSpPr>
          <p:cNvPr id="28" name="TextBox 27"/>
          <p:cNvSpPr txBox="1"/>
          <p:nvPr/>
        </p:nvSpPr>
        <p:spPr>
          <a:xfrm>
            <a:off x="1691640" y="5257800"/>
            <a:ext cx="2560320" cy="777240"/>
          </a:xfrm>
          <a:prstGeom prst="rect">
            <a:avLst/>
          </a:prstGeom>
          <a:noFill/>
        </p:spPr>
        <p:txBody>
          <a:bodyPr wrap="square" anchor="t" lIns="0" rIns="0" tIns="0" bIns="0">
            <a:spAutoFit/>
          </a:bodyPr>
          <a:lstStyle/>
          <a:p>
            <a:pPr algn="l"/>
            <a:r>
              <a:rPr sz="1300" b="0" i="0">
                <a:solidFill>
                  <a:srgbClr val="222233"/>
                </a:solidFill>
                <a:latin typeface="Calibri"/>
              </a:rPr>
              <a:t>El botón «Índice» de cada lámina te lleva a la ruta del curso.</a:t>
            </a:r>
          </a:p>
        </p:txBody>
      </p:sp>
      <p:sp>
        <p:nvSpPr>
          <p:cNvPr id="29" name="Rounded Rectangle 28"/>
          <p:cNvSpPr/>
          <p:nvPr/>
        </p:nvSpPr>
        <p:spPr>
          <a:xfrm>
            <a:off x="4663440" y="4709160"/>
            <a:ext cx="3840480" cy="137160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4892040" y="4983480"/>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aAward_w.png"/>
          <p:cNvPicPr>
            <a:picLocks noChangeAspect="1"/>
          </p:cNvPicPr>
          <p:nvPr/>
        </p:nvPicPr>
        <p:blipFill>
          <a:blip r:embed="rId7"/>
          <a:stretch>
            <a:fillRect/>
          </a:stretch>
        </p:blipFill>
        <p:spPr>
          <a:xfrm>
            <a:off x="5067604" y="5159044"/>
            <a:ext cx="380390" cy="380390"/>
          </a:xfrm>
          <a:prstGeom prst="rect">
            <a:avLst/>
          </a:prstGeom>
        </p:spPr>
      </p:pic>
      <p:sp>
        <p:nvSpPr>
          <p:cNvPr id="32" name="TextBox 31"/>
          <p:cNvSpPr txBox="1"/>
          <p:nvPr/>
        </p:nvSpPr>
        <p:spPr>
          <a:xfrm>
            <a:off x="5806440" y="4910328"/>
            <a:ext cx="2560320" cy="365760"/>
          </a:xfrm>
          <a:prstGeom prst="rect">
            <a:avLst/>
          </a:prstGeom>
          <a:noFill/>
        </p:spPr>
        <p:txBody>
          <a:bodyPr wrap="square" anchor="t" lIns="0" rIns="0" tIns="0" bIns="0">
            <a:spAutoFit/>
          </a:bodyPr>
          <a:lstStyle/>
          <a:p>
            <a:pPr algn="l"/>
            <a:r>
              <a:rPr sz="1700" b="1" i="0">
                <a:solidFill>
                  <a:srgbClr val="4B2E83"/>
                </a:solidFill>
                <a:latin typeface="Calibri"/>
              </a:rPr>
              <a:t>Aprueba y certifica</a:t>
            </a:r>
          </a:p>
        </p:txBody>
      </p:sp>
      <p:sp>
        <p:nvSpPr>
          <p:cNvPr id="33" name="TextBox 32"/>
          <p:cNvSpPr txBox="1"/>
          <p:nvPr/>
        </p:nvSpPr>
        <p:spPr>
          <a:xfrm>
            <a:off x="5806440" y="5257800"/>
            <a:ext cx="2560320" cy="777240"/>
          </a:xfrm>
          <a:prstGeom prst="rect">
            <a:avLst/>
          </a:prstGeom>
          <a:noFill/>
        </p:spPr>
        <p:txBody>
          <a:bodyPr wrap="square" anchor="t" lIns="0" rIns="0" tIns="0" bIns="0">
            <a:spAutoFit/>
          </a:bodyPr>
          <a:lstStyle/>
          <a:p>
            <a:pPr algn="l"/>
            <a:r>
              <a:rPr sz="1300" b="0" i="0">
                <a:solidFill>
                  <a:srgbClr val="222233"/>
                </a:solidFill>
                <a:latin typeface="Calibri"/>
              </a:rPr>
              <a:t>Completa la evaluación final para obtener tu certificado.</a:t>
            </a:r>
          </a:p>
        </p:txBody>
      </p:sp>
      <p:sp>
        <p:nvSpPr>
          <p:cNvPr id="34" name="Botón Índice">
            <a:hlinkClick action="ppaction://hlinksldjump" r:id="rId9"/>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35"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36"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3</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ANTES DE COMENZAR</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Objetivos del curso</a:t>
            </a:r>
          </a:p>
        </p:txBody>
      </p:sp>
      <p:sp>
        <p:nvSpPr>
          <p:cNvPr id="4" name="Rounded Rectangle 3"/>
          <p:cNvSpPr/>
          <p:nvPr/>
        </p:nvSpPr>
        <p:spPr>
          <a:xfrm>
            <a:off x="548640" y="1463040"/>
            <a:ext cx="8046720" cy="132588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737360"/>
            <a:ext cx="777240" cy="7772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Bullseye_w.png"/>
          <p:cNvPicPr>
            <a:picLocks noChangeAspect="1"/>
          </p:cNvPicPr>
          <p:nvPr/>
        </p:nvPicPr>
        <p:blipFill>
          <a:blip r:embed="rId2"/>
          <a:stretch>
            <a:fillRect/>
          </a:stretch>
        </p:blipFill>
        <p:spPr>
          <a:xfrm>
            <a:off x="963777" y="1923897"/>
            <a:ext cx="404164" cy="404164"/>
          </a:xfrm>
          <a:prstGeom prst="rect">
            <a:avLst/>
          </a:prstGeom>
        </p:spPr>
      </p:pic>
      <p:sp>
        <p:nvSpPr>
          <p:cNvPr id="7" name="TextBox 6"/>
          <p:cNvSpPr txBox="1"/>
          <p:nvPr/>
        </p:nvSpPr>
        <p:spPr>
          <a:xfrm>
            <a:off x="1783080" y="1572768"/>
            <a:ext cx="6629400" cy="1143000"/>
          </a:xfrm>
          <a:prstGeom prst="rect">
            <a:avLst/>
          </a:prstGeom>
          <a:noFill/>
        </p:spPr>
        <p:txBody>
          <a:bodyPr wrap="square" anchor="ctr" lIns="0" rIns="0" tIns="0" bIns="0">
            <a:spAutoFit/>
          </a:bodyPr>
          <a:lstStyle/>
          <a:p>
            <a:pPr algn="l"/>
            <a:r>
              <a:rPr sz="1500" b="1" i="0">
                <a:solidFill>
                  <a:srgbClr val="4B2E83"/>
                </a:solidFill>
                <a:latin typeface="Calibri"/>
              </a:rPr>
              <a:t>Objetivo general</a:t>
            </a:r>
          </a:p>
          <a:p>
            <a:pPr algn="l"/>
            <a:r>
              <a:rPr sz="1400" b="0" i="0">
                <a:solidFill>
                  <a:srgbClr val="222233"/>
                </a:solidFill>
                <a:latin typeface="Calibri"/>
              </a:rPr>
              <a:t>Identificar los riesgos eléctricos de la operación de redes aéreas de distribución en baja y media tensión, aplicando el marco normativo vigente y las medidas de control, EPP y equipos de maniobra que permiten trabajar de forma segura.</a:t>
            </a:r>
          </a:p>
        </p:txBody>
      </p:sp>
      <p:sp>
        <p:nvSpPr>
          <p:cNvPr id="8" name="TextBox 7"/>
          <p:cNvSpPr txBox="1"/>
          <p:nvPr/>
        </p:nvSpPr>
        <p:spPr>
          <a:xfrm>
            <a:off x="548640" y="3017520"/>
            <a:ext cx="8046720" cy="365760"/>
          </a:xfrm>
          <a:prstGeom prst="rect">
            <a:avLst/>
          </a:prstGeom>
          <a:noFill/>
        </p:spPr>
        <p:txBody>
          <a:bodyPr wrap="square" anchor="t" lIns="0" rIns="0" tIns="0" bIns="0">
            <a:spAutoFit/>
          </a:bodyPr>
          <a:lstStyle/>
          <a:p>
            <a:pPr algn="l"/>
            <a:r>
              <a:rPr sz="1800" b="1" i="0">
                <a:solidFill>
                  <a:srgbClr val="4B2E83"/>
                </a:solidFill>
                <a:latin typeface="Calibri"/>
              </a:rPr>
              <a:t>Objetivos específicos</a:t>
            </a:r>
          </a:p>
        </p:txBody>
      </p:sp>
      <p:sp>
        <p:nvSpPr>
          <p:cNvPr id="9" name="Oval 8"/>
          <p:cNvSpPr/>
          <p:nvPr/>
        </p:nvSpPr>
        <p:spPr>
          <a:xfrm>
            <a:off x="548640" y="352044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10" name="TextBox 9"/>
          <p:cNvSpPr txBox="1"/>
          <p:nvPr/>
        </p:nvSpPr>
        <p:spPr>
          <a:xfrm>
            <a:off x="1280160" y="3474720"/>
            <a:ext cx="1828800" cy="274320"/>
          </a:xfrm>
          <a:prstGeom prst="rect">
            <a:avLst/>
          </a:prstGeom>
          <a:noFill/>
        </p:spPr>
        <p:txBody>
          <a:bodyPr wrap="square" anchor="t" lIns="0" rIns="0" tIns="0" bIns="0">
            <a:spAutoFit/>
          </a:bodyPr>
          <a:lstStyle/>
          <a:p>
            <a:pPr algn="l"/>
            <a:r>
              <a:rPr sz="1200" b="1" i="0">
                <a:solidFill>
                  <a:srgbClr val="6A4C9C"/>
                </a:solidFill>
                <a:latin typeface="Calibri"/>
              </a:rPr>
              <a:t>Módulo 1</a:t>
            </a:r>
          </a:p>
        </p:txBody>
      </p:sp>
      <p:sp>
        <p:nvSpPr>
          <p:cNvPr id="11" name="TextBox 10"/>
          <p:cNvSpPr txBox="1"/>
          <p:nvPr/>
        </p:nvSpPr>
        <p:spPr>
          <a:xfrm>
            <a:off x="1280160" y="3721608"/>
            <a:ext cx="7315200" cy="548640"/>
          </a:xfrm>
          <a:prstGeom prst="rect">
            <a:avLst/>
          </a:prstGeom>
          <a:noFill/>
        </p:spPr>
        <p:txBody>
          <a:bodyPr wrap="square" anchor="t" lIns="0" rIns="0" tIns="0" bIns="0">
            <a:spAutoFit/>
          </a:bodyPr>
          <a:lstStyle/>
          <a:p>
            <a:pPr algn="l"/>
            <a:r>
              <a:rPr sz="1500" b="0" i="0">
                <a:solidFill>
                  <a:srgbClr val="222233"/>
                </a:solidFill>
                <a:latin typeface="Calibri"/>
              </a:rPr>
              <a:t>Reconocer los componentes de la red aérea y los riesgos de electrocución y arco eléctrico.</a:t>
            </a:r>
          </a:p>
        </p:txBody>
      </p:sp>
      <p:sp>
        <p:nvSpPr>
          <p:cNvPr id="12" name="Oval 11"/>
          <p:cNvSpPr/>
          <p:nvPr/>
        </p:nvSpPr>
        <p:spPr>
          <a:xfrm>
            <a:off x="548640" y="443484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3" name="TextBox 12"/>
          <p:cNvSpPr txBox="1"/>
          <p:nvPr/>
        </p:nvSpPr>
        <p:spPr>
          <a:xfrm>
            <a:off x="1280160" y="4389120"/>
            <a:ext cx="1828800" cy="274320"/>
          </a:xfrm>
          <a:prstGeom prst="rect">
            <a:avLst/>
          </a:prstGeom>
          <a:noFill/>
        </p:spPr>
        <p:txBody>
          <a:bodyPr wrap="square" anchor="t" lIns="0" rIns="0" tIns="0" bIns="0">
            <a:spAutoFit/>
          </a:bodyPr>
          <a:lstStyle/>
          <a:p>
            <a:pPr algn="l"/>
            <a:r>
              <a:rPr sz="1200" b="1" i="0">
                <a:solidFill>
                  <a:srgbClr val="6A4C9C"/>
                </a:solidFill>
                <a:latin typeface="Calibri"/>
              </a:rPr>
              <a:t>Módulo 2</a:t>
            </a:r>
          </a:p>
        </p:txBody>
      </p:sp>
      <p:sp>
        <p:nvSpPr>
          <p:cNvPr id="14" name="TextBox 13"/>
          <p:cNvSpPr txBox="1"/>
          <p:nvPr/>
        </p:nvSpPr>
        <p:spPr>
          <a:xfrm>
            <a:off x="1280160" y="4636007"/>
            <a:ext cx="7315200" cy="548640"/>
          </a:xfrm>
          <a:prstGeom prst="rect">
            <a:avLst/>
          </a:prstGeom>
          <a:noFill/>
        </p:spPr>
        <p:txBody>
          <a:bodyPr wrap="square" anchor="t" lIns="0" rIns="0" tIns="0" bIns="0">
            <a:spAutoFit/>
          </a:bodyPr>
          <a:lstStyle/>
          <a:p>
            <a:pPr algn="l"/>
            <a:r>
              <a:rPr sz="1500" b="0" i="0">
                <a:solidFill>
                  <a:srgbClr val="222233"/>
                </a:solidFill>
                <a:latin typeface="Calibri"/>
              </a:rPr>
              <a:t>Identificar la normativa chilena aplicable (DS 8, DS 109, NCh 350) y la NFPA 70E.</a:t>
            </a:r>
          </a:p>
        </p:txBody>
      </p:sp>
      <p:sp>
        <p:nvSpPr>
          <p:cNvPr id="15" name="Oval 14"/>
          <p:cNvSpPr/>
          <p:nvPr/>
        </p:nvSpPr>
        <p:spPr>
          <a:xfrm>
            <a:off x="548640" y="534924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6" name="TextBox 15"/>
          <p:cNvSpPr txBox="1"/>
          <p:nvPr/>
        </p:nvSpPr>
        <p:spPr>
          <a:xfrm>
            <a:off x="1280160" y="5303520"/>
            <a:ext cx="1828800" cy="274320"/>
          </a:xfrm>
          <a:prstGeom prst="rect">
            <a:avLst/>
          </a:prstGeom>
          <a:noFill/>
        </p:spPr>
        <p:txBody>
          <a:bodyPr wrap="square" anchor="t" lIns="0" rIns="0" tIns="0" bIns="0">
            <a:spAutoFit/>
          </a:bodyPr>
          <a:lstStyle/>
          <a:p>
            <a:pPr algn="l"/>
            <a:r>
              <a:rPr sz="1200" b="1" i="0">
                <a:solidFill>
                  <a:srgbClr val="6A4C9C"/>
                </a:solidFill>
                <a:latin typeface="Calibri"/>
              </a:rPr>
              <a:t>Módulo 3</a:t>
            </a:r>
          </a:p>
        </p:txBody>
      </p:sp>
      <p:sp>
        <p:nvSpPr>
          <p:cNvPr id="17" name="TextBox 16"/>
          <p:cNvSpPr txBox="1"/>
          <p:nvPr/>
        </p:nvSpPr>
        <p:spPr>
          <a:xfrm>
            <a:off x="1280160" y="5550407"/>
            <a:ext cx="7315200" cy="548640"/>
          </a:xfrm>
          <a:prstGeom prst="rect">
            <a:avLst/>
          </a:prstGeom>
          <a:noFill/>
        </p:spPr>
        <p:txBody>
          <a:bodyPr wrap="square" anchor="t" lIns="0" rIns="0" tIns="0" bIns="0">
            <a:spAutoFit/>
          </a:bodyPr>
          <a:lstStyle/>
          <a:p>
            <a:pPr algn="l"/>
            <a:r>
              <a:rPr sz="1500" b="0" i="0">
                <a:solidFill>
                  <a:srgbClr val="222233"/>
                </a:solidFill>
                <a:latin typeface="Calibri"/>
              </a:rPr>
              <a:t>Aplicar distancias de seguridad, EPP y el uso seguro de los equipos de maniobra y puesta a tierra.</a:t>
            </a:r>
          </a:p>
        </p:txBody>
      </p:sp>
      <p:sp>
        <p:nvSpPr>
          <p:cNvPr id="1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RUTA DE APRENDIZAJE</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Índice del curso</a:t>
            </a:r>
          </a:p>
        </p:txBody>
      </p:sp>
      <p:sp>
        <p:nvSpPr>
          <p:cNvPr id="4" name="TextBox 3"/>
          <p:cNvSpPr txBox="1"/>
          <p:nvPr/>
        </p:nvSpPr>
        <p:spPr>
          <a:xfrm>
            <a:off x="548640" y="128016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un módulo para ir directamente a él.</a:t>
            </a:r>
          </a:p>
        </p:txBody>
      </p:sp>
      <p:sp>
        <p:nvSpPr>
          <p:cNvPr id="5" name="Rounded Rectangle 4">
            <a:hlinkClick action="ppaction://hlinksldjump" r:id="rId3"/>
          </p:cNvPr>
          <p:cNvSpPr/>
          <p:nvPr/>
        </p:nvSpPr>
        <p:spPr>
          <a:xfrm>
            <a:off x="548640" y="1828800"/>
            <a:ext cx="1828800" cy="3931920"/>
          </a:xfrm>
          <a:prstGeom prst="roundRect">
            <a:avLst>
              <a:gd name="adj" fmla="val 8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7240" y="2103120"/>
            <a:ext cx="685800" cy="685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4B2E83"/>
                </a:solidFill>
                <a:latin typeface="Calibri"/>
              </a:rPr>
              <a:t>1</a:t>
            </a:r>
          </a:p>
        </p:txBody>
      </p:sp>
      <p:sp>
        <p:nvSpPr>
          <p:cNvPr id="7" name="TextBox 6"/>
          <p:cNvSpPr txBox="1"/>
          <p:nvPr/>
        </p:nvSpPr>
        <p:spPr>
          <a:xfrm>
            <a:off x="777240" y="2971800"/>
            <a:ext cx="1463040" cy="320040"/>
          </a:xfrm>
          <a:prstGeom prst="rect">
            <a:avLst/>
          </a:prstGeom>
          <a:noFill/>
        </p:spPr>
        <p:txBody>
          <a:bodyPr wrap="square" anchor="t" lIns="0" rIns="0" tIns="0" bIns="0">
            <a:spAutoFit/>
          </a:bodyPr>
          <a:lstStyle/>
          <a:p>
            <a:pPr algn="l"/>
            <a:r>
              <a:rPr sz="1300" b="1" i="0">
                <a:solidFill>
                  <a:srgbClr val="F2A900"/>
                </a:solidFill>
                <a:latin typeface="Calibri"/>
              </a:rPr>
              <a:t>MÓDULO 1</a:t>
            </a:r>
          </a:p>
        </p:txBody>
      </p:sp>
      <p:sp>
        <p:nvSpPr>
          <p:cNvPr id="8" name="TextBox 7"/>
          <p:cNvSpPr txBox="1"/>
          <p:nvPr/>
        </p:nvSpPr>
        <p:spPr>
          <a:xfrm>
            <a:off x="777240" y="3291840"/>
            <a:ext cx="1463040" cy="1737360"/>
          </a:xfrm>
          <a:prstGeom prst="rect">
            <a:avLst/>
          </a:prstGeom>
          <a:noFill/>
        </p:spPr>
        <p:txBody>
          <a:bodyPr wrap="square" anchor="t" lIns="0" rIns="0" tIns="0" bIns="0">
            <a:spAutoFit/>
          </a:bodyPr>
          <a:lstStyle/>
          <a:p>
            <a:pPr algn="l"/>
            <a:r>
              <a:rPr sz="1600" b="1" i="0">
                <a:solidFill>
                  <a:srgbClr val="FFFFFF"/>
                </a:solidFill>
                <a:latin typeface="Calibri"/>
              </a:rPr>
              <a:t>Fundamentos técnicos y tipos de riesgos eléctricos</a:t>
            </a:r>
          </a:p>
        </p:txBody>
      </p:sp>
      <p:sp>
        <p:nvSpPr>
          <p:cNvPr id="9" name="TextBox 8"/>
          <p:cNvSpPr txBox="1"/>
          <p:nvPr/>
        </p:nvSpPr>
        <p:spPr>
          <a:xfrm>
            <a:off x="777240" y="5212080"/>
            <a:ext cx="1463040" cy="320040"/>
          </a:xfrm>
          <a:prstGeom prst="rect">
            <a:avLst/>
          </a:prstGeom>
          <a:noFill/>
        </p:spPr>
        <p:txBody>
          <a:bodyPr wrap="square" anchor="t" lIns="0" rIns="0" tIns="0" bIns="0">
            <a:spAutoFit/>
          </a:bodyPr>
          <a:lstStyle/>
          <a:p>
            <a:pPr algn="l"/>
            <a:r>
              <a:rPr sz="1300" b="0" i="0">
                <a:solidFill>
                  <a:srgbClr val="FFFFFF"/>
                </a:solidFill>
                <a:latin typeface="Calibri"/>
              </a:rPr>
              <a:t>⏱ 50 min</a:t>
            </a:r>
          </a:p>
        </p:txBody>
      </p:sp>
      <p:sp>
        <p:nvSpPr>
          <p:cNvPr id="10" name="Rounded Rectangle 9">
            <a:hlinkClick action="ppaction://hlinksldjump" r:id="rId4"/>
          </p:cNvPr>
          <p:cNvSpPr/>
          <p:nvPr/>
        </p:nvSpPr>
        <p:spPr>
          <a:xfrm>
            <a:off x="2606040" y="1828800"/>
            <a:ext cx="1828800" cy="3931920"/>
          </a:xfrm>
          <a:prstGeom prst="roundRect">
            <a:avLst>
              <a:gd name="adj" fmla="val 8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834640" y="2103120"/>
            <a:ext cx="685800" cy="685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4B2E83"/>
                </a:solidFill>
                <a:latin typeface="Calibri"/>
              </a:rPr>
              <a:t>2</a:t>
            </a:r>
          </a:p>
        </p:txBody>
      </p:sp>
      <p:sp>
        <p:nvSpPr>
          <p:cNvPr id="12" name="TextBox 11"/>
          <p:cNvSpPr txBox="1"/>
          <p:nvPr/>
        </p:nvSpPr>
        <p:spPr>
          <a:xfrm>
            <a:off x="2834640" y="2971800"/>
            <a:ext cx="1463040" cy="320040"/>
          </a:xfrm>
          <a:prstGeom prst="rect">
            <a:avLst/>
          </a:prstGeom>
          <a:noFill/>
        </p:spPr>
        <p:txBody>
          <a:bodyPr wrap="square" anchor="t" lIns="0" rIns="0" tIns="0" bIns="0">
            <a:spAutoFit/>
          </a:bodyPr>
          <a:lstStyle/>
          <a:p>
            <a:pPr algn="l"/>
            <a:r>
              <a:rPr sz="1300" b="1" i="0">
                <a:solidFill>
                  <a:srgbClr val="F2A900"/>
                </a:solidFill>
                <a:latin typeface="Calibri"/>
              </a:rPr>
              <a:t>MÓDULO 2</a:t>
            </a:r>
          </a:p>
        </p:txBody>
      </p:sp>
      <p:sp>
        <p:nvSpPr>
          <p:cNvPr id="13" name="TextBox 12"/>
          <p:cNvSpPr txBox="1"/>
          <p:nvPr/>
        </p:nvSpPr>
        <p:spPr>
          <a:xfrm>
            <a:off x="2834640" y="3291840"/>
            <a:ext cx="1463040" cy="1737360"/>
          </a:xfrm>
          <a:prstGeom prst="rect">
            <a:avLst/>
          </a:prstGeom>
          <a:noFill/>
        </p:spPr>
        <p:txBody>
          <a:bodyPr wrap="square" anchor="t" lIns="0" rIns="0" tIns="0" bIns="0">
            <a:spAutoFit/>
          </a:bodyPr>
          <a:lstStyle/>
          <a:p>
            <a:pPr algn="l"/>
            <a:r>
              <a:rPr sz="1600" b="1" i="0">
                <a:solidFill>
                  <a:srgbClr val="FFFFFF"/>
                </a:solidFill>
                <a:latin typeface="Calibri"/>
              </a:rPr>
              <a:t>Marcos normativos</a:t>
            </a:r>
          </a:p>
        </p:txBody>
      </p:sp>
      <p:sp>
        <p:nvSpPr>
          <p:cNvPr id="14" name="TextBox 13"/>
          <p:cNvSpPr txBox="1"/>
          <p:nvPr/>
        </p:nvSpPr>
        <p:spPr>
          <a:xfrm>
            <a:off x="2834640" y="5212080"/>
            <a:ext cx="1463040" cy="320040"/>
          </a:xfrm>
          <a:prstGeom prst="rect">
            <a:avLst/>
          </a:prstGeom>
          <a:noFill/>
        </p:spPr>
        <p:txBody>
          <a:bodyPr wrap="square" anchor="t" lIns="0" rIns="0" tIns="0" bIns="0">
            <a:spAutoFit/>
          </a:bodyPr>
          <a:lstStyle/>
          <a:p>
            <a:pPr algn="l"/>
            <a:r>
              <a:rPr sz="1300" b="0" i="0">
                <a:solidFill>
                  <a:srgbClr val="FFFFFF"/>
                </a:solidFill>
                <a:latin typeface="Calibri"/>
              </a:rPr>
              <a:t>⏱ 60 min</a:t>
            </a:r>
          </a:p>
        </p:txBody>
      </p:sp>
      <p:sp>
        <p:nvSpPr>
          <p:cNvPr id="15" name="Rounded Rectangle 14">
            <a:hlinkClick action="ppaction://hlinksldjump" r:id="rId5"/>
          </p:cNvPr>
          <p:cNvSpPr/>
          <p:nvPr/>
        </p:nvSpPr>
        <p:spPr>
          <a:xfrm>
            <a:off x="4663440" y="1828800"/>
            <a:ext cx="1828800" cy="3931920"/>
          </a:xfrm>
          <a:prstGeom prst="roundRect">
            <a:avLst>
              <a:gd name="adj" fmla="val 8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892040" y="2103120"/>
            <a:ext cx="685800" cy="685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4B2E83"/>
                </a:solidFill>
                <a:latin typeface="Calibri"/>
              </a:rPr>
              <a:t>3</a:t>
            </a:r>
          </a:p>
        </p:txBody>
      </p:sp>
      <p:sp>
        <p:nvSpPr>
          <p:cNvPr id="17" name="TextBox 16"/>
          <p:cNvSpPr txBox="1"/>
          <p:nvPr/>
        </p:nvSpPr>
        <p:spPr>
          <a:xfrm>
            <a:off x="4892040" y="2971800"/>
            <a:ext cx="1463040" cy="320040"/>
          </a:xfrm>
          <a:prstGeom prst="rect">
            <a:avLst/>
          </a:prstGeom>
          <a:noFill/>
        </p:spPr>
        <p:txBody>
          <a:bodyPr wrap="square" anchor="t" lIns="0" rIns="0" tIns="0" bIns="0">
            <a:spAutoFit/>
          </a:bodyPr>
          <a:lstStyle/>
          <a:p>
            <a:pPr algn="l"/>
            <a:r>
              <a:rPr sz="1300" b="1" i="0">
                <a:solidFill>
                  <a:srgbClr val="F2A900"/>
                </a:solidFill>
                <a:latin typeface="Calibri"/>
              </a:rPr>
              <a:t>MÓDULO 3</a:t>
            </a:r>
          </a:p>
        </p:txBody>
      </p:sp>
      <p:sp>
        <p:nvSpPr>
          <p:cNvPr id="18" name="TextBox 17"/>
          <p:cNvSpPr txBox="1"/>
          <p:nvPr/>
        </p:nvSpPr>
        <p:spPr>
          <a:xfrm>
            <a:off x="4892040" y="3291840"/>
            <a:ext cx="1463040" cy="1737360"/>
          </a:xfrm>
          <a:prstGeom prst="rect">
            <a:avLst/>
          </a:prstGeom>
          <a:noFill/>
        </p:spPr>
        <p:txBody>
          <a:bodyPr wrap="square" anchor="t" lIns="0" rIns="0" tIns="0" bIns="0">
            <a:spAutoFit/>
          </a:bodyPr>
          <a:lstStyle/>
          <a:p>
            <a:pPr algn="l"/>
            <a:r>
              <a:rPr sz="1600" b="1" i="0">
                <a:solidFill>
                  <a:srgbClr val="FFFFFF"/>
                </a:solidFill>
                <a:latin typeface="Calibri"/>
              </a:rPr>
              <a:t>Equipos eléctricos y de operación en la red</a:t>
            </a:r>
          </a:p>
        </p:txBody>
      </p:sp>
      <p:sp>
        <p:nvSpPr>
          <p:cNvPr id="19" name="TextBox 18"/>
          <p:cNvSpPr txBox="1"/>
          <p:nvPr/>
        </p:nvSpPr>
        <p:spPr>
          <a:xfrm>
            <a:off x="4892040" y="5212080"/>
            <a:ext cx="1463040" cy="320040"/>
          </a:xfrm>
          <a:prstGeom prst="rect">
            <a:avLst/>
          </a:prstGeom>
          <a:noFill/>
        </p:spPr>
        <p:txBody>
          <a:bodyPr wrap="square" anchor="t" lIns="0" rIns="0" tIns="0" bIns="0">
            <a:spAutoFit/>
          </a:bodyPr>
          <a:lstStyle/>
          <a:p>
            <a:pPr algn="l"/>
            <a:r>
              <a:rPr sz="1300" b="0" i="0">
                <a:solidFill>
                  <a:srgbClr val="FFFFFF"/>
                </a:solidFill>
                <a:latin typeface="Calibri"/>
              </a:rPr>
              <a:t>⏱ 110 min</a:t>
            </a:r>
          </a:p>
        </p:txBody>
      </p:sp>
      <p:sp>
        <p:nvSpPr>
          <p:cNvPr id="20" name="Rounded Rectangle 19">
            <a:hlinkClick action="ppaction://hlinksldjump" r:id="rId6"/>
          </p:cNvPr>
          <p:cNvSpPr/>
          <p:nvPr/>
        </p:nvSpPr>
        <p:spPr>
          <a:xfrm>
            <a:off x="6720840" y="1828800"/>
            <a:ext cx="1828800" cy="3931920"/>
          </a:xfrm>
          <a:prstGeom prst="roundRect">
            <a:avLst>
              <a:gd name="adj" fmla="val 8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949440" y="2103120"/>
            <a:ext cx="685800" cy="685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4B2E83"/>
                </a:solidFill>
                <a:latin typeface="Calibri"/>
              </a:rPr>
              <a:t>✓</a:t>
            </a:r>
          </a:p>
        </p:txBody>
      </p:sp>
      <p:sp>
        <p:nvSpPr>
          <p:cNvPr id="22" name="TextBox 21"/>
          <p:cNvSpPr txBox="1"/>
          <p:nvPr/>
        </p:nvSpPr>
        <p:spPr>
          <a:xfrm>
            <a:off x="6949440" y="2971800"/>
            <a:ext cx="1463040" cy="320040"/>
          </a:xfrm>
          <a:prstGeom prst="rect">
            <a:avLst/>
          </a:prstGeom>
          <a:noFill/>
        </p:spPr>
        <p:txBody>
          <a:bodyPr wrap="square" anchor="t" lIns="0" rIns="0" tIns="0" bIns="0">
            <a:spAutoFit/>
          </a:bodyPr>
          <a:lstStyle/>
          <a:p>
            <a:pPr algn="l"/>
            <a:r>
              <a:rPr sz="1300" b="1" i="0">
                <a:solidFill>
                  <a:srgbClr val="4B2E83"/>
                </a:solidFill>
                <a:latin typeface="Calibri"/>
              </a:rPr>
              <a:t>CIERRE</a:t>
            </a:r>
          </a:p>
        </p:txBody>
      </p:sp>
      <p:sp>
        <p:nvSpPr>
          <p:cNvPr id="23" name="TextBox 22"/>
          <p:cNvSpPr txBox="1"/>
          <p:nvPr/>
        </p:nvSpPr>
        <p:spPr>
          <a:xfrm>
            <a:off x="6949440" y="3291840"/>
            <a:ext cx="1463040" cy="1737360"/>
          </a:xfrm>
          <a:prstGeom prst="rect">
            <a:avLst/>
          </a:prstGeom>
          <a:noFill/>
        </p:spPr>
        <p:txBody>
          <a:bodyPr wrap="square" anchor="t" lIns="0" rIns="0" tIns="0" bIns="0">
            <a:spAutoFit/>
          </a:bodyPr>
          <a:lstStyle/>
          <a:p>
            <a:pPr algn="l"/>
            <a:r>
              <a:rPr sz="1600" b="1" i="0">
                <a:solidFill>
                  <a:srgbClr val="222233"/>
                </a:solidFill>
                <a:latin typeface="Calibri"/>
              </a:rPr>
              <a:t>Evaluación final y recursos</a:t>
            </a:r>
          </a:p>
        </p:txBody>
      </p:sp>
      <p:sp>
        <p:nvSpPr>
          <p:cNvPr id="24" name="TextBox 23"/>
          <p:cNvSpPr txBox="1"/>
          <p:nvPr/>
        </p:nvSpPr>
        <p:spPr>
          <a:xfrm>
            <a:off x="6949440" y="5212080"/>
            <a:ext cx="1463040" cy="320040"/>
          </a:xfrm>
          <a:prstGeom prst="rect">
            <a:avLst/>
          </a:prstGeom>
          <a:noFill/>
        </p:spPr>
        <p:txBody>
          <a:bodyPr wrap="square" anchor="t" lIns="0" rIns="0" tIns="0" bIns="0">
            <a:spAutoFit/>
          </a:bodyPr>
          <a:lstStyle/>
          <a:p>
            <a:pPr algn="l"/>
            <a:r>
              <a:rPr sz="1300" b="0" i="0">
                <a:solidFill>
                  <a:srgbClr val="222233"/>
                </a:solidFill>
                <a:latin typeface="Calibri"/>
              </a:rPr>
              <a:t>⏱ 20 min</a:t>
            </a:r>
          </a:p>
        </p:txBody>
      </p:sp>
      <p:sp>
        <p:nvSpPr>
          <p:cNvPr id="25"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6"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4B2E83"/>
        </a:solidFill>
        <a:effectLst/>
      </p:bgPr>
    </p:bg>
    <p:spTree>
      <p:nvGrpSpPr>
        <p:cNvPr id="1" name=""/>
        <p:cNvGrpSpPr/>
        <p:nvPr/>
      </p:nvGrpSpPr>
      <p:grpSpPr/>
      <p:sp>
        <p:nvSpPr>
          <p:cNvPr id="2" name="TextBox 1"/>
          <p:cNvSpPr txBox="1"/>
          <p:nvPr/>
        </p:nvSpPr>
        <p:spPr>
          <a:xfrm>
            <a:off x="640080" y="640080"/>
            <a:ext cx="7863840" cy="365760"/>
          </a:xfrm>
          <a:prstGeom prst="rect">
            <a:avLst/>
          </a:prstGeom>
          <a:noFill/>
        </p:spPr>
        <p:txBody>
          <a:bodyPr wrap="square" anchor="t" lIns="0" rIns="0" tIns="0" bIns="0">
            <a:spAutoFit/>
          </a:bodyPr>
          <a:lstStyle/>
          <a:p>
            <a:pPr algn="l"/>
            <a:r>
              <a:rPr sz="1600" b="1" i="0">
                <a:solidFill>
                  <a:srgbClr val="F2A900"/>
                </a:solidFill>
                <a:latin typeface="Calibri"/>
              </a:rPr>
              <a:t>MÓDULO 1</a:t>
            </a:r>
          </a:p>
        </p:txBody>
      </p:sp>
      <p:sp>
        <p:nvSpPr>
          <p:cNvPr id="3" name="TextBox 2"/>
          <p:cNvSpPr txBox="1"/>
          <p:nvPr/>
        </p:nvSpPr>
        <p:spPr>
          <a:xfrm>
            <a:off x="640080" y="1005840"/>
            <a:ext cx="7863840" cy="1188720"/>
          </a:xfrm>
          <a:prstGeom prst="rect">
            <a:avLst/>
          </a:prstGeom>
          <a:noFill/>
        </p:spPr>
        <p:txBody>
          <a:bodyPr wrap="square" anchor="t" lIns="0" rIns="0" tIns="0" bIns="0">
            <a:spAutoFit/>
          </a:bodyPr>
          <a:lstStyle/>
          <a:p>
            <a:pPr algn="l"/>
            <a:r>
              <a:rPr sz="3400" b="1" i="0">
                <a:solidFill>
                  <a:srgbClr val="FFFFFF"/>
                </a:solidFill>
                <a:latin typeface="Calibri"/>
              </a:rPr>
              <a:t>Fundamentos técnicos y tipos de riesgos eléctricos</a:t>
            </a:r>
          </a:p>
        </p:txBody>
      </p:sp>
      <p:sp>
        <p:nvSpPr>
          <p:cNvPr id="4" name="TextBox 3"/>
          <p:cNvSpPr txBox="1"/>
          <p:nvPr/>
        </p:nvSpPr>
        <p:spPr>
          <a:xfrm>
            <a:off x="640080" y="2423160"/>
            <a:ext cx="4754880" cy="365760"/>
          </a:xfrm>
          <a:prstGeom prst="rect">
            <a:avLst/>
          </a:prstGeom>
          <a:noFill/>
        </p:spPr>
        <p:txBody>
          <a:bodyPr wrap="square" anchor="t" lIns="0" rIns="0" tIns="0" bIns="0">
            <a:spAutoFit/>
          </a:bodyPr>
          <a:lstStyle/>
          <a:p>
            <a:pPr algn="l"/>
            <a:r>
              <a:rPr sz="1600" b="1" i="0">
                <a:solidFill>
                  <a:srgbClr val="E6DDF3"/>
                </a:solidFill>
                <a:latin typeface="Calibri"/>
              </a:rPr>
              <a:t>Al finalizar este módulo podrás:</a:t>
            </a:r>
          </a:p>
        </p:txBody>
      </p:sp>
      <p:sp>
        <p:nvSpPr>
          <p:cNvPr id="5" name="Oval 4"/>
          <p:cNvSpPr/>
          <p:nvPr/>
        </p:nvSpPr>
        <p:spPr>
          <a:xfrm>
            <a:off x="640080" y="2926080"/>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749808" y="3035808"/>
            <a:ext cx="237744" cy="237744"/>
          </a:xfrm>
          <a:prstGeom prst="rect">
            <a:avLst/>
          </a:prstGeom>
        </p:spPr>
      </p:pic>
      <p:sp>
        <p:nvSpPr>
          <p:cNvPr id="7" name="TextBox 6"/>
          <p:cNvSpPr txBox="1"/>
          <p:nvPr/>
        </p:nvSpPr>
        <p:spPr>
          <a:xfrm>
            <a:off x="1280160" y="2907792"/>
            <a:ext cx="4023360" cy="960120"/>
          </a:xfrm>
          <a:prstGeom prst="rect">
            <a:avLst/>
          </a:prstGeom>
          <a:noFill/>
        </p:spPr>
        <p:txBody>
          <a:bodyPr wrap="square" anchor="t" lIns="0" rIns="0" tIns="0" bIns="0">
            <a:spAutoFit/>
          </a:bodyPr>
          <a:lstStyle/>
          <a:p>
            <a:pPr algn="l"/>
            <a:r>
              <a:rPr sz="1400" b="0" i="0">
                <a:solidFill>
                  <a:srgbClr val="FFFFFF"/>
                </a:solidFill>
                <a:latin typeface="Calibri"/>
              </a:rPr>
              <a:t>Describir los componentes de una red aérea de distribución: estructuras, conductores, aisladores y equipos.</a:t>
            </a:r>
          </a:p>
        </p:txBody>
      </p:sp>
      <p:sp>
        <p:nvSpPr>
          <p:cNvPr id="8" name="Oval 7"/>
          <p:cNvSpPr/>
          <p:nvPr/>
        </p:nvSpPr>
        <p:spPr>
          <a:xfrm>
            <a:off x="640080" y="3977639"/>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aCheckCircle_w.png"/>
          <p:cNvPicPr>
            <a:picLocks noChangeAspect="1"/>
          </p:cNvPicPr>
          <p:nvPr/>
        </p:nvPicPr>
        <p:blipFill>
          <a:blip r:embed="rId2"/>
          <a:stretch>
            <a:fillRect/>
          </a:stretch>
        </p:blipFill>
        <p:spPr>
          <a:xfrm>
            <a:off x="749808" y="4087368"/>
            <a:ext cx="237744" cy="237744"/>
          </a:xfrm>
          <a:prstGeom prst="rect">
            <a:avLst/>
          </a:prstGeom>
        </p:spPr>
      </p:pic>
      <p:sp>
        <p:nvSpPr>
          <p:cNvPr id="10" name="TextBox 9"/>
          <p:cNvSpPr txBox="1"/>
          <p:nvPr/>
        </p:nvSpPr>
        <p:spPr>
          <a:xfrm>
            <a:off x="1280160" y="3959352"/>
            <a:ext cx="4023360" cy="960120"/>
          </a:xfrm>
          <a:prstGeom prst="rect">
            <a:avLst/>
          </a:prstGeom>
          <a:noFill/>
        </p:spPr>
        <p:txBody>
          <a:bodyPr wrap="square" anchor="t" lIns="0" rIns="0" tIns="0" bIns="0">
            <a:spAutoFit/>
          </a:bodyPr>
          <a:lstStyle/>
          <a:p>
            <a:pPr algn="l"/>
            <a:r>
              <a:rPr sz="1400" b="0" i="0">
                <a:solidFill>
                  <a:srgbClr val="FFFFFF"/>
                </a:solidFill>
                <a:latin typeface="Calibri"/>
              </a:rPr>
              <a:t>Distinguir los principales tipos de fallas y perturbaciones de la red.</a:t>
            </a:r>
          </a:p>
        </p:txBody>
      </p:sp>
      <p:sp>
        <p:nvSpPr>
          <p:cNvPr id="11" name="Oval 10"/>
          <p:cNvSpPr/>
          <p:nvPr/>
        </p:nvSpPr>
        <p:spPr>
          <a:xfrm>
            <a:off x="640080" y="5029200"/>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CheckCircle_w.png"/>
          <p:cNvPicPr>
            <a:picLocks noChangeAspect="1"/>
          </p:cNvPicPr>
          <p:nvPr/>
        </p:nvPicPr>
        <p:blipFill>
          <a:blip r:embed="rId2"/>
          <a:stretch>
            <a:fillRect/>
          </a:stretch>
        </p:blipFill>
        <p:spPr>
          <a:xfrm>
            <a:off x="749808" y="5138928"/>
            <a:ext cx="237744" cy="237744"/>
          </a:xfrm>
          <a:prstGeom prst="rect">
            <a:avLst/>
          </a:prstGeom>
        </p:spPr>
      </p:pic>
      <p:sp>
        <p:nvSpPr>
          <p:cNvPr id="13" name="TextBox 12"/>
          <p:cNvSpPr txBox="1"/>
          <p:nvPr/>
        </p:nvSpPr>
        <p:spPr>
          <a:xfrm>
            <a:off x="1280160" y="5010912"/>
            <a:ext cx="4023360" cy="960120"/>
          </a:xfrm>
          <a:prstGeom prst="rect">
            <a:avLst/>
          </a:prstGeom>
          <a:noFill/>
        </p:spPr>
        <p:txBody>
          <a:bodyPr wrap="square" anchor="t" lIns="0" rIns="0" tIns="0" bIns="0">
            <a:spAutoFit/>
          </a:bodyPr>
          <a:lstStyle/>
          <a:p>
            <a:pPr algn="l"/>
            <a:r>
              <a:rPr sz="1400" b="0" i="0">
                <a:solidFill>
                  <a:srgbClr val="FFFFFF"/>
                </a:solidFill>
                <a:latin typeface="Calibri"/>
              </a:rPr>
              <a:t>Reconocer los riesgos de electrocución y arco eléctrico, y sus efectos directos e indirectos.</a:t>
            </a:r>
          </a:p>
        </p:txBody>
      </p:sp>
      <p:sp>
        <p:nvSpPr>
          <p:cNvPr id="14" name="Rounded Rectangle 13"/>
          <p:cNvSpPr/>
          <p:nvPr/>
        </p:nvSpPr>
        <p:spPr>
          <a:xfrm>
            <a:off x="5669280" y="2423160"/>
            <a:ext cx="2834640" cy="3611880"/>
          </a:xfrm>
          <a:prstGeom prst="roundRect">
            <a:avLst>
              <a:gd name="adj" fmla="val 8000"/>
            </a:avLst>
          </a:prstGeom>
          <a:solidFill>
            <a:srgbClr val="6A4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897880" y="2606040"/>
            <a:ext cx="2468880" cy="320040"/>
          </a:xfrm>
          <a:prstGeom prst="rect">
            <a:avLst/>
          </a:prstGeom>
          <a:noFill/>
        </p:spPr>
        <p:txBody>
          <a:bodyPr wrap="square" anchor="t" lIns="0" rIns="0" tIns="0" bIns="0">
            <a:spAutoFit/>
          </a:bodyPr>
          <a:lstStyle/>
          <a:p>
            <a:pPr algn="l"/>
            <a:r>
              <a:rPr sz="1800" b="1" i="0">
                <a:solidFill>
                  <a:srgbClr val="F2A900"/>
                </a:solidFill>
                <a:latin typeface="Calibri"/>
              </a:rPr>
              <a:t>⏱  50 min</a:t>
            </a:r>
          </a:p>
        </p:txBody>
      </p:sp>
      <p:sp>
        <p:nvSpPr>
          <p:cNvPr id="16" name="TextBox 15"/>
          <p:cNvSpPr txBox="1"/>
          <p:nvPr/>
        </p:nvSpPr>
        <p:spPr>
          <a:xfrm>
            <a:off x="5897880" y="3063240"/>
            <a:ext cx="2468880" cy="320040"/>
          </a:xfrm>
          <a:prstGeom prst="rect">
            <a:avLst/>
          </a:prstGeom>
          <a:noFill/>
        </p:spPr>
        <p:txBody>
          <a:bodyPr wrap="square" anchor="t" lIns="0" rIns="0" tIns="0" bIns="0">
            <a:spAutoFit/>
          </a:bodyPr>
          <a:lstStyle/>
          <a:p>
            <a:pPr algn="l"/>
            <a:r>
              <a:rPr sz="1400" b="1" i="0">
                <a:solidFill>
                  <a:srgbClr val="FFFFFF"/>
                </a:solidFill>
                <a:latin typeface="Calibri"/>
              </a:rPr>
              <a:t>Temas</a:t>
            </a:r>
          </a:p>
        </p:txBody>
      </p:sp>
      <p:sp>
        <p:nvSpPr>
          <p:cNvPr id="17" name="TextBox 16"/>
          <p:cNvSpPr txBox="1"/>
          <p:nvPr/>
        </p:nvSpPr>
        <p:spPr>
          <a:xfrm>
            <a:off x="5897880" y="3429000"/>
            <a:ext cx="2468880" cy="2468880"/>
          </a:xfrm>
          <a:prstGeom prst="rect">
            <a:avLst/>
          </a:prstGeom>
          <a:noFill/>
        </p:spPr>
        <p:txBody>
          <a:bodyPr wrap="square" anchor="t" lIns="0" rIns="0" tIns="0" bIns="0">
            <a:spAutoFit/>
          </a:bodyPr>
          <a:lstStyle/>
          <a:p>
            <a:pPr algn="l">
              <a:spcAft>
                <a:spcPts val="600"/>
              </a:spcAft>
            </a:pPr>
            <a:r>
              <a:rPr sz="1300" b="0" i="0">
                <a:solidFill>
                  <a:srgbClr val="FFFFFF"/>
                </a:solidFill>
                <a:latin typeface="Calibri"/>
              </a:rPr>
              <a:t>1.0  La energía eléctrica</a:t>
            </a:r>
          </a:p>
          <a:p>
            <a:pPr algn="l">
              <a:spcAft>
                <a:spcPts val="600"/>
              </a:spcAft>
            </a:pPr>
            <a:r>
              <a:rPr sz="1300" b="0" i="0">
                <a:solidFill>
                  <a:srgbClr val="FFFFFF"/>
                </a:solidFill>
                <a:latin typeface="Calibri"/>
              </a:rPr>
              <a:t>1.1  Sistemas eléctricos aéreos</a:t>
            </a:r>
          </a:p>
          <a:p>
            <a:pPr algn="l">
              <a:spcAft>
                <a:spcPts val="600"/>
              </a:spcAft>
            </a:pPr>
            <a:r>
              <a:rPr sz="1300" b="0" i="0">
                <a:solidFill>
                  <a:srgbClr val="FFFFFF"/>
                </a:solidFill>
                <a:latin typeface="Calibri"/>
              </a:rPr>
              <a:t>1.2  Fallas y perturbaciones</a:t>
            </a:r>
          </a:p>
          <a:p>
            <a:pPr algn="l">
              <a:spcAft>
                <a:spcPts val="600"/>
              </a:spcAft>
            </a:pPr>
            <a:r>
              <a:rPr sz="1300" b="0" i="0">
                <a:solidFill>
                  <a:srgbClr val="FFFFFF"/>
                </a:solidFill>
                <a:latin typeface="Calibri"/>
              </a:rPr>
              <a:t>1.3  Tipos de riesgos</a:t>
            </a:r>
          </a:p>
        </p:txBody>
      </p:sp>
      <p:sp>
        <p:nvSpPr>
          <p:cNvPr id="18" name="Botón Índice">
            <a:hlinkClick action="ppaction://hlinksldjump" r:id="rId4"/>
          </p:cNvPr>
          <p:cNvSpPr/>
          <p:nvPr/>
        </p:nvSpPr>
        <p:spPr>
          <a:xfrm>
            <a:off x="137160" y="6455664"/>
            <a:ext cx="914400" cy="292608"/>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4B2E83"/>
                </a:solidFill>
                <a:latin typeface="Calibri"/>
              </a:rPr>
              <a:t>Índice</a:t>
            </a:r>
          </a:p>
        </p:txBody>
      </p:sp>
      <p:sp>
        <p:nvSpPr>
          <p:cNvPr id="1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D9CCEE"/>
                </a:solidFill>
                <a:latin typeface="Calibri"/>
              </a:rPr>
              <a:t>Riesgos eléctricos en redes aéreas de distribución  ·  SSGI OTEC</a:t>
            </a:r>
          </a:p>
        </p:txBody>
      </p:sp>
      <p:sp>
        <p:nvSpPr>
          <p:cNvPr id="2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D9CCEE"/>
                </a:solidFill>
                <a:latin typeface="Calibri"/>
              </a:rPr>
              <a:t>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CIERRE</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Ideas clave para recordar</a:t>
            </a:r>
          </a:p>
        </p:txBody>
      </p:sp>
      <p:sp>
        <p:nvSpPr>
          <p:cNvPr id="4" name="Rounded Rectangle 3"/>
          <p:cNvSpPr/>
          <p:nvPr/>
        </p:nvSpPr>
        <p:spPr>
          <a:xfrm>
            <a:off x="548640" y="150876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178308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1600200" y="1783080"/>
            <a:ext cx="2606040" cy="640080"/>
          </a:xfrm>
          <a:prstGeom prst="rect">
            <a:avLst/>
          </a:prstGeom>
          <a:noFill/>
        </p:spPr>
        <p:txBody>
          <a:bodyPr wrap="square" anchor="ctr" lIns="0" rIns="0" tIns="0" bIns="0">
            <a:spAutoFit/>
          </a:bodyPr>
          <a:lstStyle/>
          <a:p>
            <a:pPr algn="l"/>
            <a:r>
              <a:rPr sz="1700" b="1" i="0">
                <a:solidFill>
                  <a:srgbClr val="4B2E83"/>
                </a:solidFill>
                <a:latin typeface="Calibri"/>
              </a:rPr>
              <a:t>La red comparte riesgos</a:t>
            </a:r>
          </a:p>
        </p:txBody>
      </p:sp>
      <p:sp>
        <p:nvSpPr>
          <p:cNvPr id="7" name="TextBox 6"/>
          <p:cNvSpPr txBox="1"/>
          <p:nvPr/>
        </p:nvSpPr>
        <p:spPr>
          <a:xfrm>
            <a:off x="822959" y="2514600"/>
            <a:ext cx="3337560" cy="1097280"/>
          </a:xfrm>
          <a:prstGeom prst="rect">
            <a:avLst/>
          </a:prstGeom>
          <a:noFill/>
        </p:spPr>
        <p:txBody>
          <a:bodyPr wrap="square" anchor="t" lIns="0" rIns="0" tIns="0" bIns="0">
            <a:spAutoFit/>
          </a:bodyPr>
          <a:lstStyle/>
          <a:p>
            <a:pPr algn="l"/>
            <a:r>
              <a:rPr sz="1400" b="0" i="0">
                <a:solidFill>
                  <a:srgbClr val="222233"/>
                </a:solidFill>
                <a:latin typeface="Calibri"/>
              </a:rPr>
              <a:t>Media y baja tensión suelen ir en el mismo poste: al trabajar en BT, la MT puede estar a centímetros.</a:t>
            </a:r>
          </a:p>
        </p:txBody>
      </p:sp>
      <p:sp>
        <p:nvSpPr>
          <p:cNvPr id="8" name="Rounded Rectangle 7"/>
          <p:cNvSpPr/>
          <p:nvPr/>
        </p:nvSpPr>
        <p:spPr>
          <a:xfrm>
            <a:off x="4663440" y="150876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937759" y="178308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5715000" y="1783080"/>
            <a:ext cx="2606040" cy="640080"/>
          </a:xfrm>
          <a:prstGeom prst="rect">
            <a:avLst/>
          </a:prstGeom>
          <a:noFill/>
        </p:spPr>
        <p:txBody>
          <a:bodyPr wrap="square" anchor="ctr" lIns="0" rIns="0" tIns="0" bIns="0">
            <a:spAutoFit/>
          </a:bodyPr>
          <a:lstStyle/>
          <a:p>
            <a:pPr algn="l"/>
            <a:r>
              <a:rPr sz="1700" b="1" i="0">
                <a:solidFill>
                  <a:srgbClr val="4B2E83"/>
                </a:solidFill>
                <a:latin typeface="Calibri"/>
              </a:rPr>
              <a:t>Protegido no es aislado</a:t>
            </a:r>
          </a:p>
        </p:txBody>
      </p:sp>
      <p:sp>
        <p:nvSpPr>
          <p:cNvPr id="11" name="TextBox 10"/>
          <p:cNvSpPr txBox="1"/>
          <p:nvPr/>
        </p:nvSpPr>
        <p:spPr>
          <a:xfrm>
            <a:off x="4937759" y="2514600"/>
            <a:ext cx="3337560" cy="1097280"/>
          </a:xfrm>
          <a:prstGeom prst="rect">
            <a:avLst/>
          </a:prstGeom>
          <a:noFill/>
        </p:spPr>
        <p:txBody>
          <a:bodyPr wrap="square" anchor="t" lIns="0" rIns="0" tIns="0" bIns="0">
            <a:spAutoFit/>
          </a:bodyPr>
          <a:lstStyle/>
          <a:p>
            <a:pPr algn="l"/>
            <a:r>
              <a:rPr sz="1400" b="0" i="0">
                <a:solidFill>
                  <a:srgbClr val="222233"/>
                </a:solidFill>
                <a:latin typeface="Calibri"/>
              </a:rPr>
              <a:t>El conductor protegido de MT no garantiza aislación para una persona. Trátalo siempre como energizado.</a:t>
            </a:r>
          </a:p>
        </p:txBody>
      </p:sp>
      <p:sp>
        <p:nvSpPr>
          <p:cNvPr id="12" name="Rounded Rectangle 11"/>
          <p:cNvSpPr/>
          <p:nvPr/>
        </p:nvSpPr>
        <p:spPr>
          <a:xfrm>
            <a:off x="548640" y="388620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22959" y="416052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4" name="TextBox 13"/>
          <p:cNvSpPr txBox="1"/>
          <p:nvPr/>
        </p:nvSpPr>
        <p:spPr>
          <a:xfrm>
            <a:off x="1600200" y="4160520"/>
            <a:ext cx="2606040" cy="640080"/>
          </a:xfrm>
          <a:prstGeom prst="rect">
            <a:avLst/>
          </a:prstGeom>
          <a:noFill/>
        </p:spPr>
        <p:txBody>
          <a:bodyPr wrap="square" anchor="ctr" lIns="0" rIns="0" tIns="0" bIns="0">
            <a:spAutoFit/>
          </a:bodyPr>
          <a:lstStyle/>
          <a:p>
            <a:pPr algn="l"/>
            <a:r>
              <a:rPr sz="1700" b="1" i="0">
                <a:solidFill>
                  <a:srgbClr val="4B2E83"/>
                </a:solidFill>
                <a:latin typeface="Calibri"/>
              </a:rPr>
              <a:t>Las fallas energizan</a:t>
            </a:r>
          </a:p>
        </p:txBody>
      </p:sp>
      <p:sp>
        <p:nvSpPr>
          <p:cNvPr id="15" name="TextBox 14"/>
          <p:cNvSpPr txBox="1"/>
          <p:nvPr/>
        </p:nvSpPr>
        <p:spPr>
          <a:xfrm>
            <a:off x="822959" y="4892040"/>
            <a:ext cx="3337560" cy="1097280"/>
          </a:xfrm>
          <a:prstGeom prst="rect">
            <a:avLst/>
          </a:prstGeom>
          <a:noFill/>
        </p:spPr>
        <p:txBody>
          <a:bodyPr wrap="square" anchor="t" lIns="0" rIns="0" tIns="0" bIns="0">
            <a:spAutoFit/>
          </a:bodyPr>
          <a:lstStyle/>
          <a:p>
            <a:pPr algn="l"/>
            <a:r>
              <a:rPr sz="1400" b="0" i="0">
                <a:solidFill>
                  <a:srgbClr val="222233"/>
                </a:solidFill>
                <a:latin typeface="Calibri"/>
              </a:rPr>
              <a:t>Cortocircuitos, fallas a tierra y fugas pueden dejar con tensión partes que normalmente no la tienen.</a:t>
            </a:r>
          </a:p>
        </p:txBody>
      </p:sp>
      <p:sp>
        <p:nvSpPr>
          <p:cNvPr id="16" name="Rounded Rectangle 15"/>
          <p:cNvSpPr/>
          <p:nvPr/>
        </p:nvSpPr>
        <p:spPr>
          <a:xfrm>
            <a:off x="4663440" y="388620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937759" y="416052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8" name="TextBox 17"/>
          <p:cNvSpPr txBox="1"/>
          <p:nvPr/>
        </p:nvSpPr>
        <p:spPr>
          <a:xfrm>
            <a:off x="5715000" y="4160520"/>
            <a:ext cx="2606040" cy="640080"/>
          </a:xfrm>
          <a:prstGeom prst="rect">
            <a:avLst/>
          </a:prstGeom>
          <a:noFill/>
        </p:spPr>
        <p:txBody>
          <a:bodyPr wrap="square" anchor="ctr" lIns="0" rIns="0" tIns="0" bIns="0">
            <a:spAutoFit/>
          </a:bodyPr>
          <a:lstStyle/>
          <a:p>
            <a:pPr algn="l"/>
            <a:r>
              <a:rPr sz="1700" b="1" i="0">
                <a:solidFill>
                  <a:srgbClr val="4B2E83"/>
                </a:solidFill>
                <a:latin typeface="Calibri"/>
              </a:rPr>
              <a:t>Dos riesgos principales</a:t>
            </a:r>
          </a:p>
        </p:txBody>
      </p:sp>
      <p:sp>
        <p:nvSpPr>
          <p:cNvPr id="19" name="TextBox 18"/>
          <p:cNvSpPr txBox="1"/>
          <p:nvPr/>
        </p:nvSpPr>
        <p:spPr>
          <a:xfrm>
            <a:off x="4937759" y="4892040"/>
            <a:ext cx="3337560" cy="1097280"/>
          </a:xfrm>
          <a:prstGeom prst="rect">
            <a:avLst/>
          </a:prstGeom>
          <a:noFill/>
        </p:spPr>
        <p:txBody>
          <a:bodyPr wrap="square" anchor="t" lIns="0" rIns="0" tIns="0" bIns="0">
            <a:spAutoFit/>
          </a:bodyPr>
          <a:lstStyle/>
          <a:p>
            <a:pPr algn="l"/>
            <a:r>
              <a:rPr sz="1400" b="0" i="0">
                <a:solidFill>
                  <a:srgbClr val="222233"/>
                </a:solidFill>
                <a:latin typeface="Calibri"/>
              </a:rPr>
              <a:t>Electrocución y arco eléctrico. Ambos tienen efectos indirectos graves: caídas desde altura e incendios.</a:t>
            </a:r>
          </a:p>
        </p:txBody>
      </p:sp>
      <p:sp>
        <p:nvSpPr>
          <p:cNvPr id="20" name="Botón Índice">
            <a:hlinkClick action="ppaction://hlinksldjump" r:id="rId3"/>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26</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1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1</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¿Cuál es la función principal del conductor en una línea eléctrica aérea?</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Soportar los esfuerzos mecánicos de la línea</a:t>
            </a:r>
          </a:p>
        </p:txBody>
      </p:sp>
      <p:sp>
        <p:nvSpPr>
          <p:cNvPr id="12" name="Alternativa B">
            <a:hlinkClick action="ppaction://hlinksldjump" r:id="rId5"/>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5"/>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5"/>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Transportar la corriente eléctrica</a:t>
            </a:r>
          </a:p>
        </p:txBody>
      </p:sp>
      <p:sp>
        <p:nvSpPr>
          <p:cNvPr id="15" name="Alternativa C">
            <a:hlinkClick action="ppaction://hlinksldjump" r:id="rId4"/>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4"/>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4"/>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Separar las fases entre sí</a:t>
            </a:r>
          </a:p>
        </p:txBody>
      </p:sp>
      <p:sp>
        <p:nvSpPr>
          <p:cNvPr id="18" name="Alternativa D">
            <a:hlinkClick action="ppaction://hlinksldjump" r:id="rId4"/>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4"/>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4"/>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Medir la energía consumida</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27</a:t>
            </a:r>
          </a:p>
        </p:txBody>
      </p:sp>
    </p:spTree>
  </p:cSld>
  <p:clrMapOvr>
    <a:masterClrMapping/>
  </p:clrMapOvr>
  <p:transition advClick="0"/>
</p:sld>
</file>

<file path=ppt/slides/slide10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1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B) Transportar la corriente eléctrica</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El conductor (cobre o aluminio) transporta la corriente; las estructuras soportan y los aisladores separan.</a:t>
            </a:r>
          </a:p>
        </p:txBody>
      </p:sp>
      <p:sp>
        <p:nvSpPr>
          <p:cNvPr id="9" name="Botón Siguiente pregunta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Siguiente pregunta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1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Piensa en qué elemento de la línea es de cobre o aluminio y por dónde circula la energía.</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2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2</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Un liniero recibe una descarga en lo alto de un poste. ¿Cuál de estos es un efecto INDIRECTO?</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Quemadura en la mano</a:t>
            </a:r>
          </a:p>
        </p:txBody>
      </p:sp>
      <p:sp>
        <p:nvSpPr>
          <p:cNvPr id="12" name="Alternativa B">
            <a:hlinkClick action="ppaction://hlinksldjump" r:id="rId4"/>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4"/>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4"/>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Fibrilación ventricular</a:t>
            </a:r>
          </a:p>
        </p:txBody>
      </p:sp>
      <p:sp>
        <p:nvSpPr>
          <p:cNvPr id="15" name="Alternativa C">
            <a:hlinkClick action="ppaction://hlinksldjump" r:id="rId5"/>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5"/>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5"/>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Caída desde altura</a:t>
            </a:r>
          </a:p>
        </p:txBody>
      </p:sp>
      <p:sp>
        <p:nvSpPr>
          <p:cNvPr id="18" name="Alternativa D">
            <a:hlinkClick action="ppaction://hlinksldjump" r:id="rId4"/>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4"/>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4"/>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Necrosis de tejidos</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28</a:t>
            </a:r>
          </a:p>
        </p:txBody>
      </p:sp>
    </p:spTree>
  </p:cSld>
  <p:clrMapOvr>
    <a:masterClrMapping/>
  </p:clrMapOvr>
  <p:transition advClick="0"/>
</p:sld>
</file>

<file path=ppt/slides/slide10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2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C) Caída desde altura</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La caída es consecuencia indirecta de la descarga; quemaduras, fibrilación y necrosis son efectos directos.</a:t>
            </a:r>
          </a:p>
        </p:txBody>
      </p:sp>
      <p:sp>
        <p:nvSpPr>
          <p:cNvPr id="9" name="Botón Siguiente pregunta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Siguiente pregunta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2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Un efecto indirecto no lo produce la corriente en el cuerpo, sino lo que ocurre después de la descarga.</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3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3</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¿Qué falla se produce cuando se unen dos conductores de distinto potencial?</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Circuito abierto</a:t>
            </a:r>
          </a:p>
        </p:txBody>
      </p:sp>
      <p:sp>
        <p:nvSpPr>
          <p:cNvPr id="12" name="Alternativa B">
            <a:hlinkClick action="ppaction://hlinksldjump" r:id="rId5"/>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5"/>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5"/>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Cortocircuito</a:t>
            </a:r>
          </a:p>
        </p:txBody>
      </p:sp>
      <p:sp>
        <p:nvSpPr>
          <p:cNvPr id="15" name="Alternativa C">
            <a:hlinkClick action="ppaction://hlinksldjump" r:id="rId4"/>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4"/>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4"/>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Fluctuación de tensión</a:t>
            </a:r>
          </a:p>
        </p:txBody>
      </p:sp>
      <p:sp>
        <p:nvSpPr>
          <p:cNvPr id="18" name="Alternativa D">
            <a:hlinkClick action="ppaction://hlinksldjump" r:id="rId4"/>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4"/>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4"/>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Distorsión de onda</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29</a:t>
            </a:r>
          </a:p>
        </p:txBody>
      </p:sp>
    </p:spTree>
  </p:cSld>
  <p:clrMapOvr>
    <a:masterClrMapping/>
  </p:clrMapOvr>
  <p:transition advClick="0"/>
</p:sld>
</file>

<file path=ppt/slides/slide11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3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B) Cortocircuito</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Un cortocircuito es la unión de puntos a distinto potencial; puede ser sólido o a través de un arco.</a:t>
            </a:r>
          </a:p>
        </p:txBody>
      </p:sp>
      <p:sp>
        <p:nvSpPr>
          <p:cNvPr id="9" name="Botón Siguiente pregunta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Siguiente pregunta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3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Ocurre cuando se unen dos puntos con distinta tensión, en forma directa o a través de un arco.</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4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4</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¿Cuál es el principal efecto directo del arco eléctrico sobre el trabajador?</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Quemaduras graves de 2º y 3º grado</a:t>
            </a:r>
          </a:p>
        </p:txBody>
      </p:sp>
      <p:sp>
        <p:nvSpPr>
          <p:cNvPr id="12" name="Alternativa B">
            <a:hlinkClick action="ppaction://hlinksldjump" r:id="rId5"/>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5"/>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5"/>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Pérdida de audición leve</a:t>
            </a:r>
          </a:p>
        </p:txBody>
      </p:sp>
      <p:sp>
        <p:nvSpPr>
          <p:cNvPr id="15" name="Alternativa C">
            <a:hlinkClick action="ppaction://hlinksldjump" r:id="rId5"/>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5"/>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5"/>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Calambres musculares</a:t>
            </a:r>
          </a:p>
        </p:txBody>
      </p:sp>
      <p:sp>
        <p:nvSpPr>
          <p:cNvPr id="18" name="Alternativa D">
            <a:hlinkClick action="ppaction://hlinksldjump" r:id="rId5"/>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5"/>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5"/>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Ninguno, si no hay contacto</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30</a:t>
            </a:r>
          </a:p>
        </p:txBody>
      </p:sp>
    </p:spTree>
  </p:cSld>
  <p:clrMapOvr>
    <a:masterClrMapping/>
  </p:clrMapOvr>
  <p:transition advClick="0"/>
</p:sld>
</file>

<file path=ppt/slides/slide11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4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A) Quemaduras graves de 2º y 3º grado</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El arco libera una energía térmica enorme y provoca quemaduras graves aun sin contacto con el conductor.</a:t>
            </a:r>
          </a:p>
        </p:txBody>
      </p:sp>
      <p:sp>
        <p:nvSpPr>
          <p:cNvPr id="9" name="Botón Ver resumen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Ver resumen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 · PREGUNTA 4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Recuerda que el arco libera energía térmica muy intensa, incluso sin tocar el conductor.</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1 · AUTOEVALUACIÓN</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Revisa tus respuestas</a:t>
            </a:r>
          </a:p>
        </p:txBody>
      </p:sp>
      <p:sp>
        <p:nvSpPr>
          <p:cNvPr id="4" name="Rounded Rectangle 3"/>
          <p:cNvSpPr/>
          <p:nvPr/>
        </p:nvSpPr>
        <p:spPr>
          <a:xfrm>
            <a:off x="548640" y="146304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31520" y="170992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B</a:t>
            </a:r>
          </a:p>
        </p:txBody>
      </p:sp>
      <p:sp>
        <p:nvSpPr>
          <p:cNvPr id="6" name="TextBox 5"/>
          <p:cNvSpPr txBox="1"/>
          <p:nvPr/>
        </p:nvSpPr>
        <p:spPr>
          <a:xfrm>
            <a:off x="1463040" y="155448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1: </a:t>
            </a:r>
            <a:r>
              <a:rPr sz="1400" b="1" i="0">
                <a:solidFill>
                  <a:srgbClr val="222233"/>
                </a:solidFill>
                <a:latin typeface="Calibri"/>
              </a:rPr>
              <a:t>Transportar la corriente eléctrica</a:t>
            </a:r>
          </a:p>
        </p:txBody>
      </p:sp>
      <p:sp>
        <p:nvSpPr>
          <p:cNvPr id="7" name="TextBox 6"/>
          <p:cNvSpPr txBox="1"/>
          <p:nvPr/>
        </p:nvSpPr>
        <p:spPr>
          <a:xfrm>
            <a:off x="1463040" y="1892808"/>
            <a:ext cx="6949440" cy="594360"/>
          </a:xfrm>
          <a:prstGeom prst="rect">
            <a:avLst/>
          </a:prstGeom>
          <a:noFill/>
        </p:spPr>
        <p:txBody>
          <a:bodyPr wrap="square" anchor="t" lIns="0" rIns="0" tIns="0" bIns="0">
            <a:spAutoFit/>
          </a:bodyPr>
          <a:lstStyle/>
          <a:p>
            <a:pPr algn="l"/>
            <a:r>
              <a:rPr sz="1300" b="0" i="0">
                <a:solidFill>
                  <a:srgbClr val="222233"/>
                </a:solidFill>
                <a:latin typeface="Calibri"/>
              </a:rPr>
              <a:t>El conductor (cobre o aluminio) transporta la corriente; las estructuras soportan y los aisladores separan.</a:t>
            </a:r>
          </a:p>
        </p:txBody>
      </p:sp>
      <p:sp>
        <p:nvSpPr>
          <p:cNvPr id="8" name="Rounded Rectangle 7"/>
          <p:cNvSpPr/>
          <p:nvPr/>
        </p:nvSpPr>
        <p:spPr>
          <a:xfrm>
            <a:off x="548640" y="265176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289864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C</a:t>
            </a:r>
          </a:p>
        </p:txBody>
      </p:sp>
      <p:sp>
        <p:nvSpPr>
          <p:cNvPr id="10" name="TextBox 9"/>
          <p:cNvSpPr txBox="1"/>
          <p:nvPr/>
        </p:nvSpPr>
        <p:spPr>
          <a:xfrm>
            <a:off x="1463040" y="274320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2: </a:t>
            </a:r>
            <a:r>
              <a:rPr sz="1400" b="1" i="0">
                <a:solidFill>
                  <a:srgbClr val="222233"/>
                </a:solidFill>
                <a:latin typeface="Calibri"/>
              </a:rPr>
              <a:t>Caída desde altura</a:t>
            </a:r>
          </a:p>
        </p:txBody>
      </p:sp>
      <p:sp>
        <p:nvSpPr>
          <p:cNvPr id="11" name="TextBox 10"/>
          <p:cNvSpPr txBox="1"/>
          <p:nvPr/>
        </p:nvSpPr>
        <p:spPr>
          <a:xfrm>
            <a:off x="1463040" y="3081528"/>
            <a:ext cx="6949440" cy="594360"/>
          </a:xfrm>
          <a:prstGeom prst="rect">
            <a:avLst/>
          </a:prstGeom>
          <a:noFill/>
        </p:spPr>
        <p:txBody>
          <a:bodyPr wrap="square" anchor="t" lIns="0" rIns="0" tIns="0" bIns="0">
            <a:spAutoFit/>
          </a:bodyPr>
          <a:lstStyle/>
          <a:p>
            <a:pPr algn="l"/>
            <a:r>
              <a:rPr sz="1300" b="0" i="0">
                <a:solidFill>
                  <a:srgbClr val="222233"/>
                </a:solidFill>
                <a:latin typeface="Calibri"/>
              </a:rPr>
              <a:t>La caída es consecuencia indirecta de la descarga; quemaduras, fibrilación y necrosis son efectos directos.</a:t>
            </a:r>
          </a:p>
        </p:txBody>
      </p:sp>
      <p:sp>
        <p:nvSpPr>
          <p:cNvPr id="12" name="Rounded Rectangle 11"/>
          <p:cNvSpPr/>
          <p:nvPr/>
        </p:nvSpPr>
        <p:spPr>
          <a:xfrm>
            <a:off x="548640" y="384048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408736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B</a:t>
            </a:r>
          </a:p>
        </p:txBody>
      </p:sp>
      <p:sp>
        <p:nvSpPr>
          <p:cNvPr id="14" name="TextBox 13"/>
          <p:cNvSpPr txBox="1"/>
          <p:nvPr/>
        </p:nvSpPr>
        <p:spPr>
          <a:xfrm>
            <a:off x="1463040" y="393192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3: </a:t>
            </a:r>
            <a:r>
              <a:rPr sz="1400" b="1" i="0">
                <a:solidFill>
                  <a:srgbClr val="222233"/>
                </a:solidFill>
                <a:latin typeface="Calibri"/>
              </a:rPr>
              <a:t>Cortocircuito</a:t>
            </a:r>
          </a:p>
        </p:txBody>
      </p:sp>
      <p:sp>
        <p:nvSpPr>
          <p:cNvPr id="15" name="TextBox 14"/>
          <p:cNvSpPr txBox="1"/>
          <p:nvPr/>
        </p:nvSpPr>
        <p:spPr>
          <a:xfrm>
            <a:off x="1463040" y="4270248"/>
            <a:ext cx="6949440" cy="594360"/>
          </a:xfrm>
          <a:prstGeom prst="rect">
            <a:avLst/>
          </a:prstGeom>
          <a:noFill/>
        </p:spPr>
        <p:txBody>
          <a:bodyPr wrap="square" anchor="t" lIns="0" rIns="0" tIns="0" bIns="0">
            <a:spAutoFit/>
          </a:bodyPr>
          <a:lstStyle/>
          <a:p>
            <a:pPr algn="l"/>
            <a:r>
              <a:rPr sz="1300" b="0" i="0">
                <a:solidFill>
                  <a:srgbClr val="222233"/>
                </a:solidFill>
                <a:latin typeface="Calibri"/>
              </a:rPr>
              <a:t>Un cortocircuito es la unión de puntos a distinto potencial; puede ser sólido o a través de un arco.</a:t>
            </a:r>
          </a:p>
        </p:txBody>
      </p:sp>
      <p:sp>
        <p:nvSpPr>
          <p:cNvPr id="16" name="Rounded Rectangle 15"/>
          <p:cNvSpPr/>
          <p:nvPr/>
        </p:nvSpPr>
        <p:spPr>
          <a:xfrm>
            <a:off x="548640" y="502920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31520" y="527608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a:t>
            </a:r>
          </a:p>
        </p:txBody>
      </p:sp>
      <p:sp>
        <p:nvSpPr>
          <p:cNvPr id="18" name="TextBox 17"/>
          <p:cNvSpPr txBox="1"/>
          <p:nvPr/>
        </p:nvSpPr>
        <p:spPr>
          <a:xfrm>
            <a:off x="1463040" y="512064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4: </a:t>
            </a:r>
            <a:r>
              <a:rPr sz="1400" b="1" i="0">
                <a:solidFill>
                  <a:srgbClr val="222233"/>
                </a:solidFill>
                <a:latin typeface="Calibri"/>
              </a:rPr>
              <a:t>Quemaduras graves de 2º y 3º grado</a:t>
            </a:r>
          </a:p>
        </p:txBody>
      </p:sp>
      <p:sp>
        <p:nvSpPr>
          <p:cNvPr id="19" name="TextBox 18"/>
          <p:cNvSpPr txBox="1"/>
          <p:nvPr/>
        </p:nvSpPr>
        <p:spPr>
          <a:xfrm>
            <a:off x="1463040" y="5458968"/>
            <a:ext cx="6949440" cy="594360"/>
          </a:xfrm>
          <a:prstGeom prst="rect">
            <a:avLst/>
          </a:prstGeom>
          <a:noFill/>
        </p:spPr>
        <p:txBody>
          <a:bodyPr wrap="square" anchor="t" lIns="0" rIns="0" tIns="0" bIns="0">
            <a:spAutoFit/>
          </a:bodyPr>
          <a:lstStyle/>
          <a:p>
            <a:pPr algn="l"/>
            <a:r>
              <a:rPr sz="1300" b="0" i="0">
                <a:solidFill>
                  <a:srgbClr val="222233"/>
                </a:solidFill>
                <a:latin typeface="Calibri"/>
              </a:rPr>
              <a:t>El arco libera una energía térmica enorme y provoca quemaduras graves aun sin contacto con el conductor.</a:t>
            </a:r>
          </a:p>
        </p:txBody>
      </p:sp>
      <p:sp>
        <p:nvSpPr>
          <p:cNvPr id="20" name="Botón Índice">
            <a:hlinkClick action="ppaction://hlinksldjump" r:id="rId3"/>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31</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4B2E83"/>
        </a:solidFill>
        <a:effectLst/>
      </p:bgPr>
    </p:bg>
    <p:spTree>
      <p:nvGrpSpPr>
        <p:cNvPr id="1" name=""/>
        <p:cNvGrpSpPr/>
        <p:nvPr/>
      </p:nvGrpSpPr>
      <p:grpSpPr/>
      <p:sp>
        <p:nvSpPr>
          <p:cNvPr id="2" name="TextBox 1"/>
          <p:cNvSpPr txBox="1"/>
          <p:nvPr/>
        </p:nvSpPr>
        <p:spPr>
          <a:xfrm>
            <a:off x="640080" y="640080"/>
            <a:ext cx="7863840" cy="365760"/>
          </a:xfrm>
          <a:prstGeom prst="rect">
            <a:avLst/>
          </a:prstGeom>
          <a:noFill/>
        </p:spPr>
        <p:txBody>
          <a:bodyPr wrap="square" anchor="t" lIns="0" rIns="0" tIns="0" bIns="0">
            <a:spAutoFit/>
          </a:bodyPr>
          <a:lstStyle/>
          <a:p>
            <a:pPr algn="l"/>
            <a:r>
              <a:rPr sz="1600" b="1" i="0">
                <a:solidFill>
                  <a:srgbClr val="F2A900"/>
                </a:solidFill>
                <a:latin typeface="Calibri"/>
              </a:rPr>
              <a:t>MÓDULO 2</a:t>
            </a:r>
          </a:p>
        </p:txBody>
      </p:sp>
      <p:sp>
        <p:nvSpPr>
          <p:cNvPr id="3" name="TextBox 2"/>
          <p:cNvSpPr txBox="1"/>
          <p:nvPr/>
        </p:nvSpPr>
        <p:spPr>
          <a:xfrm>
            <a:off x="640080" y="1005840"/>
            <a:ext cx="7863840" cy="1188720"/>
          </a:xfrm>
          <a:prstGeom prst="rect">
            <a:avLst/>
          </a:prstGeom>
          <a:noFill/>
        </p:spPr>
        <p:txBody>
          <a:bodyPr wrap="square" anchor="t" lIns="0" rIns="0" tIns="0" bIns="0">
            <a:spAutoFit/>
          </a:bodyPr>
          <a:lstStyle/>
          <a:p>
            <a:pPr algn="l"/>
            <a:r>
              <a:rPr sz="3400" b="1" i="0">
                <a:solidFill>
                  <a:srgbClr val="FFFFFF"/>
                </a:solidFill>
                <a:latin typeface="Calibri"/>
              </a:rPr>
              <a:t>Marcos normativos</a:t>
            </a:r>
          </a:p>
        </p:txBody>
      </p:sp>
      <p:sp>
        <p:nvSpPr>
          <p:cNvPr id="4" name="TextBox 3"/>
          <p:cNvSpPr txBox="1"/>
          <p:nvPr/>
        </p:nvSpPr>
        <p:spPr>
          <a:xfrm>
            <a:off x="640080" y="2423160"/>
            <a:ext cx="4754880" cy="365760"/>
          </a:xfrm>
          <a:prstGeom prst="rect">
            <a:avLst/>
          </a:prstGeom>
          <a:noFill/>
        </p:spPr>
        <p:txBody>
          <a:bodyPr wrap="square" anchor="t" lIns="0" rIns="0" tIns="0" bIns="0">
            <a:spAutoFit/>
          </a:bodyPr>
          <a:lstStyle/>
          <a:p>
            <a:pPr algn="l"/>
            <a:r>
              <a:rPr sz="1600" b="1" i="0">
                <a:solidFill>
                  <a:srgbClr val="E6DDF3"/>
                </a:solidFill>
                <a:latin typeface="Calibri"/>
              </a:rPr>
              <a:t>Al finalizar este módulo podrás:</a:t>
            </a:r>
          </a:p>
        </p:txBody>
      </p:sp>
      <p:sp>
        <p:nvSpPr>
          <p:cNvPr id="5" name="Oval 4"/>
          <p:cNvSpPr/>
          <p:nvPr/>
        </p:nvSpPr>
        <p:spPr>
          <a:xfrm>
            <a:off x="640080" y="2926080"/>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749808" y="3035808"/>
            <a:ext cx="237744" cy="237744"/>
          </a:xfrm>
          <a:prstGeom prst="rect">
            <a:avLst/>
          </a:prstGeom>
        </p:spPr>
      </p:pic>
      <p:sp>
        <p:nvSpPr>
          <p:cNvPr id="7" name="TextBox 6"/>
          <p:cNvSpPr txBox="1"/>
          <p:nvPr/>
        </p:nvSpPr>
        <p:spPr>
          <a:xfrm>
            <a:off x="1280160" y="2907792"/>
            <a:ext cx="4023360" cy="960120"/>
          </a:xfrm>
          <a:prstGeom prst="rect">
            <a:avLst/>
          </a:prstGeom>
          <a:noFill/>
        </p:spPr>
        <p:txBody>
          <a:bodyPr wrap="square" anchor="t" lIns="0" rIns="0" tIns="0" bIns="0">
            <a:spAutoFit/>
          </a:bodyPr>
          <a:lstStyle/>
          <a:p>
            <a:pPr algn="l"/>
            <a:r>
              <a:rPr sz="1400" b="0" i="0">
                <a:solidFill>
                  <a:srgbClr val="FFFFFF"/>
                </a:solidFill>
                <a:latin typeface="Calibri"/>
              </a:rPr>
              <a:t>Identificar la normativa chilena aplicable: DS 8 (pliegos RIC), DS 109 (pliegos RPTD) y NCh 350.</a:t>
            </a:r>
          </a:p>
        </p:txBody>
      </p:sp>
      <p:sp>
        <p:nvSpPr>
          <p:cNvPr id="8" name="Oval 7"/>
          <p:cNvSpPr/>
          <p:nvPr/>
        </p:nvSpPr>
        <p:spPr>
          <a:xfrm>
            <a:off x="640080" y="3977639"/>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aCheckCircle_w.png"/>
          <p:cNvPicPr>
            <a:picLocks noChangeAspect="1"/>
          </p:cNvPicPr>
          <p:nvPr/>
        </p:nvPicPr>
        <p:blipFill>
          <a:blip r:embed="rId2"/>
          <a:stretch>
            <a:fillRect/>
          </a:stretch>
        </p:blipFill>
        <p:spPr>
          <a:xfrm>
            <a:off x="749808" y="4087368"/>
            <a:ext cx="237744" cy="237744"/>
          </a:xfrm>
          <a:prstGeom prst="rect">
            <a:avLst/>
          </a:prstGeom>
        </p:spPr>
      </p:pic>
      <p:sp>
        <p:nvSpPr>
          <p:cNvPr id="10" name="TextBox 9"/>
          <p:cNvSpPr txBox="1"/>
          <p:nvPr/>
        </p:nvSpPr>
        <p:spPr>
          <a:xfrm>
            <a:off x="1280160" y="3959352"/>
            <a:ext cx="4023360" cy="960120"/>
          </a:xfrm>
          <a:prstGeom prst="rect">
            <a:avLst/>
          </a:prstGeom>
          <a:noFill/>
        </p:spPr>
        <p:txBody>
          <a:bodyPr wrap="square" anchor="t" lIns="0" rIns="0" tIns="0" bIns="0">
            <a:spAutoFit/>
          </a:bodyPr>
          <a:lstStyle/>
          <a:p>
            <a:pPr algn="l"/>
            <a:r>
              <a:rPr sz="1400" b="0" i="0">
                <a:solidFill>
                  <a:srgbClr val="FFFFFF"/>
                </a:solidFill>
                <a:latin typeface="Calibri"/>
              </a:rPr>
              <a:t>Explicar el propósito y el alcance de la norma NFPA 70E.</a:t>
            </a:r>
          </a:p>
        </p:txBody>
      </p:sp>
      <p:sp>
        <p:nvSpPr>
          <p:cNvPr id="11" name="Oval 10"/>
          <p:cNvSpPr/>
          <p:nvPr/>
        </p:nvSpPr>
        <p:spPr>
          <a:xfrm>
            <a:off x="640080" y="5029200"/>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CheckCircle_w.png"/>
          <p:cNvPicPr>
            <a:picLocks noChangeAspect="1"/>
          </p:cNvPicPr>
          <p:nvPr/>
        </p:nvPicPr>
        <p:blipFill>
          <a:blip r:embed="rId2"/>
          <a:stretch>
            <a:fillRect/>
          </a:stretch>
        </p:blipFill>
        <p:spPr>
          <a:xfrm>
            <a:off x="749808" y="5138928"/>
            <a:ext cx="237744" cy="237744"/>
          </a:xfrm>
          <a:prstGeom prst="rect">
            <a:avLst/>
          </a:prstGeom>
        </p:spPr>
      </p:pic>
      <p:sp>
        <p:nvSpPr>
          <p:cNvPr id="13" name="TextBox 12"/>
          <p:cNvSpPr txBox="1"/>
          <p:nvPr/>
        </p:nvSpPr>
        <p:spPr>
          <a:xfrm>
            <a:off x="1280160" y="5010912"/>
            <a:ext cx="4023360" cy="960120"/>
          </a:xfrm>
          <a:prstGeom prst="rect">
            <a:avLst/>
          </a:prstGeom>
          <a:noFill/>
        </p:spPr>
        <p:txBody>
          <a:bodyPr wrap="square" anchor="t" lIns="0" rIns="0" tIns="0" bIns="0">
            <a:spAutoFit/>
          </a:bodyPr>
          <a:lstStyle/>
          <a:p>
            <a:pPr algn="l"/>
            <a:r>
              <a:rPr sz="1400" b="0" i="0">
                <a:solidFill>
                  <a:srgbClr val="FFFFFF"/>
                </a:solidFill>
                <a:latin typeface="Calibri"/>
              </a:rPr>
              <a:t>Relacionar corriente de arco, tiempo de despeje y energía incidente en un estudio de Arc Flash.</a:t>
            </a:r>
          </a:p>
        </p:txBody>
      </p:sp>
      <p:sp>
        <p:nvSpPr>
          <p:cNvPr id="14" name="Rounded Rectangle 13"/>
          <p:cNvSpPr/>
          <p:nvPr/>
        </p:nvSpPr>
        <p:spPr>
          <a:xfrm>
            <a:off x="5669280" y="2423160"/>
            <a:ext cx="2834640" cy="3611880"/>
          </a:xfrm>
          <a:prstGeom prst="roundRect">
            <a:avLst>
              <a:gd name="adj" fmla="val 8000"/>
            </a:avLst>
          </a:prstGeom>
          <a:solidFill>
            <a:srgbClr val="6A4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897880" y="2606040"/>
            <a:ext cx="2468880" cy="320040"/>
          </a:xfrm>
          <a:prstGeom prst="rect">
            <a:avLst/>
          </a:prstGeom>
          <a:noFill/>
        </p:spPr>
        <p:txBody>
          <a:bodyPr wrap="square" anchor="t" lIns="0" rIns="0" tIns="0" bIns="0">
            <a:spAutoFit/>
          </a:bodyPr>
          <a:lstStyle/>
          <a:p>
            <a:pPr algn="l"/>
            <a:r>
              <a:rPr sz="1800" b="1" i="0">
                <a:solidFill>
                  <a:srgbClr val="F2A900"/>
                </a:solidFill>
                <a:latin typeface="Calibri"/>
              </a:rPr>
              <a:t>⏱  60 min</a:t>
            </a:r>
          </a:p>
        </p:txBody>
      </p:sp>
      <p:sp>
        <p:nvSpPr>
          <p:cNvPr id="16" name="TextBox 15"/>
          <p:cNvSpPr txBox="1"/>
          <p:nvPr/>
        </p:nvSpPr>
        <p:spPr>
          <a:xfrm>
            <a:off x="5897880" y="3063240"/>
            <a:ext cx="2468880" cy="320040"/>
          </a:xfrm>
          <a:prstGeom prst="rect">
            <a:avLst/>
          </a:prstGeom>
          <a:noFill/>
        </p:spPr>
        <p:txBody>
          <a:bodyPr wrap="square" anchor="t" lIns="0" rIns="0" tIns="0" bIns="0">
            <a:spAutoFit/>
          </a:bodyPr>
          <a:lstStyle/>
          <a:p>
            <a:pPr algn="l"/>
            <a:r>
              <a:rPr sz="1400" b="1" i="0">
                <a:solidFill>
                  <a:srgbClr val="FFFFFF"/>
                </a:solidFill>
                <a:latin typeface="Calibri"/>
              </a:rPr>
              <a:t>Temas</a:t>
            </a:r>
          </a:p>
        </p:txBody>
      </p:sp>
      <p:sp>
        <p:nvSpPr>
          <p:cNvPr id="17" name="TextBox 16"/>
          <p:cNvSpPr txBox="1"/>
          <p:nvPr/>
        </p:nvSpPr>
        <p:spPr>
          <a:xfrm>
            <a:off x="5897880" y="3429000"/>
            <a:ext cx="2468880" cy="2468880"/>
          </a:xfrm>
          <a:prstGeom prst="rect">
            <a:avLst/>
          </a:prstGeom>
          <a:noFill/>
        </p:spPr>
        <p:txBody>
          <a:bodyPr wrap="square" anchor="t" lIns="0" rIns="0" tIns="0" bIns="0">
            <a:spAutoFit/>
          </a:bodyPr>
          <a:lstStyle/>
          <a:p>
            <a:pPr algn="l">
              <a:spcAft>
                <a:spcPts val="600"/>
              </a:spcAft>
            </a:pPr>
            <a:r>
              <a:rPr sz="1300" b="0" i="0">
                <a:solidFill>
                  <a:srgbClr val="FFFFFF"/>
                </a:solidFill>
                <a:latin typeface="Calibri"/>
              </a:rPr>
              <a:t>2.1  DS 8 y pliegos RIC</a:t>
            </a:r>
          </a:p>
          <a:p>
            <a:pPr algn="l">
              <a:spcAft>
                <a:spcPts val="600"/>
              </a:spcAft>
            </a:pPr>
            <a:r>
              <a:rPr sz="1300" b="0" i="0">
                <a:solidFill>
                  <a:srgbClr val="FFFFFF"/>
                </a:solidFill>
                <a:latin typeface="Calibri"/>
              </a:rPr>
              <a:t>2.2  DS 109 y pliegos RPTD</a:t>
            </a:r>
          </a:p>
          <a:p>
            <a:pPr algn="l">
              <a:spcAft>
                <a:spcPts val="600"/>
              </a:spcAft>
            </a:pPr>
            <a:r>
              <a:rPr sz="1300" b="0" i="0">
                <a:solidFill>
                  <a:srgbClr val="FFFFFF"/>
                </a:solidFill>
                <a:latin typeface="Calibri"/>
              </a:rPr>
              <a:t>2.3  NCh 350 Of. 2000</a:t>
            </a:r>
          </a:p>
          <a:p>
            <a:pPr algn="l">
              <a:spcAft>
                <a:spcPts val="600"/>
              </a:spcAft>
            </a:pPr>
            <a:r>
              <a:rPr sz="1300" b="0" i="0">
                <a:solidFill>
                  <a:srgbClr val="FFFFFF"/>
                </a:solidFill>
                <a:latin typeface="Calibri"/>
              </a:rPr>
              <a:t>2.4  NFPA 70E y arco eléctrico</a:t>
            </a:r>
          </a:p>
        </p:txBody>
      </p:sp>
      <p:sp>
        <p:nvSpPr>
          <p:cNvPr id="18" name="Botón Índice">
            <a:hlinkClick action="ppaction://hlinksldjump" r:id="rId4"/>
          </p:cNvPr>
          <p:cNvSpPr/>
          <p:nvPr/>
        </p:nvSpPr>
        <p:spPr>
          <a:xfrm>
            <a:off x="137160" y="6455664"/>
            <a:ext cx="914400" cy="292608"/>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4B2E83"/>
                </a:solidFill>
                <a:latin typeface="Calibri"/>
              </a:rPr>
              <a:t>Índice</a:t>
            </a:r>
          </a:p>
        </p:txBody>
      </p:sp>
      <p:sp>
        <p:nvSpPr>
          <p:cNvPr id="1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D9CCEE"/>
                </a:solidFill>
                <a:latin typeface="Calibri"/>
              </a:rPr>
              <a:t>Riesgos eléctricos en redes aéreas de distribución  ·  SSGI OTEC</a:t>
            </a:r>
          </a:p>
        </p:txBody>
      </p:sp>
      <p:sp>
        <p:nvSpPr>
          <p:cNvPr id="2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D9CCEE"/>
                </a:solidFill>
                <a:latin typeface="Calibri"/>
              </a:rPr>
              <a:t>32</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CIERRE</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Ideas clave para recordar</a:t>
            </a:r>
          </a:p>
        </p:txBody>
      </p:sp>
      <p:sp>
        <p:nvSpPr>
          <p:cNvPr id="4" name="Rounded Rectangle 3"/>
          <p:cNvSpPr/>
          <p:nvPr/>
        </p:nvSpPr>
        <p:spPr>
          <a:xfrm>
            <a:off x="548640" y="150876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178308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1600200" y="1783080"/>
            <a:ext cx="2606040" cy="640080"/>
          </a:xfrm>
          <a:prstGeom prst="rect">
            <a:avLst/>
          </a:prstGeom>
          <a:noFill/>
        </p:spPr>
        <p:txBody>
          <a:bodyPr wrap="square" anchor="ctr" lIns="0" rIns="0" tIns="0" bIns="0">
            <a:spAutoFit/>
          </a:bodyPr>
          <a:lstStyle/>
          <a:p>
            <a:pPr algn="l"/>
            <a:r>
              <a:rPr sz="1700" b="1" i="0">
                <a:solidFill>
                  <a:srgbClr val="4B2E83"/>
                </a:solidFill>
                <a:latin typeface="Calibri"/>
              </a:rPr>
              <a:t>Consumo: DS 8</a:t>
            </a:r>
          </a:p>
        </p:txBody>
      </p:sp>
      <p:sp>
        <p:nvSpPr>
          <p:cNvPr id="7" name="TextBox 6"/>
          <p:cNvSpPr txBox="1"/>
          <p:nvPr/>
        </p:nvSpPr>
        <p:spPr>
          <a:xfrm>
            <a:off x="822959" y="2514600"/>
            <a:ext cx="3337560" cy="1097280"/>
          </a:xfrm>
          <a:prstGeom prst="rect">
            <a:avLst/>
          </a:prstGeom>
          <a:noFill/>
        </p:spPr>
        <p:txBody>
          <a:bodyPr wrap="square" anchor="t" lIns="0" rIns="0" tIns="0" bIns="0">
            <a:spAutoFit/>
          </a:bodyPr>
          <a:lstStyle/>
          <a:p>
            <a:pPr algn="l"/>
            <a:r>
              <a:rPr sz="1400" b="0" i="0">
                <a:solidFill>
                  <a:srgbClr val="222233"/>
                </a:solidFill>
                <a:latin typeface="Calibri"/>
              </a:rPr>
              <a:t>Instalaciones de consumo en BT y MT se rigen por el DS 8 y sus pliegos RIC; operación y mantenimiento: RIC N° 17.</a:t>
            </a:r>
          </a:p>
        </p:txBody>
      </p:sp>
      <p:sp>
        <p:nvSpPr>
          <p:cNvPr id="8" name="Rounded Rectangle 7"/>
          <p:cNvSpPr/>
          <p:nvPr/>
        </p:nvSpPr>
        <p:spPr>
          <a:xfrm>
            <a:off x="4663440" y="150876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937759" y="178308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5715000" y="1783080"/>
            <a:ext cx="2606040" cy="640080"/>
          </a:xfrm>
          <a:prstGeom prst="rect">
            <a:avLst/>
          </a:prstGeom>
          <a:noFill/>
        </p:spPr>
        <p:txBody>
          <a:bodyPr wrap="square" anchor="ctr" lIns="0" rIns="0" tIns="0" bIns="0">
            <a:spAutoFit/>
          </a:bodyPr>
          <a:lstStyle/>
          <a:p>
            <a:pPr algn="l"/>
            <a:r>
              <a:rPr sz="1700" b="1" i="0">
                <a:solidFill>
                  <a:srgbClr val="4B2E83"/>
                </a:solidFill>
                <a:latin typeface="Calibri"/>
              </a:rPr>
              <a:t>Distribución: DS 109</a:t>
            </a:r>
          </a:p>
        </p:txBody>
      </p:sp>
      <p:sp>
        <p:nvSpPr>
          <p:cNvPr id="11" name="TextBox 10"/>
          <p:cNvSpPr txBox="1"/>
          <p:nvPr/>
        </p:nvSpPr>
        <p:spPr>
          <a:xfrm>
            <a:off x="4937759" y="2514600"/>
            <a:ext cx="3337560" cy="1097280"/>
          </a:xfrm>
          <a:prstGeom prst="rect">
            <a:avLst/>
          </a:prstGeom>
          <a:noFill/>
        </p:spPr>
        <p:txBody>
          <a:bodyPr wrap="square" anchor="t" lIns="0" rIns="0" tIns="0" bIns="0">
            <a:spAutoFit/>
          </a:bodyPr>
          <a:lstStyle/>
          <a:p>
            <a:pPr algn="l"/>
            <a:r>
              <a:rPr sz="1400" b="0" i="0">
                <a:solidFill>
                  <a:srgbClr val="222233"/>
                </a:solidFill>
                <a:latin typeface="Calibri"/>
              </a:rPr>
              <a:t>Producción, transporte y distribución se rigen por el DS 109; operación y mantenimiento: RPTD N° 15.</a:t>
            </a:r>
          </a:p>
        </p:txBody>
      </p:sp>
      <p:sp>
        <p:nvSpPr>
          <p:cNvPr id="12" name="Rounded Rectangle 11"/>
          <p:cNvSpPr/>
          <p:nvPr/>
        </p:nvSpPr>
        <p:spPr>
          <a:xfrm>
            <a:off x="548640" y="388620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22959" y="416052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4" name="TextBox 13"/>
          <p:cNvSpPr txBox="1"/>
          <p:nvPr/>
        </p:nvSpPr>
        <p:spPr>
          <a:xfrm>
            <a:off x="1600200" y="4160520"/>
            <a:ext cx="2606040" cy="640080"/>
          </a:xfrm>
          <a:prstGeom prst="rect">
            <a:avLst/>
          </a:prstGeom>
          <a:noFill/>
        </p:spPr>
        <p:txBody>
          <a:bodyPr wrap="square" anchor="ctr" lIns="0" rIns="0" tIns="0" bIns="0">
            <a:spAutoFit/>
          </a:bodyPr>
          <a:lstStyle/>
          <a:p>
            <a:pPr algn="l"/>
            <a:r>
              <a:rPr sz="1700" b="1" i="0">
                <a:solidFill>
                  <a:srgbClr val="4B2E83"/>
                </a:solidFill>
                <a:latin typeface="Calibri"/>
              </a:rPr>
              <a:t>NFPA 70E es exigible</a:t>
            </a:r>
          </a:p>
        </p:txBody>
      </p:sp>
      <p:sp>
        <p:nvSpPr>
          <p:cNvPr id="15" name="TextBox 14"/>
          <p:cNvSpPr txBox="1"/>
          <p:nvPr/>
        </p:nvSpPr>
        <p:spPr>
          <a:xfrm>
            <a:off x="822959" y="4892040"/>
            <a:ext cx="3337560" cy="1097280"/>
          </a:xfrm>
          <a:prstGeom prst="rect">
            <a:avLst/>
          </a:prstGeom>
          <a:noFill/>
        </p:spPr>
        <p:txBody>
          <a:bodyPr wrap="square" anchor="t" lIns="0" rIns="0" tIns="0" bIns="0">
            <a:spAutoFit/>
          </a:bodyPr>
          <a:lstStyle/>
          <a:p>
            <a:pPr algn="l"/>
            <a:r>
              <a:rPr sz="1400" b="0" i="0">
                <a:solidFill>
                  <a:srgbClr val="222233"/>
                </a:solidFill>
                <a:latin typeface="Calibri"/>
              </a:rPr>
              <a:t>Ambos reglamentos exigen procedimientos basados en la NFPA 70E (u OSHA 1910.269).</a:t>
            </a:r>
          </a:p>
        </p:txBody>
      </p:sp>
      <p:sp>
        <p:nvSpPr>
          <p:cNvPr id="16" name="Rounded Rectangle 15"/>
          <p:cNvSpPr/>
          <p:nvPr/>
        </p:nvSpPr>
        <p:spPr>
          <a:xfrm>
            <a:off x="4663440" y="388620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937759" y="416052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8" name="TextBox 17"/>
          <p:cNvSpPr txBox="1"/>
          <p:nvPr/>
        </p:nvSpPr>
        <p:spPr>
          <a:xfrm>
            <a:off x="5715000" y="4160520"/>
            <a:ext cx="2606040" cy="640080"/>
          </a:xfrm>
          <a:prstGeom prst="rect">
            <a:avLst/>
          </a:prstGeom>
          <a:noFill/>
        </p:spPr>
        <p:txBody>
          <a:bodyPr wrap="square" anchor="ctr" lIns="0" rIns="0" tIns="0" bIns="0">
            <a:spAutoFit/>
          </a:bodyPr>
          <a:lstStyle/>
          <a:p>
            <a:pPr algn="l"/>
            <a:r>
              <a:rPr sz="1700" b="1" i="0">
                <a:solidFill>
                  <a:srgbClr val="4B2E83"/>
                </a:solidFill>
                <a:latin typeface="Calibri"/>
              </a:rPr>
              <a:t>Tiempo = energía</a:t>
            </a:r>
          </a:p>
        </p:txBody>
      </p:sp>
      <p:sp>
        <p:nvSpPr>
          <p:cNvPr id="19" name="TextBox 18"/>
          <p:cNvSpPr txBox="1"/>
          <p:nvPr/>
        </p:nvSpPr>
        <p:spPr>
          <a:xfrm>
            <a:off x="4937759" y="4892040"/>
            <a:ext cx="3337560" cy="1097280"/>
          </a:xfrm>
          <a:prstGeom prst="rect">
            <a:avLst/>
          </a:prstGeom>
          <a:noFill/>
        </p:spPr>
        <p:txBody>
          <a:bodyPr wrap="square" anchor="t" lIns="0" rIns="0" tIns="0" bIns="0">
            <a:spAutoFit/>
          </a:bodyPr>
          <a:lstStyle/>
          <a:p>
            <a:pPr algn="l"/>
            <a:r>
              <a:rPr sz="1400" b="0" i="0">
                <a:solidFill>
                  <a:srgbClr val="222233"/>
                </a:solidFill>
                <a:latin typeface="Calibri"/>
              </a:rPr>
              <a:t>Con igual corriente de arco, más tiempo de despeje de la protección significa más energía incidente (cal/cm²).</a:t>
            </a:r>
          </a:p>
        </p:txBody>
      </p:sp>
      <p:sp>
        <p:nvSpPr>
          <p:cNvPr id="20" name="Botón Índice">
            <a:hlinkClick action="ppaction://hlinksldjump" r:id="rId3"/>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1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1</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¿Qué reglamento rige las instalaciones de consumo en baja y media tensión?</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DS 109, pliegos RPTD</a:t>
            </a:r>
          </a:p>
        </p:txBody>
      </p:sp>
      <p:sp>
        <p:nvSpPr>
          <p:cNvPr id="12" name="Alternativa B">
            <a:hlinkClick action="ppaction://hlinksldjump" r:id="rId5"/>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5"/>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5"/>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DS 8, pliegos RIC</a:t>
            </a:r>
          </a:p>
        </p:txBody>
      </p:sp>
      <p:sp>
        <p:nvSpPr>
          <p:cNvPr id="15" name="Alternativa C">
            <a:hlinkClick action="ppaction://hlinksldjump" r:id="rId4"/>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4"/>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4"/>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NCh 350 Of. 2000</a:t>
            </a:r>
          </a:p>
        </p:txBody>
      </p:sp>
      <p:sp>
        <p:nvSpPr>
          <p:cNvPr id="18" name="Alternativa D">
            <a:hlinkClick action="ppaction://hlinksldjump" r:id="rId4"/>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4"/>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4"/>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OSHA 1910.269</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59</a:t>
            </a:r>
          </a:p>
        </p:txBody>
      </p:sp>
    </p:spTree>
  </p:cSld>
  <p:clrMapOvr>
    <a:masterClrMapping/>
  </p:clrMapOvr>
  <p:transition advClick="0"/>
</p:sld>
</file>

<file path=ppt/slides/slide12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1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B) DS 8, pliegos RIC</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El DS 8 de la SEC, con sus pliegos RIC 1 al 19, reemplazó a la NCh Elec 4/2003.</a:t>
            </a:r>
          </a:p>
        </p:txBody>
      </p:sp>
      <p:sp>
        <p:nvSpPr>
          <p:cNvPr id="9" name="Botón Siguiente pregunta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Siguiente pregunta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1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Busca el reglamento de la SEC cuyos pliegos técnicos se llaman RIC.</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2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2</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Para un operador de redes de distribución, ¿qué pliego exige la aplicación de la NFPA 70E?</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RIC N° 5</a:t>
            </a:r>
          </a:p>
        </p:txBody>
      </p:sp>
      <p:sp>
        <p:nvSpPr>
          <p:cNvPr id="12" name="Alternativa B">
            <a:hlinkClick action="ppaction://hlinksldjump" r:id="rId4"/>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4"/>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4"/>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RIC N° 17</a:t>
            </a:r>
          </a:p>
        </p:txBody>
      </p:sp>
      <p:sp>
        <p:nvSpPr>
          <p:cNvPr id="15" name="Alternativa C">
            <a:hlinkClick action="ppaction://hlinksldjump" r:id="rId4"/>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4"/>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4"/>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RPTD N° 13</a:t>
            </a:r>
          </a:p>
        </p:txBody>
      </p:sp>
      <p:sp>
        <p:nvSpPr>
          <p:cNvPr id="18" name="Alternativa D">
            <a:hlinkClick action="ppaction://hlinksldjump" r:id="rId5"/>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5"/>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5"/>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RPTD N° 15</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60</a:t>
            </a:r>
          </a:p>
        </p:txBody>
      </p:sp>
    </p:spTree>
  </p:cSld>
  <p:clrMapOvr>
    <a:masterClrMapping/>
  </p:clrMapOvr>
  <p:transition advClick="0"/>
</p:sld>
</file>

<file path=ppt/slides/slide12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2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D) RPTD N° 15</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El DS 109 la exige a través del pliego RPTD N° 15 de Operación y Mantenimiento.</a:t>
            </a:r>
          </a:p>
        </p:txBody>
      </p:sp>
      <p:sp>
        <p:nvSpPr>
          <p:cNvPr id="9" name="Botón Siguiente pregunta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Siguiente pregunta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2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Las empresas de distribución se rigen por el DS 109, cuyos pliegos se llaman RPTD. ¿Cuál es el de operación y mantenimiento?</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3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3</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Con la misma corriente de arco, si la protección demora más en despejar la falla, la energía incidente…</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Aumenta</a:t>
            </a:r>
          </a:p>
        </p:txBody>
      </p:sp>
      <p:sp>
        <p:nvSpPr>
          <p:cNvPr id="12" name="Alternativa B">
            <a:hlinkClick action="ppaction://hlinksldjump" r:id="rId5"/>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5"/>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5"/>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Disminuye</a:t>
            </a:r>
          </a:p>
        </p:txBody>
      </p:sp>
      <p:sp>
        <p:nvSpPr>
          <p:cNvPr id="15" name="Alternativa C">
            <a:hlinkClick action="ppaction://hlinksldjump" r:id="rId5"/>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5"/>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5"/>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No cambia</a:t>
            </a:r>
          </a:p>
        </p:txBody>
      </p:sp>
      <p:sp>
        <p:nvSpPr>
          <p:cNvPr id="18" name="Alternativa D">
            <a:hlinkClick action="ppaction://hlinksldjump" r:id="rId5"/>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5"/>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5"/>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Se anula</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61</a:t>
            </a:r>
          </a:p>
        </p:txBody>
      </p:sp>
    </p:spTree>
  </p:cSld>
  <p:clrMapOvr>
    <a:masterClrMapping/>
  </p:clrMapOvr>
  <p:transition advClick="0"/>
</p:sld>
</file>

<file path=ppt/slides/slide12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3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A) Aumenta</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La energía incidente crece con el tiempo de exposición: protecciones rápidas reducen el daño.</a:t>
            </a:r>
          </a:p>
        </p:txBody>
      </p:sp>
      <p:sp>
        <p:nvSpPr>
          <p:cNvPr id="9" name="Botón Siguiente pregunta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Siguiente pregunta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3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Más tiempo expuesto al arco significa más calor recibido por el trabajador.</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4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4</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¿Qué norma establece los requisitos de las instalaciones eléctricas provisorias en obras de construcción?</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NFPA 70E</a:t>
            </a:r>
          </a:p>
        </p:txBody>
      </p:sp>
      <p:sp>
        <p:nvSpPr>
          <p:cNvPr id="12" name="Alternativa B">
            <a:hlinkClick action="ppaction://hlinksldjump" r:id="rId5"/>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5"/>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5"/>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NCh 350 Of. 2000</a:t>
            </a:r>
          </a:p>
        </p:txBody>
      </p:sp>
      <p:sp>
        <p:nvSpPr>
          <p:cNvPr id="15" name="Alternativa C">
            <a:hlinkClick action="ppaction://hlinksldjump" r:id="rId4"/>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4"/>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4"/>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RPTD N° 17</a:t>
            </a:r>
          </a:p>
        </p:txBody>
      </p:sp>
      <p:sp>
        <p:nvSpPr>
          <p:cNvPr id="18" name="Alternativa D">
            <a:hlinkClick action="ppaction://hlinksldjump" r:id="rId4"/>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4"/>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4"/>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NCh 2147/2</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62</a:t>
            </a:r>
          </a:p>
        </p:txBody>
      </p:sp>
    </p:spTree>
  </p:cSld>
  <p:clrMapOvr>
    <a:masterClrMapping/>
  </p:clrMapOvr>
  <p:transition advClick="0"/>
</p:sld>
</file>

<file path=ppt/slides/slide13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4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B) NCh 350 Of. 2000</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La NCh 350 Of. 2000 regula las instalaciones provisorias y la tierra de protección en faenas.</a:t>
            </a:r>
          </a:p>
        </p:txBody>
      </p:sp>
      <p:sp>
        <p:nvSpPr>
          <p:cNvPr id="9" name="Botón Ver resumen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Ver resumen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 · PREGUNTA 4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Es una Norma Chilena oficial del año 2000.</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2 · AUTOEVALUACIÓN</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Revisa tus respuestas</a:t>
            </a:r>
          </a:p>
        </p:txBody>
      </p:sp>
      <p:sp>
        <p:nvSpPr>
          <p:cNvPr id="4" name="Rounded Rectangle 3"/>
          <p:cNvSpPr/>
          <p:nvPr/>
        </p:nvSpPr>
        <p:spPr>
          <a:xfrm>
            <a:off x="548640" y="146304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31520" y="170992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B</a:t>
            </a:r>
          </a:p>
        </p:txBody>
      </p:sp>
      <p:sp>
        <p:nvSpPr>
          <p:cNvPr id="6" name="TextBox 5"/>
          <p:cNvSpPr txBox="1"/>
          <p:nvPr/>
        </p:nvSpPr>
        <p:spPr>
          <a:xfrm>
            <a:off x="1463040" y="155448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1: </a:t>
            </a:r>
            <a:r>
              <a:rPr sz="1400" b="1" i="0">
                <a:solidFill>
                  <a:srgbClr val="222233"/>
                </a:solidFill>
                <a:latin typeface="Calibri"/>
              </a:rPr>
              <a:t>DS 8, pliegos RIC</a:t>
            </a:r>
          </a:p>
        </p:txBody>
      </p:sp>
      <p:sp>
        <p:nvSpPr>
          <p:cNvPr id="7" name="TextBox 6"/>
          <p:cNvSpPr txBox="1"/>
          <p:nvPr/>
        </p:nvSpPr>
        <p:spPr>
          <a:xfrm>
            <a:off x="1463040" y="1892808"/>
            <a:ext cx="6949440" cy="594360"/>
          </a:xfrm>
          <a:prstGeom prst="rect">
            <a:avLst/>
          </a:prstGeom>
          <a:noFill/>
        </p:spPr>
        <p:txBody>
          <a:bodyPr wrap="square" anchor="t" lIns="0" rIns="0" tIns="0" bIns="0">
            <a:spAutoFit/>
          </a:bodyPr>
          <a:lstStyle/>
          <a:p>
            <a:pPr algn="l"/>
            <a:r>
              <a:rPr sz="1300" b="0" i="0">
                <a:solidFill>
                  <a:srgbClr val="222233"/>
                </a:solidFill>
                <a:latin typeface="Calibri"/>
              </a:rPr>
              <a:t>El DS 8 de la SEC, con sus pliegos RIC 1 al 19, reemplazó a la NCh Elec 4/2003.</a:t>
            </a:r>
          </a:p>
        </p:txBody>
      </p:sp>
      <p:sp>
        <p:nvSpPr>
          <p:cNvPr id="8" name="Rounded Rectangle 7"/>
          <p:cNvSpPr/>
          <p:nvPr/>
        </p:nvSpPr>
        <p:spPr>
          <a:xfrm>
            <a:off x="548640" y="265176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289864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D</a:t>
            </a:r>
          </a:p>
        </p:txBody>
      </p:sp>
      <p:sp>
        <p:nvSpPr>
          <p:cNvPr id="10" name="TextBox 9"/>
          <p:cNvSpPr txBox="1"/>
          <p:nvPr/>
        </p:nvSpPr>
        <p:spPr>
          <a:xfrm>
            <a:off x="1463040" y="274320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2: </a:t>
            </a:r>
            <a:r>
              <a:rPr sz="1400" b="1" i="0">
                <a:solidFill>
                  <a:srgbClr val="222233"/>
                </a:solidFill>
                <a:latin typeface="Calibri"/>
              </a:rPr>
              <a:t>RPTD N° 15</a:t>
            </a:r>
          </a:p>
        </p:txBody>
      </p:sp>
      <p:sp>
        <p:nvSpPr>
          <p:cNvPr id="11" name="TextBox 10"/>
          <p:cNvSpPr txBox="1"/>
          <p:nvPr/>
        </p:nvSpPr>
        <p:spPr>
          <a:xfrm>
            <a:off x="1463040" y="3081528"/>
            <a:ext cx="6949440" cy="594360"/>
          </a:xfrm>
          <a:prstGeom prst="rect">
            <a:avLst/>
          </a:prstGeom>
          <a:noFill/>
        </p:spPr>
        <p:txBody>
          <a:bodyPr wrap="square" anchor="t" lIns="0" rIns="0" tIns="0" bIns="0">
            <a:spAutoFit/>
          </a:bodyPr>
          <a:lstStyle/>
          <a:p>
            <a:pPr algn="l"/>
            <a:r>
              <a:rPr sz="1300" b="0" i="0">
                <a:solidFill>
                  <a:srgbClr val="222233"/>
                </a:solidFill>
                <a:latin typeface="Calibri"/>
              </a:rPr>
              <a:t>El DS 109 la exige a través del pliego RPTD N° 15 de Operación y Mantenimiento.</a:t>
            </a:r>
          </a:p>
        </p:txBody>
      </p:sp>
      <p:sp>
        <p:nvSpPr>
          <p:cNvPr id="12" name="Rounded Rectangle 11"/>
          <p:cNvSpPr/>
          <p:nvPr/>
        </p:nvSpPr>
        <p:spPr>
          <a:xfrm>
            <a:off x="548640" y="384048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408736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a:t>
            </a:r>
          </a:p>
        </p:txBody>
      </p:sp>
      <p:sp>
        <p:nvSpPr>
          <p:cNvPr id="14" name="TextBox 13"/>
          <p:cNvSpPr txBox="1"/>
          <p:nvPr/>
        </p:nvSpPr>
        <p:spPr>
          <a:xfrm>
            <a:off x="1463040" y="393192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3: </a:t>
            </a:r>
            <a:r>
              <a:rPr sz="1400" b="1" i="0">
                <a:solidFill>
                  <a:srgbClr val="222233"/>
                </a:solidFill>
                <a:latin typeface="Calibri"/>
              </a:rPr>
              <a:t>Aumenta</a:t>
            </a:r>
          </a:p>
        </p:txBody>
      </p:sp>
      <p:sp>
        <p:nvSpPr>
          <p:cNvPr id="15" name="TextBox 14"/>
          <p:cNvSpPr txBox="1"/>
          <p:nvPr/>
        </p:nvSpPr>
        <p:spPr>
          <a:xfrm>
            <a:off x="1463040" y="4270248"/>
            <a:ext cx="6949440" cy="594360"/>
          </a:xfrm>
          <a:prstGeom prst="rect">
            <a:avLst/>
          </a:prstGeom>
          <a:noFill/>
        </p:spPr>
        <p:txBody>
          <a:bodyPr wrap="square" anchor="t" lIns="0" rIns="0" tIns="0" bIns="0">
            <a:spAutoFit/>
          </a:bodyPr>
          <a:lstStyle/>
          <a:p>
            <a:pPr algn="l"/>
            <a:r>
              <a:rPr sz="1300" b="0" i="0">
                <a:solidFill>
                  <a:srgbClr val="222233"/>
                </a:solidFill>
                <a:latin typeface="Calibri"/>
              </a:rPr>
              <a:t>La energía incidente crece con el tiempo de exposición: protecciones rápidas reducen el daño.</a:t>
            </a:r>
          </a:p>
        </p:txBody>
      </p:sp>
      <p:sp>
        <p:nvSpPr>
          <p:cNvPr id="16" name="Rounded Rectangle 15"/>
          <p:cNvSpPr/>
          <p:nvPr/>
        </p:nvSpPr>
        <p:spPr>
          <a:xfrm>
            <a:off x="548640" y="502920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31520" y="527608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B</a:t>
            </a:r>
          </a:p>
        </p:txBody>
      </p:sp>
      <p:sp>
        <p:nvSpPr>
          <p:cNvPr id="18" name="TextBox 17"/>
          <p:cNvSpPr txBox="1"/>
          <p:nvPr/>
        </p:nvSpPr>
        <p:spPr>
          <a:xfrm>
            <a:off x="1463040" y="512064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4: </a:t>
            </a:r>
            <a:r>
              <a:rPr sz="1400" b="1" i="0">
                <a:solidFill>
                  <a:srgbClr val="222233"/>
                </a:solidFill>
                <a:latin typeface="Calibri"/>
              </a:rPr>
              <a:t>NCh 350 Of. 2000</a:t>
            </a:r>
          </a:p>
        </p:txBody>
      </p:sp>
      <p:sp>
        <p:nvSpPr>
          <p:cNvPr id="19" name="TextBox 18"/>
          <p:cNvSpPr txBox="1"/>
          <p:nvPr/>
        </p:nvSpPr>
        <p:spPr>
          <a:xfrm>
            <a:off x="1463040" y="5458968"/>
            <a:ext cx="6949440" cy="594360"/>
          </a:xfrm>
          <a:prstGeom prst="rect">
            <a:avLst/>
          </a:prstGeom>
          <a:noFill/>
        </p:spPr>
        <p:txBody>
          <a:bodyPr wrap="square" anchor="t" lIns="0" rIns="0" tIns="0" bIns="0">
            <a:spAutoFit/>
          </a:bodyPr>
          <a:lstStyle/>
          <a:p>
            <a:pPr algn="l"/>
            <a:r>
              <a:rPr sz="1300" b="0" i="0">
                <a:solidFill>
                  <a:srgbClr val="222233"/>
                </a:solidFill>
                <a:latin typeface="Calibri"/>
              </a:rPr>
              <a:t>La NCh 350 Of. 2000 regula las instalaciones provisorias y la tierra de protección en faenas.</a:t>
            </a:r>
          </a:p>
        </p:txBody>
      </p:sp>
      <p:sp>
        <p:nvSpPr>
          <p:cNvPr id="20" name="Botón Índice">
            <a:hlinkClick action="ppaction://hlinksldjump" r:id="rId3"/>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63</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4B2E83"/>
        </a:solidFill>
        <a:effectLst/>
      </p:bgPr>
    </p:bg>
    <p:spTree>
      <p:nvGrpSpPr>
        <p:cNvPr id="1" name=""/>
        <p:cNvGrpSpPr/>
        <p:nvPr/>
      </p:nvGrpSpPr>
      <p:grpSpPr/>
      <p:sp>
        <p:nvSpPr>
          <p:cNvPr id="2" name="TextBox 1"/>
          <p:cNvSpPr txBox="1"/>
          <p:nvPr/>
        </p:nvSpPr>
        <p:spPr>
          <a:xfrm>
            <a:off x="640080" y="640080"/>
            <a:ext cx="7863840" cy="365760"/>
          </a:xfrm>
          <a:prstGeom prst="rect">
            <a:avLst/>
          </a:prstGeom>
          <a:noFill/>
        </p:spPr>
        <p:txBody>
          <a:bodyPr wrap="square" anchor="t" lIns="0" rIns="0" tIns="0" bIns="0">
            <a:spAutoFit/>
          </a:bodyPr>
          <a:lstStyle/>
          <a:p>
            <a:pPr algn="l"/>
            <a:r>
              <a:rPr sz="1600" b="1" i="0">
                <a:solidFill>
                  <a:srgbClr val="F2A900"/>
                </a:solidFill>
                <a:latin typeface="Calibri"/>
              </a:rPr>
              <a:t>MÓDULO 3</a:t>
            </a:r>
          </a:p>
        </p:txBody>
      </p:sp>
      <p:sp>
        <p:nvSpPr>
          <p:cNvPr id="3" name="TextBox 2"/>
          <p:cNvSpPr txBox="1"/>
          <p:nvPr/>
        </p:nvSpPr>
        <p:spPr>
          <a:xfrm>
            <a:off x="640080" y="1005840"/>
            <a:ext cx="7863840" cy="1188720"/>
          </a:xfrm>
          <a:prstGeom prst="rect">
            <a:avLst/>
          </a:prstGeom>
          <a:noFill/>
        </p:spPr>
        <p:txBody>
          <a:bodyPr wrap="square" anchor="t" lIns="0" rIns="0" tIns="0" bIns="0">
            <a:spAutoFit/>
          </a:bodyPr>
          <a:lstStyle/>
          <a:p>
            <a:pPr algn="l"/>
            <a:r>
              <a:rPr sz="3400" b="1" i="0">
                <a:solidFill>
                  <a:srgbClr val="FFFFFF"/>
                </a:solidFill>
                <a:latin typeface="Calibri"/>
              </a:rPr>
              <a:t>Equipos eléctricos y de operación en la red</a:t>
            </a:r>
          </a:p>
        </p:txBody>
      </p:sp>
      <p:sp>
        <p:nvSpPr>
          <p:cNvPr id="4" name="TextBox 3"/>
          <p:cNvSpPr txBox="1"/>
          <p:nvPr/>
        </p:nvSpPr>
        <p:spPr>
          <a:xfrm>
            <a:off x="640080" y="2423160"/>
            <a:ext cx="4754880" cy="365760"/>
          </a:xfrm>
          <a:prstGeom prst="rect">
            <a:avLst/>
          </a:prstGeom>
          <a:noFill/>
        </p:spPr>
        <p:txBody>
          <a:bodyPr wrap="square" anchor="t" lIns="0" rIns="0" tIns="0" bIns="0">
            <a:spAutoFit/>
          </a:bodyPr>
          <a:lstStyle/>
          <a:p>
            <a:pPr algn="l"/>
            <a:r>
              <a:rPr sz="1600" b="1" i="0">
                <a:solidFill>
                  <a:srgbClr val="E6DDF3"/>
                </a:solidFill>
                <a:latin typeface="Calibri"/>
              </a:rPr>
              <a:t>Al finalizar este módulo podrás:</a:t>
            </a:r>
          </a:p>
        </p:txBody>
      </p:sp>
      <p:sp>
        <p:nvSpPr>
          <p:cNvPr id="5" name="Oval 4"/>
          <p:cNvSpPr/>
          <p:nvPr/>
        </p:nvSpPr>
        <p:spPr>
          <a:xfrm>
            <a:off x="640080" y="2926080"/>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749808" y="3035808"/>
            <a:ext cx="237744" cy="237744"/>
          </a:xfrm>
          <a:prstGeom prst="rect">
            <a:avLst/>
          </a:prstGeom>
        </p:spPr>
      </p:pic>
      <p:sp>
        <p:nvSpPr>
          <p:cNvPr id="7" name="TextBox 6"/>
          <p:cNvSpPr txBox="1"/>
          <p:nvPr/>
        </p:nvSpPr>
        <p:spPr>
          <a:xfrm>
            <a:off x="1280160" y="2907792"/>
            <a:ext cx="4023360" cy="960120"/>
          </a:xfrm>
          <a:prstGeom prst="rect">
            <a:avLst/>
          </a:prstGeom>
          <a:noFill/>
        </p:spPr>
        <p:txBody>
          <a:bodyPr wrap="square" anchor="t" lIns="0" rIns="0" tIns="0" bIns="0">
            <a:spAutoFit/>
          </a:bodyPr>
          <a:lstStyle/>
          <a:p>
            <a:pPr algn="l"/>
            <a:r>
              <a:rPr sz="1400" b="0" i="0">
                <a:solidFill>
                  <a:srgbClr val="FFFFFF"/>
                </a:solidFill>
                <a:latin typeface="Calibri"/>
              </a:rPr>
              <a:t>Diferenciar contacto directo e indirecto, y las medidas de protección para cada uno.</a:t>
            </a:r>
          </a:p>
        </p:txBody>
      </p:sp>
      <p:sp>
        <p:nvSpPr>
          <p:cNvPr id="8" name="Oval 7"/>
          <p:cNvSpPr/>
          <p:nvPr/>
        </p:nvSpPr>
        <p:spPr>
          <a:xfrm>
            <a:off x="640080" y="3977639"/>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aCheckCircle_w.png"/>
          <p:cNvPicPr>
            <a:picLocks noChangeAspect="1"/>
          </p:cNvPicPr>
          <p:nvPr/>
        </p:nvPicPr>
        <p:blipFill>
          <a:blip r:embed="rId2"/>
          <a:stretch>
            <a:fillRect/>
          </a:stretch>
        </p:blipFill>
        <p:spPr>
          <a:xfrm>
            <a:off x="749808" y="4087368"/>
            <a:ext cx="237744" cy="237744"/>
          </a:xfrm>
          <a:prstGeom prst="rect">
            <a:avLst/>
          </a:prstGeom>
        </p:spPr>
      </p:pic>
      <p:sp>
        <p:nvSpPr>
          <p:cNvPr id="10" name="TextBox 9"/>
          <p:cNvSpPr txBox="1"/>
          <p:nvPr/>
        </p:nvSpPr>
        <p:spPr>
          <a:xfrm>
            <a:off x="1280160" y="3959352"/>
            <a:ext cx="4023360" cy="960120"/>
          </a:xfrm>
          <a:prstGeom prst="rect">
            <a:avLst/>
          </a:prstGeom>
          <a:noFill/>
        </p:spPr>
        <p:txBody>
          <a:bodyPr wrap="square" anchor="t" lIns="0" rIns="0" tIns="0" bIns="0">
            <a:spAutoFit/>
          </a:bodyPr>
          <a:lstStyle/>
          <a:p>
            <a:pPr algn="l"/>
            <a:r>
              <a:rPr sz="1400" b="0" i="0">
                <a:solidFill>
                  <a:srgbClr val="FFFFFF"/>
                </a:solidFill>
                <a:latin typeface="Calibri"/>
              </a:rPr>
              <a:t>Aplicar las distancias de seguridad y seleccionar el EPP según la categoría NFPA 70E.</a:t>
            </a:r>
          </a:p>
        </p:txBody>
      </p:sp>
      <p:sp>
        <p:nvSpPr>
          <p:cNvPr id="11" name="Oval 10"/>
          <p:cNvSpPr/>
          <p:nvPr/>
        </p:nvSpPr>
        <p:spPr>
          <a:xfrm>
            <a:off x="640080" y="5029200"/>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CheckCircle_w.png"/>
          <p:cNvPicPr>
            <a:picLocks noChangeAspect="1"/>
          </p:cNvPicPr>
          <p:nvPr/>
        </p:nvPicPr>
        <p:blipFill>
          <a:blip r:embed="rId2"/>
          <a:stretch>
            <a:fillRect/>
          </a:stretch>
        </p:blipFill>
        <p:spPr>
          <a:xfrm>
            <a:off x="749808" y="5138928"/>
            <a:ext cx="237744" cy="237744"/>
          </a:xfrm>
          <a:prstGeom prst="rect">
            <a:avLst/>
          </a:prstGeom>
        </p:spPr>
      </p:pic>
      <p:sp>
        <p:nvSpPr>
          <p:cNvPr id="13" name="TextBox 12"/>
          <p:cNvSpPr txBox="1"/>
          <p:nvPr/>
        </p:nvSpPr>
        <p:spPr>
          <a:xfrm>
            <a:off x="1280160" y="5010912"/>
            <a:ext cx="4023360" cy="960120"/>
          </a:xfrm>
          <a:prstGeom prst="rect">
            <a:avLst/>
          </a:prstGeom>
          <a:noFill/>
        </p:spPr>
        <p:txBody>
          <a:bodyPr wrap="square" anchor="t" lIns="0" rIns="0" tIns="0" bIns="0">
            <a:spAutoFit/>
          </a:bodyPr>
          <a:lstStyle/>
          <a:p>
            <a:pPr algn="l"/>
            <a:r>
              <a:rPr sz="1400" b="0" i="0">
                <a:solidFill>
                  <a:srgbClr val="FFFFFF"/>
                </a:solidFill>
                <a:latin typeface="Calibri"/>
              </a:rPr>
              <a:t>Reconocer los equipos de maniobra y la puesta a tierra temporal, y su uso seguro.</a:t>
            </a:r>
          </a:p>
        </p:txBody>
      </p:sp>
      <p:sp>
        <p:nvSpPr>
          <p:cNvPr id="14" name="Rounded Rectangle 13"/>
          <p:cNvSpPr/>
          <p:nvPr/>
        </p:nvSpPr>
        <p:spPr>
          <a:xfrm>
            <a:off x="5669280" y="2423160"/>
            <a:ext cx="2834640" cy="3611880"/>
          </a:xfrm>
          <a:prstGeom prst="roundRect">
            <a:avLst>
              <a:gd name="adj" fmla="val 8000"/>
            </a:avLst>
          </a:prstGeom>
          <a:solidFill>
            <a:srgbClr val="6A4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897880" y="2606040"/>
            <a:ext cx="2468880" cy="320040"/>
          </a:xfrm>
          <a:prstGeom prst="rect">
            <a:avLst/>
          </a:prstGeom>
          <a:noFill/>
        </p:spPr>
        <p:txBody>
          <a:bodyPr wrap="square" anchor="t" lIns="0" rIns="0" tIns="0" bIns="0">
            <a:spAutoFit/>
          </a:bodyPr>
          <a:lstStyle/>
          <a:p>
            <a:pPr algn="l"/>
            <a:r>
              <a:rPr sz="1800" b="1" i="0">
                <a:solidFill>
                  <a:srgbClr val="F2A900"/>
                </a:solidFill>
                <a:latin typeface="Calibri"/>
              </a:rPr>
              <a:t>⏱  110 min</a:t>
            </a:r>
          </a:p>
        </p:txBody>
      </p:sp>
      <p:sp>
        <p:nvSpPr>
          <p:cNvPr id="16" name="TextBox 15"/>
          <p:cNvSpPr txBox="1"/>
          <p:nvPr/>
        </p:nvSpPr>
        <p:spPr>
          <a:xfrm>
            <a:off x="5897880" y="3063240"/>
            <a:ext cx="2468880" cy="320040"/>
          </a:xfrm>
          <a:prstGeom prst="rect">
            <a:avLst/>
          </a:prstGeom>
          <a:noFill/>
        </p:spPr>
        <p:txBody>
          <a:bodyPr wrap="square" anchor="t" lIns="0" rIns="0" tIns="0" bIns="0">
            <a:spAutoFit/>
          </a:bodyPr>
          <a:lstStyle/>
          <a:p>
            <a:pPr algn="l"/>
            <a:r>
              <a:rPr sz="1400" b="1" i="0">
                <a:solidFill>
                  <a:srgbClr val="FFFFFF"/>
                </a:solidFill>
                <a:latin typeface="Calibri"/>
              </a:rPr>
              <a:t>Temas</a:t>
            </a:r>
          </a:p>
        </p:txBody>
      </p:sp>
      <p:sp>
        <p:nvSpPr>
          <p:cNvPr id="17" name="TextBox 16"/>
          <p:cNvSpPr txBox="1"/>
          <p:nvPr/>
        </p:nvSpPr>
        <p:spPr>
          <a:xfrm>
            <a:off x="5897880" y="3429000"/>
            <a:ext cx="2468880" cy="2468880"/>
          </a:xfrm>
          <a:prstGeom prst="rect">
            <a:avLst/>
          </a:prstGeom>
          <a:noFill/>
        </p:spPr>
        <p:txBody>
          <a:bodyPr wrap="square" anchor="t" lIns="0" rIns="0" tIns="0" bIns="0">
            <a:spAutoFit/>
          </a:bodyPr>
          <a:lstStyle/>
          <a:p>
            <a:pPr algn="l">
              <a:spcAft>
                <a:spcPts val="600"/>
              </a:spcAft>
            </a:pPr>
            <a:r>
              <a:rPr sz="1300" b="0" i="0">
                <a:solidFill>
                  <a:srgbClr val="FFFFFF"/>
                </a:solidFill>
                <a:latin typeface="Calibri"/>
              </a:rPr>
              <a:t>3.0  Componentes, tensiones y contactos</a:t>
            </a:r>
          </a:p>
          <a:p>
            <a:pPr algn="l">
              <a:spcAft>
                <a:spcPts val="600"/>
              </a:spcAft>
            </a:pPr>
            <a:r>
              <a:rPr sz="1300" b="0" i="0">
                <a:solidFill>
                  <a:srgbClr val="FFFFFF"/>
                </a:solidFill>
                <a:latin typeface="Calibri"/>
              </a:rPr>
              <a:t>Distancias de seguridad y EPP</a:t>
            </a:r>
          </a:p>
          <a:p>
            <a:pPr algn="l">
              <a:spcAft>
                <a:spcPts val="600"/>
              </a:spcAft>
            </a:pPr>
            <a:r>
              <a:rPr sz="1300" b="0" i="0">
                <a:solidFill>
                  <a:srgbClr val="FFFFFF"/>
                </a:solidFill>
                <a:latin typeface="Calibri"/>
              </a:rPr>
              <a:t>Equipos de maniobra y puesta a tierra</a:t>
            </a:r>
          </a:p>
          <a:p>
            <a:pPr algn="l">
              <a:spcAft>
                <a:spcPts val="600"/>
              </a:spcAft>
            </a:pPr>
            <a:r>
              <a:rPr sz="1300" b="0" i="0">
                <a:solidFill>
                  <a:srgbClr val="FFFFFF"/>
                </a:solidFill>
                <a:latin typeface="Calibri"/>
              </a:rPr>
              <a:t>3.1  Tipos de equipos en la red</a:t>
            </a:r>
          </a:p>
        </p:txBody>
      </p:sp>
      <p:sp>
        <p:nvSpPr>
          <p:cNvPr id="18" name="Botón Índice">
            <a:hlinkClick action="ppaction://hlinksldjump" r:id="rId4"/>
          </p:cNvPr>
          <p:cNvSpPr/>
          <p:nvPr/>
        </p:nvSpPr>
        <p:spPr>
          <a:xfrm>
            <a:off x="137160" y="6455664"/>
            <a:ext cx="914400" cy="292608"/>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4B2E83"/>
                </a:solidFill>
                <a:latin typeface="Calibri"/>
              </a:rPr>
              <a:t>Índice</a:t>
            </a:r>
          </a:p>
        </p:txBody>
      </p:sp>
      <p:sp>
        <p:nvSpPr>
          <p:cNvPr id="1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D9CCEE"/>
                </a:solidFill>
                <a:latin typeface="Calibri"/>
              </a:rPr>
              <a:t>Riesgos eléctricos en redes aéreas de distribución  ·  SSGI OTEC</a:t>
            </a:r>
          </a:p>
        </p:txBody>
      </p:sp>
      <p:sp>
        <p:nvSpPr>
          <p:cNvPr id="2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D9CCEE"/>
                </a:solidFill>
                <a:latin typeface="Calibri"/>
              </a:rPr>
              <a:t>64</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CIERRE</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Ideas clave para recordar</a:t>
            </a:r>
          </a:p>
        </p:txBody>
      </p:sp>
      <p:sp>
        <p:nvSpPr>
          <p:cNvPr id="4" name="Rounded Rectangle 3"/>
          <p:cNvSpPr/>
          <p:nvPr/>
        </p:nvSpPr>
        <p:spPr>
          <a:xfrm>
            <a:off x="548640" y="150876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178308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1600200" y="1783080"/>
            <a:ext cx="2606040" cy="640080"/>
          </a:xfrm>
          <a:prstGeom prst="rect">
            <a:avLst/>
          </a:prstGeom>
          <a:noFill/>
        </p:spPr>
        <p:txBody>
          <a:bodyPr wrap="square" anchor="ctr" lIns="0" rIns="0" tIns="0" bIns="0">
            <a:spAutoFit/>
          </a:bodyPr>
          <a:lstStyle/>
          <a:p>
            <a:pPr algn="l"/>
            <a:r>
              <a:rPr sz="1700" b="1" i="0">
                <a:solidFill>
                  <a:srgbClr val="4B2E83"/>
                </a:solidFill>
                <a:latin typeface="Calibri"/>
              </a:rPr>
              <a:t>Directo e indirecto</a:t>
            </a:r>
          </a:p>
        </p:txBody>
      </p:sp>
      <p:sp>
        <p:nvSpPr>
          <p:cNvPr id="7" name="TextBox 6"/>
          <p:cNvSpPr txBox="1"/>
          <p:nvPr/>
        </p:nvSpPr>
        <p:spPr>
          <a:xfrm>
            <a:off x="822959" y="2514600"/>
            <a:ext cx="3337560" cy="1097280"/>
          </a:xfrm>
          <a:prstGeom prst="rect">
            <a:avLst/>
          </a:prstGeom>
          <a:noFill/>
        </p:spPr>
        <p:txBody>
          <a:bodyPr wrap="square" anchor="t" lIns="0" rIns="0" tIns="0" bIns="0">
            <a:spAutoFit/>
          </a:bodyPr>
          <a:lstStyle/>
          <a:p>
            <a:pPr algn="l"/>
            <a:r>
              <a:rPr sz="1400" b="0" i="0">
                <a:solidFill>
                  <a:srgbClr val="222233"/>
                </a:solidFill>
                <a:latin typeface="Calibri"/>
              </a:rPr>
              <a:t>Directo: tocar algo normalmente energizado. Indirecto: tocar una masa energizada por una falla.</a:t>
            </a:r>
          </a:p>
        </p:txBody>
      </p:sp>
      <p:sp>
        <p:nvSpPr>
          <p:cNvPr id="8" name="Rounded Rectangle 7"/>
          <p:cNvSpPr/>
          <p:nvPr/>
        </p:nvSpPr>
        <p:spPr>
          <a:xfrm>
            <a:off x="4663440" y="150876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937759" y="178308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5715000" y="1783080"/>
            <a:ext cx="2606040" cy="640080"/>
          </a:xfrm>
          <a:prstGeom prst="rect">
            <a:avLst/>
          </a:prstGeom>
          <a:noFill/>
        </p:spPr>
        <p:txBody>
          <a:bodyPr wrap="square" anchor="ctr" lIns="0" rIns="0" tIns="0" bIns="0">
            <a:spAutoFit/>
          </a:bodyPr>
          <a:lstStyle/>
          <a:p>
            <a:pPr algn="l"/>
            <a:r>
              <a:rPr sz="1700" b="1" i="0">
                <a:solidFill>
                  <a:srgbClr val="4B2E83"/>
                </a:solidFill>
                <a:latin typeface="Calibri"/>
              </a:rPr>
              <a:t>Distancia es protección</a:t>
            </a:r>
          </a:p>
        </p:txBody>
      </p:sp>
      <p:sp>
        <p:nvSpPr>
          <p:cNvPr id="11" name="TextBox 10"/>
          <p:cNvSpPr txBox="1"/>
          <p:nvPr/>
        </p:nvSpPr>
        <p:spPr>
          <a:xfrm>
            <a:off x="4937759" y="2514600"/>
            <a:ext cx="3337560" cy="1097280"/>
          </a:xfrm>
          <a:prstGeom prst="rect">
            <a:avLst/>
          </a:prstGeom>
          <a:noFill/>
        </p:spPr>
        <p:txBody>
          <a:bodyPr wrap="square" anchor="t" lIns="0" rIns="0" tIns="0" bIns="0">
            <a:spAutoFit/>
          </a:bodyPr>
          <a:lstStyle/>
          <a:p>
            <a:pPr algn="l"/>
            <a:r>
              <a:rPr sz="1400" b="0" i="0">
                <a:solidFill>
                  <a:srgbClr val="222233"/>
                </a:solidFill>
                <a:latin typeface="Calibri"/>
              </a:rPr>
              <a:t>Respeta las fronteras de aproximación de la NFPA 70E según la tensión de la línea.</a:t>
            </a:r>
          </a:p>
        </p:txBody>
      </p:sp>
      <p:sp>
        <p:nvSpPr>
          <p:cNvPr id="12" name="Rounded Rectangle 11"/>
          <p:cNvSpPr/>
          <p:nvPr/>
        </p:nvSpPr>
        <p:spPr>
          <a:xfrm>
            <a:off x="548640" y="388620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22959" y="416052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4" name="TextBox 13"/>
          <p:cNvSpPr txBox="1"/>
          <p:nvPr/>
        </p:nvSpPr>
        <p:spPr>
          <a:xfrm>
            <a:off x="1600200" y="4160520"/>
            <a:ext cx="2606040" cy="640080"/>
          </a:xfrm>
          <a:prstGeom prst="rect">
            <a:avLst/>
          </a:prstGeom>
          <a:noFill/>
        </p:spPr>
        <p:txBody>
          <a:bodyPr wrap="square" anchor="ctr" lIns="0" rIns="0" tIns="0" bIns="0">
            <a:spAutoFit/>
          </a:bodyPr>
          <a:lstStyle/>
          <a:p>
            <a:pPr algn="l"/>
            <a:r>
              <a:rPr sz="1700" b="1" i="0">
                <a:solidFill>
                  <a:srgbClr val="4B2E83"/>
                </a:solidFill>
                <a:latin typeface="Calibri"/>
              </a:rPr>
              <a:t>Verifica antes de tocar</a:t>
            </a:r>
          </a:p>
        </p:txBody>
      </p:sp>
      <p:sp>
        <p:nvSpPr>
          <p:cNvPr id="15" name="TextBox 14"/>
          <p:cNvSpPr txBox="1"/>
          <p:nvPr/>
        </p:nvSpPr>
        <p:spPr>
          <a:xfrm>
            <a:off x="822959" y="4892040"/>
            <a:ext cx="3337560" cy="1097280"/>
          </a:xfrm>
          <a:prstGeom prst="rect">
            <a:avLst/>
          </a:prstGeom>
          <a:noFill/>
        </p:spPr>
        <p:txBody>
          <a:bodyPr wrap="square" anchor="t" lIns="0" rIns="0" tIns="0" bIns="0">
            <a:spAutoFit/>
          </a:bodyPr>
          <a:lstStyle/>
          <a:p>
            <a:pPr algn="l"/>
            <a:r>
              <a:rPr sz="1400" b="0" i="0">
                <a:solidFill>
                  <a:srgbClr val="222233"/>
                </a:solidFill>
                <a:latin typeface="Calibri"/>
              </a:rPr>
              <a:t>No verificar la ausencia de tensión con el instrumento adecuado es una causa importante de muerte.</a:t>
            </a:r>
          </a:p>
        </p:txBody>
      </p:sp>
      <p:sp>
        <p:nvSpPr>
          <p:cNvPr id="16" name="Rounded Rectangle 15"/>
          <p:cNvSpPr/>
          <p:nvPr/>
        </p:nvSpPr>
        <p:spPr>
          <a:xfrm>
            <a:off x="4663440" y="3886200"/>
            <a:ext cx="3840480" cy="214884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937759" y="4160520"/>
            <a:ext cx="594360" cy="59436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8" name="TextBox 17"/>
          <p:cNvSpPr txBox="1"/>
          <p:nvPr/>
        </p:nvSpPr>
        <p:spPr>
          <a:xfrm>
            <a:off x="5715000" y="4160520"/>
            <a:ext cx="2606040" cy="640080"/>
          </a:xfrm>
          <a:prstGeom prst="rect">
            <a:avLst/>
          </a:prstGeom>
          <a:noFill/>
        </p:spPr>
        <p:txBody>
          <a:bodyPr wrap="square" anchor="ctr" lIns="0" rIns="0" tIns="0" bIns="0">
            <a:spAutoFit/>
          </a:bodyPr>
          <a:lstStyle/>
          <a:p>
            <a:pPr algn="l"/>
            <a:r>
              <a:rPr sz="1700" b="1" i="0">
                <a:solidFill>
                  <a:srgbClr val="4B2E83"/>
                </a:solidFill>
                <a:latin typeface="Calibri"/>
              </a:rPr>
              <a:t>Tierra: de abajo hacia arriba</a:t>
            </a:r>
          </a:p>
        </p:txBody>
      </p:sp>
      <p:sp>
        <p:nvSpPr>
          <p:cNvPr id="19" name="TextBox 18"/>
          <p:cNvSpPr txBox="1"/>
          <p:nvPr/>
        </p:nvSpPr>
        <p:spPr>
          <a:xfrm>
            <a:off x="4937759" y="4892040"/>
            <a:ext cx="3337560" cy="1097280"/>
          </a:xfrm>
          <a:prstGeom prst="rect">
            <a:avLst/>
          </a:prstGeom>
          <a:noFill/>
        </p:spPr>
        <p:txBody>
          <a:bodyPr wrap="square" anchor="t" lIns="0" rIns="0" tIns="0" bIns="0">
            <a:spAutoFit/>
          </a:bodyPr>
          <a:lstStyle/>
          <a:p>
            <a:pPr algn="l"/>
            <a:r>
              <a:rPr sz="1400" b="0" i="0">
                <a:solidFill>
                  <a:srgbClr val="222233"/>
                </a:solidFill>
                <a:latin typeface="Calibri"/>
              </a:rPr>
              <a:t>La puesta a tierra temporal se instala desde la tierra a las fases y se retira de las fases a la tierra.</a:t>
            </a:r>
          </a:p>
        </p:txBody>
      </p:sp>
      <p:sp>
        <p:nvSpPr>
          <p:cNvPr id="20" name="Botón Índice">
            <a:hlinkClick action="ppaction://hlinksldjump" r:id="rId3"/>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118</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1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1</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Un trabajador toca la carcasa metálica de un equipo que se energizó por una falla de aislación. Es un contacto…</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Directo</a:t>
            </a:r>
          </a:p>
        </p:txBody>
      </p:sp>
      <p:sp>
        <p:nvSpPr>
          <p:cNvPr id="12" name="Alternativa B">
            <a:hlinkClick action="ppaction://hlinksldjump" r:id="rId5"/>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5"/>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5"/>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Indirecto</a:t>
            </a:r>
          </a:p>
        </p:txBody>
      </p:sp>
      <p:sp>
        <p:nvSpPr>
          <p:cNvPr id="15" name="Alternativa C">
            <a:hlinkClick action="ppaction://hlinksldjump" r:id="rId4"/>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4"/>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4"/>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Por arco eléctrico</a:t>
            </a:r>
          </a:p>
        </p:txBody>
      </p:sp>
      <p:sp>
        <p:nvSpPr>
          <p:cNvPr id="18" name="Alternativa D">
            <a:hlinkClick action="ppaction://hlinksldjump" r:id="rId4"/>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4"/>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4"/>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Por inducción</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121</a:t>
            </a:r>
          </a:p>
        </p:txBody>
      </p:sp>
    </p:spTree>
  </p:cSld>
  <p:clrMapOvr>
    <a:masterClrMapping/>
  </p:clrMapOvr>
  <p:transition advClick="0"/>
</p:sld>
</file>

<file path=ppt/slides/slide13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1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B) Indirecto</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Es indirecto: la carcasa normalmente no tiene tensión, pero se energizó por una falla.</a:t>
            </a:r>
          </a:p>
        </p:txBody>
      </p:sp>
      <p:sp>
        <p:nvSpPr>
          <p:cNvPr id="9" name="Botón Siguiente pregunta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Siguiente pregunta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1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Pregúntate: ¿la carcasa estaba energizada en condiciones normales?</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2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2</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Según el RIC N° 5, ¿qué sensibilidad debe tener el protector diferencial para la protección de las personas?</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10 mA</a:t>
            </a:r>
          </a:p>
        </p:txBody>
      </p:sp>
      <p:sp>
        <p:nvSpPr>
          <p:cNvPr id="12" name="Alternativa B">
            <a:hlinkClick action="ppaction://hlinksldjump" r:id="rId5"/>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5"/>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5"/>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30 mA</a:t>
            </a:r>
          </a:p>
        </p:txBody>
      </p:sp>
      <p:sp>
        <p:nvSpPr>
          <p:cNvPr id="15" name="Alternativa C">
            <a:hlinkClick action="ppaction://hlinksldjump" r:id="rId4"/>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4"/>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4"/>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300 mA</a:t>
            </a:r>
          </a:p>
        </p:txBody>
      </p:sp>
      <p:sp>
        <p:nvSpPr>
          <p:cNvPr id="18" name="Alternativa D">
            <a:hlinkClick action="ppaction://hlinksldjump" r:id="rId4"/>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4"/>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4"/>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1 A</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122</a:t>
            </a:r>
          </a:p>
        </p:txBody>
      </p:sp>
    </p:spTree>
  </p:cSld>
  <p:clrMapOvr>
    <a:masterClrMapping/>
  </p:clrMapOvr>
  <p:transition advClick="0"/>
</p:sld>
</file>

<file path=ppt/slides/slide13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2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B) 30 mA</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30 mA está bajo el umbral de fibrilación (≈40 mA) y protege ante contactos directos.</a:t>
            </a:r>
          </a:p>
        </p:txBody>
      </p:sp>
      <p:sp>
        <p:nvSpPr>
          <p:cNvPr id="9" name="Botón Siguiente pregunta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Siguiente pregunta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2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El diferencial debe actuar antes de que la corriente llegue al umbral de fibrilación (cerca de 40 mA).</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3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3</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¿Cuál es la secuencia correcta para INSTALAR una puesta a tierra temporal?</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Desde la fase más cercana hacia la tierra</a:t>
            </a:r>
          </a:p>
        </p:txBody>
      </p:sp>
      <p:sp>
        <p:nvSpPr>
          <p:cNvPr id="12" name="Alternativa B">
            <a:hlinkClick action="ppaction://hlinksldjump" r:id="rId5"/>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5"/>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5"/>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Desde la tierra hacia la última fase</a:t>
            </a:r>
          </a:p>
        </p:txBody>
      </p:sp>
      <p:sp>
        <p:nvSpPr>
          <p:cNvPr id="15" name="Alternativa C">
            <a:hlinkClick action="ppaction://hlinksldjump" r:id="rId4"/>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4"/>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4"/>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Todas las fases a la vez</a:t>
            </a:r>
          </a:p>
        </p:txBody>
      </p:sp>
      <p:sp>
        <p:nvSpPr>
          <p:cNvPr id="18" name="Alternativa D">
            <a:hlinkClick action="ppaction://hlinksldjump" r:id="rId4"/>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4"/>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4"/>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El orden no importa</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123</a:t>
            </a:r>
          </a:p>
        </p:txBody>
      </p:sp>
    </p:spTree>
  </p:cSld>
  <p:clrMapOvr>
    <a:masterClrMapping/>
  </p:clrMapOvr>
  <p:transition advClick="0"/>
</p:sld>
</file>

<file path=ppt/slides/slide14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3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B) Desde la tierra hacia la última fase</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Primero se conecta a tierra y luego a las fases; para retirarla se hace al revés.</a:t>
            </a:r>
          </a:p>
        </p:txBody>
      </p:sp>
      <p:sp>
        <p:nvSpPr>
          <p:cNvPr id="9" name="Botón Siguiente pregunta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Siguiente pregunta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3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El liniero debe quedar protegido desde la primera conexión que realiza.</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4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Pregunta 4</a:t>
            </a:r>
          </a:p>
        </p:txBody>
      </p:sp>
      <p:sp>
        <p:nvSpPr>
          <p:cNvPr id="4" name="Rounded Rectangle 3"/>
          <p:cNvSpPr/>
          <p:nvPr/>
        </p:nvSpPr>
        <p:spPr>
          <a:xfrm>
            <a:off x="548640" y="1417320"/>
            <a:ext cx="8046720" cy="114300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60020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QuestionCircle_p.png"/>
          <p:cNvPicPr>
            <a:picLocks noChangeAspect="1"/>
          </p:cNvPicPr>
          <p:nvPr/>
        </p:nvPicPr>
        <p:blipFill>
          <a:blip r:embed="rId2"/>
          <a:stretch>
            <a:fillRect/>
          </a:stretch>
        </p:blipFill>
        <p:spPr>
          <a:xfrm>
            <a:off x="963777" y="1786737"/>
            <a:ext cx="404164" cy="404164"/>
          </a:xfrm>
          <a:prstGeom prst="rect">
            <a:avLst/>
          </a:prstGeom>
        </p:spPr>
      </p:pic>
      <p:sp>
        <p:nvSpPr>
          <p:cNvPr id="7" name="TextBox 6"/>
          <p:cNvSpPr txBox="1"/>
          <p:nvPr/>
        </p:nvSpPr>
        <p:spPr>
          <a:xfrm>
            <a:off x="1783080" y="1463040"/>
            <a:ext cx="6629400" cy="1051560"/>
          </a:xfrm>
          <a:prstGeom prst="rect">
            <a:avLst/>
          </a:prstGeom>
          <a:noFill/>
        </p:spPr>
        <p:txBody>
          <a:bodyPr wrap="square" anchor="ctr" lIns="0" rIns="0" tIns="0" bIns="0">
            <a:spAutoFit/>
          </a:bodyPr>
          <a:lstStyle/>
          <a:p>
            <a:pPr algn="l"/>
            <a:r>
              <a:rPr sz="1800" b="1" i="0">
                <a:solidFill>
                  <a:srgbClr val="222233"/>
                </a:solidFill>
                <a:latin typeface="Calibri"/>
              </a:rPr>
              <a:t>En una línea de 12 kV, ¿cuál es la frontera de aproximación limitada a partes fijas energizadas (NFPA 70E)?</a:t>
            </a:r>
          </a:p>
        </p:txBody>
      </p:sp>
      <p:sp>
        <p:nvSpPr>
          <p:cNvPr id="8" name="TextBox 7"/>
          <p:cNvSpPr txBox="1"/>
          <p:nvPr/>
        </p:nvSpPr>
        <p:spPr>
          <a:xfrm>
            <a:off x="548640" y="2743200"/>
            <a:ext cx="8046720" cy="320040"/>
          </a:xfrm>
          <a:prstGeom prst="rect">
            <a:avLst/>
          </a:prstGeom>
          <a:noFill/>
        </p:spPr>
        <p:txBody>
          <a:bodyPr wrap="square" anchor="t" lIns="0" rIns="0" tIns="0" bIns="0">
            <a:spAutoFit/>
          </a:bodyPr>
          <a:lstStyle/>
          <a:p>
            <a:pPr algn="l"/>
            <a:r>
              <a:rPr sz="1400" b="0" i="0">
                <a:solidFill>
                  <a:srgbClr val="5A5A6E"/>
                </a:solidFill>
                <a:latin typeface="Calibri"/>
              </a:rPr>
              <a:t>Haz clic en la alternativa que consideres correcta.</a:t>
            </a:r>
          </a:p>
        </p:txBody>
      </p:sp>
      <p:sp>
        <p:nvSpPr>
          <p:cNvPr id="9" name="Alternativa A">
            <a:hlinkClick action="ppaction://hlinksldjump" r:id="rId4"/>
          </p:cNvPr>
          <p:cNvSpPr/>
          <p:nvPr/>
        </p:nvSpPr>
        <p:spPr>
          <a:xfrm>
            <a:off x="548640" y="315468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685800" y="325526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11" name="TextBox 10">
            <a:hlinkClick action="ppaction://hlinksldjump" r:id="rId4"/>
          </p:cNvPr>
          <p:cNvSpPr txBox="1"/>
          <p:nvPr/>
        </p:nvSpPr>
        <p:spPr>
          <a:xfrm>
            <a:off x="1325880" y="3154680"/>
            <a:ext cx="7132320" cy="640080"/>
          </a:xfrm>
          <a:prstGeom prst="rect">
            <a:avLst/>
          </a:prstGeom>
          <a:noFill/>
        </p:spPr>
        <p:txBody>
          <a:bodyPr wrap="square" anchor="ctr" lIns="0" rIns="0" tIns="0" bIns="0">
            <a:spAutoFit/>
          </a:bodyPr>
          <a:lstStyle/>
          <a:p>
            <a:pPr algn="l"/>
            <a:r>
              <a:rPr sz="1600" b="0" i="0">
                <a:solidFill>
                  <a:srgbClr val="222233"/>
                </a:solidFill>
                <a:latin typeface="Calibri"/>
              </a:rPr>
              <a:t>0,3 m</a:t>
            </a:r>
          </a:p>
        </p:txBody>
      </p:sp>
      <p:sp>
        <p:nvSpPr>
          <p:cNvPr id="12" name="Alternativa B">
            <a:hlinkClick action="ppaction://hlinksldjump" r:id="rId4"/>
          </p:cNvPr>
          <p:cNvSpPr/>
          <p:nvPr/>
        </p:nvSpPr>
        <p:spPr>
          <a:xfrm>
            <a:off x="548640" y="393192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4"/>
          </p:cNvPr>
          <p:cNvSpPr/>
          <p:nvPr/>
        </p:nvSpPr>
        <p:spPr>
          <a:xfrm>
            <a:off x="685800" y="403250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4" name="TextBox 13">
            <a:hlinkClick action="ppaction://hlinksldjump" r:id="rId4"/>
          </p:cNvPr>
          <p:cNvSpPr txBox="1"/>
          <p:nvPr/>
        </p:nvSpPr>
        <p:spPr>
          <a:xfrm>
            <a:off x="1325880" y="3931920"/>
            <a:ext cx="7132320" cy="640080"/>
          </a:xfrm>
          <a:prstGeom prst="rect">
            <a:avLst/>
          </a:prstGeom>
          <a:noFill/>
        </p:spPr>
        <p:txBody>
          <a:bodyPr wrap="square" anchor="ctr" lIns="0" rIns="0" tIns="0" bIns="0">
            <a:spAutoFit/>
          </a:bodyPr>
          <a:lstStyle/>
          <a:p>
            <a:pPr algn="l"/>
            <a:r>
              <a:rPr sz="1600" b="0" i="0">
                <a:solidFill>
                  <a:srgbClr val="222233"/>
                </a:solidFill>
                <a:latin typeface="Calibri"/>
              </a:rPr>
              <a:t>0,7 m</a:t>
            </a:r>
          </a:p>
        </p:txBody>
      </p:sp>
      <p:sp>
        <p:nvSpPr>
          <p:cNvPr id="15" name="Alternativa C">
            <a:hlinkClick action="ppaction://hlinksldjump" r:id="rId5"/>
          </p:cNvPr>
          <p:cNvSpPr/>
          <p:nvPr/>
        </p:nvSpPr>
        <p:spPr>
          <a:xfrm>
            <a:off x="548640" y="470916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5"/>
          </p:cNvPr>
          <p:cNvSpPr/>
          <p:nvPr/>
        </p:nvSpPr>
        <p:spPr>
          <a:xfrm>
            <a:off x="685800" y="480974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C</a:t>
            </a:r>
          </a:p>
        </p:txBody>
      </p:sp>
      <p:sp>
        <p:nvSpPr>
          <p:cNvPr id="17" name="TextBox 16">
            <a:hlinkClick action="ppaction://hlinksldjump" r:id="rId5"/>
          </p:cNvPr>
          <p:cNvSpPr txBox="1"/>
          <p:nvPr/>
        </p:nvSpPr>
        <p:spPr>
          <a:xfrm>
            <a:off x="1325880" y="4709160"/>
            <a:ext cx="7132320" cy="640080"/>
          </a:xfrm>
          <a:prstGeom prst="rect">
            <a:avLst/>
          </a:prstGeom>
          <a:noFill/>
        </p:spPr>
        <p:txBody>
          <a:bodyPr wrap="square" anchor="ctr" lIns="0" rIns="0" tIns="0" bIns="0">
            <a:spAutoFit/>
          </a:bodyPr>
          <a:lstStyle/>
          <a:p>
            <a:pPr algn="l"/>
            <a:r>
              <a:rPr sz="1600" b="0" i="0">
                <a:solidFill>
                  <a:srgbClr val="222233"/>
                </a:solidFill>
                <a:latin typeface="Calibri"/>
              </a:rPr>
              <a:t>1,5 m</a:t>
            </a:r>
          </a:p>
        </p:txBody>
      </p:sp>
      <p:sp>
        <p:nvSpPr>
          <p:cNvPr id="18" name="Alternativa D">
            <a:hlinkClick action="ppaction://hlinksldjump" r:id="rId4"/>
          </p:cNvPr>
          <p:cNvSpPr/>
          <p:nvPr/>
        </p:nvSpPr>
        <p:spPr>
          <a:xfrm>
            <a:off x="548640" y="5486400"/>
            <a:ext cx="8046720" cy="640080"/>
          </a:xfrm>
          <a:prstGeom prst="roundRect">
            <a:avLst>
              <a:gd name="adj" fmla="val 20000"/>
            </a:avLst>
          </a:prstGeom>
          <a:solidFill>
            <a:srgbClr val="FFFFFF"/>
          </a:solidFill>
          <a:ln w="19050">
            <a:solidFill>
              <a:srgbClr val="6A4C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4"/>
          </p:cNvPr>
          <p:cNvSpPr/>
          <p:nvPr/>
        </p:nvSpPr>
        <p:spPr>
          <a:xfrm>
            <a:off x="685800" y="5586984"/>
            <a:ext cx="438912" cy="438912"/>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0" name="TextBox 19">
            <a:hlinkClick action="ppaction://hlinksldjump" r:id="rId4"/>
          </p:cNvPr>
          <p:cNvSpPr txBox="1"/>
          <p:nvPr/>
        </p:nvSpPr>
        <p:spPr>
          <a:xfrm>
            <a:off x="1325880" y="5486400"/>
            <a:ext cx="7132320" cy="640080"/>
          </a:xfrm>
          <a:prstGeom prst="rect">
            <a:avLst/>
          </a:prstGeom>
          <a:noFill/>
        </p:spPr>
        <p:txBody>
          <a:bodyPr wrap="square" anchor="ctr" lIns="0" rIns="0" tIns="0" bIns="0">
            <a:spAutoFit/>
          </a:bodyPr>
          <a:lstStyle/>
          <a:p>
            <a:pPr algn="l"/>
            <a:r>
              <a:rPr sz="1600" b="0" i="0">
                <a:solidFill>
                  <a:srgbClr val="222233"/>
                </a:solidFill>
                <a:latin typeface="Calibri"/>
              </a:rPr>
              <a:t>3,0 m</a:t>
            </a:r>
          </a:p>
        </p:txBody>
      </p:sp>
      <p:sp>
        <p:nvSpPr>
          <p:cNvPr id="21" name="Botón Índice">
            <a:hlinkClick action="ppaction://hlinksldjump" r:id="rId6"/>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2"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3"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124</a:t>
            </a:r>
          </a:p>
        </p:txBody>
      </p:sp>
    </p:spTree>
  </p:cSld>
  <p:clrMapOvr>
    <a:masterClrMapping/>
  </p:clrMapOvr>
  <p:transition advClick="0"/>
</p:sld>
</file>

<file path=ppt/slides/slide14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4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¡Correcto!</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heckCircle_w.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2E7D32"/>
                </a:solidFill>
                <a:latin typeface="Calibri"/>
              </a:rPr>
              <a:t>Respuesta: </a:t>
            </a:r>
            <a:r>
              <a:rPr sz="1800" b="1" i="0">
                <a:solidFill>
                  <a:srgbClr val="222233"/>
                </a:solidFill>
                <a:latin typeface="Calibri"/>
              </a:rPr>
              <a:t>C) 1,5 m</a:t>
            </a:r>
          </a:p>
        </p:txBody>
      </p:sp>
      <p:sp>
        <p:nvSpPr>
          <p:cNvPr id="8" name="TextBox 7"/>
          <p:cNvSpPr txBox="1"/>
          <p:nvPr/>
        </p:nvSpPr>
        <p:spPr>
          <a:xfrm>
            <a:off x="2194560" y="2286000"/>
            <a:ext cx="6217920" cy="1188720"/>
          </a:xfrm>
          <a:prstGeom prst="rect">
            <a:avLst/>
          </a:prstGeom>
          <a:noFill/>
        </p:spPr>
        <p:txBody>
          <a:bodyPr wrap="square" anchor="t" lIns="0" rIns="0" tIns="0" bIns="0">
            <a:spAutoFit/>
          </a:bodyPr>
          <a:lstStyle/>
          <a:p>
            <a:pPr algn="l"/>
            <a:r>
              <a:rPr sz="1600" b="0" i="0">
                <a:solidFill>
                  <a:srgbClr val="222233"/>
                </a:solidFill>
                <a:latin typeface="Calibri"/>
              </a:rPr>
              <a:t>Para 751 V a 15 kV: 1,5 m a partes fijas; 3,0 m a conductores móviles; 0,7 m es la frontera prohibida.</a:t>
            </a:r>
          </a:p>
        </p:txBody>
      </p:sp>
      <p:sp>
        <p:nvSpPr>
          <p:cNvPr id="9" name="Botón Ver resumen  →">
            <a:hlinkClick action="ppaction://hlinksldjump" r:id="rId3"/>
          </p:cNvPr>
          <p:cNvSpPr/>
          <p:nvPr/>
        </p:nvSpPr>
        <p:spPr>
          <a:xfrm>
            <a:off x="5852160" y="3886200"/>
            <a:ext cx="2743200" cy="548640"/>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Ver resumen  →</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 · PREGUNTA 4 DE 4</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Respuesta incorrecta</a:t>
            </a:r>
          </a:p>
        </p:txBody>
      </p:sp>
      <p:sp>
        <p:nvSpPr>
          <p:cNvPr id="4" name="Rounded Rectangle 3"/>
          <p:cNvSpPr/>
          <p:nvPr/>
        </p:nvSpPr>
        <p:spPr>
          <a:xfrm>
            <a:off x="548640" y="1463040"/>
            <a:ext cx="8046720" cy="2103120"/>
          </a:xfrm>
          <a:prstGeom prst="roundRect">
            <a:avLst>
              <a:gd name="adj" fmla="val 6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178308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Lightbulb_p.png"/>
          <p:cNvPicPr>
            <a:picLocks noChangeAspect="1"/>
          </p:cNvPicPr>
          <p:nvPr/>
        </p:nvPicPr>
        <p:blipFill>
          <a:blip r:embed="rId2"/>
          <a:stretch>
            <a:fillRect/>
          </a:stretch>
        </p:blipFill>
        <p:spPr>
          <a:xfrm>
            <a:off x="1110081" y="2024481"/>
            <a:ext cx="523036" cy="523036"/>
          </a:xfrm>
          <a:prstGeom prst="rect">
            <a:avLst/>
          </a:prstGeom>
        </p:spPr>
      </p:pic>
      <p:sp>
        <p:nvSpPr>
          <p:cNvPr id="7" name="TextBox 6"/>
          <p:cNvSpPr txBox="1"/>
          <p:nvPr/>
        </p:nvSpPr>
        <p:spPr>
          <a:xfrm>
            <a:off x="2194560" y="1737360"/>
            <a:ext cx="6217920" cy="457200"/>
          </a:xfrm>
          <a:prstGeom prst="rect">
            <a:avLst/>
          </a:prstGeom>
          <a:noFill/>
        </p:spPr>
        <p:txBody>
          <a:bodyPr wrap="square" anchor="t" lIns="0" rIns="0" tIns="0" bIns="0">
            <a:spAutoFit/>
          </a:bodyPr>
          <a:lstStyle/>
          <a:p>
            <a:pPr algn="l"/>
            <a:r>
              <a:rPr sz="1800" b="1" i="0">
                <a:solidFill>
                  <a:srgbClr val="4B2E83"/>
                </a:solidFill>
                <a:latin typeface="Calibri"/>
              </a:rPr>
              <a:t>Pista</a:t>
            </a:r>
          </a:p>
        </p:txBody>
      </p:sp>
      <p:sp>
        <p:nvSpPr>
          <p:cNvPr id="8" name="TextBox 7"/>
          <p:cNvSpPr txBox="1"/>
          <p:nvPr/>
        </p:nvSpPr>
        <p:spPr>
          <a:xfrm>
            <a:off x="2194560" y="2240280"/>
            <a:ext cx="6217920" cy="1188720"/>
          </a:xfrm>
          <a:prstGeom prst="rect">
            <a:avLst/>
          </a:prstGeom>
          <a:noFill/>
        </p:spPr>
        <p:txBody>
          <a:bodyPr wrap="square" anchor="t" lIns="0" rIns="0" tIns="0" bIns="0">
            <a:spAutoFit/>
          </a:bodyPr>
          <a:lstStyle/>
          <a:p>
            <a:pPr algn="l"/>
            <a:r>
              <a:rPr sz="1600" b="0" i="0">
                <a:solidFill>
                  <a:srgbClr val="222233"/>
                </a:solidFill>
                <a:latin typeface="Calibri"/>
              </a:rPr>
              <a:t>En la tabla de la NFPA 70E, busca la fila 751 V – 15 kV y la columna «partes de circuitos fijos».</a:t>
            </a:r>
          </a:p>
        </p:txBody>
      </p:sp>
      <p:sp>
        <p:nvSpPr>
          <p:cNvPr id="9" name="Botón Intentar de nuevo">
            <a:hlinkClick action="ppaction://hlinksldjump" r:id="rId4"/>
          </p:cNvPr>
          <p:cNvSpPr/>
          <p:nvPr/>
        </p:nvSpPr>
        <p:spPr>
          <a:xfrm>
            <a:off x="5852160" y="3886200"/>
            <a:ext cx="2743200" cy="54864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22233"/>
                </a:solidFill>
                <a:latin typeface="Calibri"/>
              </a:rPr>
              <a:t>Intentar de nuevo</a:t>
            </a:r>
          </a:p>
        </p:txBody>
      </p:sp>
      <p:sp>
        <p:nvSpPr>
          <p:cNvPr id="10" name="Botón Índice">
            <a:hlinkClick action="ppaction://hlinksldjump" r:id="rId5"/>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AUTOEVALUACIÓN</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Revisa tus respuestas</a:t>
            </a:r>
          </a:p>
        </p:txBody>
      </p:sp>
      <p:sp>
        <p:nvSpPr>
          <p:cNvPr id="4" name="Rounded Rectangle 3"/>
          <p:cNvSpPr/>
          <p:nvPr/>
        </p:nvSpPr>
        <p:spPr>
          <a:xfrm>
            <a:off x="548640" y="146304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31520" y="170992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B</a:t>
            </a:r>
          </a:p>
        </p:txBody>
      </p:sp>
      <p:sp>
        <p:nvSpPr>
          <p:cNvPr id="6" name="TextBox 5"/>
          <p:cNvSpPr txBox="1"/>
          <p:nvPr/>
        </p:nvSpPr>
        <p:spPr>
          <a:xfrm>
            <a:off x="1463040" y="155448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1: </a:t>
            </a:r>
            <a:r>
              <a:rPr sz="1400" b="1" i="0">
                <a:solidFill>
                  <a:srgbClr val="222233"/>
                </a:solidFill>
                <a:latin typeface="Calibri"/>
              </a:rPr>
              <a:t>Indirecto</a:t>
            </a:r>
          </a:p>
        </p:txBody>
      </p:sp>
      <p:sp>
        <p:nvSpPr>
          <p:cNvPr id="7" name="TextBox 6"/>
          <p:cNvSpPr txBox="1"/>
          <p:nvPr/>
        </p:nvSpPr>
        <p:spPr>
          <a:xfrm>
            <a:off x="1463040" y="1892808"/>
            <a:ext cx="6949440" cy="594360"/>
          </a:xfrm>
          <a:prstGeom prst="rect">
            <a:avLst/>
          </a:prstGeom>
          <a:noFill/>
        </p:spPr>
        <p:txBody>
          <a:bodyPr wrap="square" anchor="t" lIns="0" rIns="0" tIns="0" bIns="0">
            <a:spAutoFit/>
          </a:bodyPr>
          <a:lstStyle/>
          <a:p>
            <a:pPr algn="l"/>
            <a:r>
              <a:rPr sz="1300" b="0" i="0">
                <a:solidFill>
                  <a:srgbClr val="222233"/>
                </a:solidFill>
                <a:latin typeface="Calibri"/>
              </a:rPr>
              <a:t>Es indirecto: la carcasa normalmente no tiene tensión, pero se energizó por una falla.</a:t>
            </a:r>
          </a:p>
        </p:txBody>
      </p:sp>
      <p:sp>
        <p:nvSpPr>
          <p:cNvPr id="8" name="Rounded Rectangle 7"/>
          <p:cNvSpPr/>
          <p:nvPr/>
        </p:nvSpPr>
        <p:spPr>
          <a:xfrm>
            <a:off x="548640" y="265176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289864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B</a:t>
            </a:r>
          </a:p>
        </p:txBody>
      </p:sp>
      <p:sp>
        <p:nvSpPr>
          <p:cNvPr id="10" name="TextBox 9"/>
          <p:cNvSpPr txBox="1"/>
          <p:nvPr/>
        </p:nvSpPr>
        <p:spPr>
          <a:xfrm>
            <a:off x="1463040" y="274320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2: </a:t>
            </a:r>
            <a:r>
              <a:rPr sz="1400" b="1" i="0">
                <a:solidFill>
                  <a:srgbClr val="222233"/>
                </a:solidFill>
                <a:latin typeface="Calibri"/>
              </a:rPr>
              <a:t>30 mA</a:t>
            </a:r>
          </a:p>
        </p:txBody>
      </p:sp>
      <p:sp>
        <p:nvSpPr>
          <p:cNvPr id="11" name="TextBox 10"/>
          <p:cNvSpPr txBox="1"/>
          <p:nvPr/>
        </p:nvSpPr>
        <p:spPr>
          <a:xfrm>
            <a:off x="1463040" y="3081528"/>
            <a:ext cx="6949440" cy="594360"/>
          </a:xfrm>
          <a:prstGeom prst="rect">
            <a:avLst/>
          </a:prstGeom>
          <a:noFill/>
        </p:spPr>
        <p:txBody>
          <a:bodyPr wrap="square" anchor="t" lIns="0" rIns="0" tIns="0" bIns="0">
            <a:spAutoFit/>
          </a:bodyPr>
          <a:lstStyle/>
          <a:p>
            <a:pPr algn="l"/>
            <a:r>
              <a:rPr sz="1300" b="0" i="0">
                <a:solidFill>
                  <a:srgbClr val="222233"/>
                </a:solidFill>
                <a:latin typeface="Calibri"/>
              </a:rPr>
              <a:t>30 mA está bajo el umbral de fibrilación (≈40 mA) y protege ante contactos directos.</a:t>
            </a:r>
          </a:p>
        </p:txBody>
      </p:sp>
      <p:sp>
        <p:nvSpPr>
          <p:cNvPr id="12" name="Rounded Rectangle 11"/>
          <p:cNvSpPr/>
          <p:nvPr/>
        </p:nvSpPr>
        <p:spPr>
          <a:xfrm>
            <a:off x="548640" y="384048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408736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B</a:t>
            </a:r>
          </a:p>
        </p:txBody>
      </p:sp>
      <p:sp>
        <p:nvSpPr>
          <p:cNvPr id="14" name="TextBox 13"/>
          <p:cNvSpPr txBox="1"/>
          <p:nvPr/>
        </p:nvSpPr>
        <p:spPr>
          <a:xfrm>
            <a:off x="1463040" y="393192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3: </a:t>
            </a:r>
            <a:r>
              <a:rPr sz="1400" b="1" i="0">
                <a:solidFill>
                  <a:srgbClr val="222233"/>
                </a:solidFill>
                <a:latin typeface="Calibri"/>
              </a:rPr>
              <a:t>Desde la tierra hacia la última fase</a:t>
            </a:r>
          </a:p>
        </p:txBody>
      </p:sp>
      <p:sp>
        <p:nvSpPr>
          <p:cNvPr id="15" name="TextBox 14"/>
          <p:cNvSpPr txBox="1"/>
          <p:nvPr/>
        </p:nvSpPr>
        <p:spPr>
          <a:xfrm>
            <a:off x="1463040" y="4270248"/>
            <a:ext cx="6949440" cy="594360"/>
          </a:xfrm>
          <a:prstGeom prst="rect">
            <a:avLst/>
          </a:prstGeom>
          <a:noFill/>
        </p:spPr>
        <p:txBody>
          <a:bodyPr wrap="square" anchor="t" lIns="0" rIns="0" tIns="0" bIns="0">
            <a:spAutoFit/>
          </a:bodyPr>
          <a:lstStyle/>
          <a:p>
            <a:pPr algn="l"/>
            <a:r>
              <a:rPr sz="1300" b="0" i="0">
                <a:solidFill>
                  <a:srgbClr val="222233"/>
                </a:solidFill>
                <a:latin typeface="Calibri"/>
              </a:rPr>
              <a:t>Primero se conecta a tierra y luego a las fases; para retirarla se hace al revés.</a:t>
            </a:r>
          </a:p>
        </p:txBody>
      </p:sp>
      <p:sp>
        <p:nvSpPr>
          <p:cNvPr id="16" name="Rounded Rectangle 15"/>
          <p:cNvSpPr/>
          <p:nvPr/>
        </p:nvSpPr>
        <p:spPr>
          <a:xfrm>
            <a:off x="548640" y="5029200"/>
            <a:ext cx="8046720" cy="1051560"/>
          </a:xfrm>
          <a:prstGeom prst="roundRect">
            <a:avLst>
              <a:gd name="adj" fmla="val 10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31520" y="5276088"/>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C</a:t>
            </a:r>
          </a:p>
        </p:txBody>
      </p:sp>
      <p:sp>
        <p:nvSpPr>
          <p:cNvPr id="18" name="TextBox 17"/>
          <p:cNvSpPr txBox="1"/>
          <p:nvPr/>
        </p:nvSpPr>
        <p:spPr>
          <a:xfrm>
            <a:off x="1463040" y="5120640"/>
            <a:ext cx="6949440" cy="365760"/>
          </a:xfrm>
          <a:prstGeom prst="rect">
            <a:avLst/>
          </a:prstGeom>
          <a:noFill/>
        </p:spPr>
        <p:txBody>
          <a:bodyPr wrap="square" anchor="t" lIns="0" rIns="0" tIns="0" bIns="0">
            <a:spAutoFit/>
          </a:bodyPr>
          <a:lstStyle/>
          <a:p>
            <a:pPr algn="l"/>
            <a:r>
              <a:rPr sz="1400" b="1" i="0">
                <a:solidFill>
                  <a:srgbClr val="4B2E83"/>
                </a:solidFill>
                <a:latin typeface="Calibri"/>
              </a:rPr>
              <a:t>Pregunta 4: </a:t>
            </a:r>
            <a:r>
              <a:rPr sz="1400" b="1" i="0">
                <a:solidFill>
                  <a:srgbClr val="222233"/>
                </a:solidFill>
                <a:latin typeface="Calibri"/>
              </a:rPr>
              <a:t>1,5 m</a:t>
            </a:r>
          </a:p>
        </p:txBody>
      </p:sp>
      <p:sp>
        <p:nvSpPr>
          <p:cNvPr id="19" name="TextBox 18"/>
          <p:cNvSpPr txBox="1"/>
          <p:nvPr/>
        </p:nvSpPr>
        <p:spPr>
          <a:xfrm>
            <a:off x="1463040" y="5458968"/>
            <a:ext cx="6949440" cy="594360"/>
          </a:xfrm>
          <a:prstGeom prst="rect">
            <a:avLst/>
          </a:prstGeom>
          <a:noFill/>
        </p:spPr>
        <p:txBody>
          <a:bodyPr wrap="square" anchor="t" lIns="0" rIns="0" tIns="0" bIns="0">
            <a:spAutoFit/>
          </a:bodyPr>
          <a:lstStyle/>
          <a:p>
            <a:pPr algn="l"/>
            <a:r>
              <a:rPr sz="1300" b="0" i="0">
                <a:solidFill>
                  <a:srgbClr val="222233"/>
                </a:solidFill>
                <a:latin typeface="Calibri"/>
              </a:rPr>
              <a:t>Para 751 V a 15 kV: 1,5 m a partes fijas; 3,0 m a conductores móviles; 0,7 m es la frontera prohibida.</a:t>
            </a:r>
          </a:p>
        </p:txBody>
      </p:sp>
      <p:sp>
        <p:nvSpPr>
          <p:cNvPr id="20" name="Botón Índice">
            <a:hlinkClick action="ppaction://hlinksldjump" r:id="rId3"/>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125</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CASO PRÁCTICO</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Reemplazo de un fusible en 12 kV</a:t>
            </a:r>
          </a:p>
        </p:txBody>
      </p:sp>
      <p:sp>
        <p:nvSpPr>
          <p:cNvPr id="4" name="Rounded Rectangle 3"/>
          <p:cNvSpPr/>
          <p:nvPr/>
        </p:nvSpPr>
        <p:spPr>
          <a:xfrm>
            <a:off x="548640" y="1463040"/>
            <a:ext cx="8046720" cy="141732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783080"/>
            <a:ext cx="777240" cy="7772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HardHat_p.png"/>
          <p:cNvPicPr>
            <a:picLocks noChangeAspect="1"/>
          </p:cNvPicPr>
          <p:nvPr/>
        </p:nvPicPr>
        <p:blipFill>
          <a:blip r:embed="rId2"/>
          <a:stretch>
            <a:fillRect/>
          </a:stretch>
        </p:blipFill>
        <p:spPr>
          <a:xfrm>
            <a:off x="963777" y="1969617"/>
            <a:ext cx="404164" cy="404164"/>
          </a:xfrm>
          <a:prstGeom prst="rect">
            <a:avLst/>
          </a:prstGeom>
        </p:spPr>
      </p:pic>
      <p:sp>
        <p:nvSpPr>
          <p:cNvPr id="7" name="TextBox 6"/>
          <p:cNvSpPr txBox="1"/>
          <p:nvPr/>
        </p:nvSpPr>
        <p:spPr>
          <a:xfrm>
            <a:off x="1783080" y="1554480"/>
            <a:ext cx="6629400" cy="1234440"/>
          </a:xfrm>
          <a:prstGeom prst="rect">
            <a:avLst/>
          </a:prstGeom>
          <a:noFill/>
        </p:spPr>
        <p:txBody>
          <a:bodyPr wrap="square" anchor="ctr" lIns="0" rIns="0" tIns="0" bIns="0">
            <a:spAutoFit/>
          </a:bodyPr>
          <a:lstStyle/>
          <a:p>
            <a:pPr algn="l"/>
            <a:r>
              <a:rPr sz="1500" b="0" i="0">
                <a:solidFill>
                  <a:srgbClr val="222233"/>
                </a:solidFill>
                <a:latin typeface="Calibri"/>
              </a:rPr>
              <a:t>Una cuadrilla debe reemplazar un fusible quemado en un desconectador fusible de una línea aérea de 12 kV. Hay viento moderado y el poste también tiene red de baja tensión.</a:t>
            </a:r>
          </a:p>
        </p:txBody>
      </p:sp>
      <p:sp>
        <p:nvSpPr>
          <p:cNvPr id="8" name="TextBox 7"/>
          <p:cNvSpPr txBox="1"/>
          <p:nvPr/>
        </p:nvSpPr>
        <p:spPr>
          <a:xfrm>
            <a:off x="548640" y="3108960"/>
            <a:ext cx="8046720" cy="365760"/>
          </a:xfrm>
          <a:prstGeom prst="rect">
            <a:avLst/>
          </a:prstGeom>
          <a:noFill/>
        </p:spPr>
        <p:txBody>
          <a:bodyPr wrap="square" anchor="t" lIns="0" rIns="0" tIns="0" bIns="0">
            <a:spAutoFit/>
          </a:bodyPr>
          <a:lstStyle/>
          <a:p>
            <a:pPr algn="l"/>
            <a:r>
              <a:rPr sz="1700" b="1" i="0">
                <a:solidFill>
                  <a:srgbClr val="4B2E83"/>
                </a:solidFill>
                <a:latin typeface="Calibri"/>
              </a:rPr>
              <a:t>Antes de avanzar, responde por escrito:</a:t>
            </a:r>
          </a:p>
        </p:txBody>
      </p:sp>
      <p:sp>
        <p:nvSpPr>
          <p:cNvPr id="9" name="Oval 8"/>
          <p:cNvSpPr/>
          <p:nvPr/>
        </p:nvSpPr>
        <p:spPr>
          <a:xfrm>
            <a:off x="548640" y="3611880"/>
            <a:ext cx="457200" cy="45720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0" name="TextBox 9"/>
          <p:cNvSpPr txBox="1"/>
          <p:nvPr/>
        </p:nvSpPr>
        <p:spPr>
          <a:xfrm>
            <a:off x="1188720" y="3593592"/>
            <a:ext cx="7406640" cy="548640"/>
          </a:xfrm>
          <a:prstGeom prst="rect">
            <a:avLst/>
          </a:prstGeom>
          <a:noFill/>
        </p:spPr>
        <p:txBody>
          <a:bodyPr wrap="square" anchor="ctr" lIns="0" rIns="0" tIns="0" bIns="0">
            <a:spAutoFit/>
          </a:bodyPr>
          <a:lstStyle/>
          <a:p>
            <a:pPr algn="l"/>
            <a:r>
              <a:rPr sz="1500" b="0" i="0">
                <a:solidFill>
                  <a:srgbClr val="222233"/>
                </a:solidFill>
                <a:latin typeface="Calibri"/>
              </a:rPr>
              <a:t>¿Qué distancia mínima debes mantener respecto de las partes fijas energizadas?</a:t>
            </a:r>
          </a:p>
        </p:txBody>
      </p:sp>
      <p:sp>
        <p:nvSpPr>
          <p:cNvPr id="11" name="Oval 10"/>
          <p:cNvSpPr/>
          <p:nvPr/>
        </p:nvSpPr>
        <p:spPr>
          <a:xfrm>
            <a:off x="548640" y="4297680"/>
            <a:ext cx="457200" cy="45720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2" name="TextBox 11"/>
          <p:cNvSpPr txBox="1"/>
          <p:nvPr/>
        </p:nvSpPr>
        <p:spPr>
          <a:xfrm>
            <a:off x="1188720" y="4279392"/>
            <a:ext cx="7406640" cy="548640"/>
          </a:xfrm>
          <a:prstGeom prst="rect">
            <a:avLst/>
          </a:prstGeom>
          <a:noFill/>
        </p:spPr>
        <p:txBody>
          <a:bodyPr wrap="square" anchor="ctr" lIns="0" rIns="0" tIns="0" bIns="0">
            <a:spAutoFit/>
          </a:bodyPr>
          <a:lstStyle/>
          <a:p>
            <a:pPr algn="l"/>
            <a:r>
              <a:rPr sz="1500" b="0" i="0">
                <a:solidFill>
                  <a:srgbClr val="222233"/>
                </a:solidFill>
                <a:latin typeface="Calibri"/>
              </a:rPr>
              <a:t>¿Con qué herramienta abrirías el desconectador si existe carga?</a:t>
            </a:r>
          </a:p>
        </p:txBody>
      </p:sp>
      <p:sp>
        <p:nvSpPr>
          <p:cNvPr id="13" name="Oval 12"/>
          <p:cNvSpPr/>
          <p:nvPr/>
        </p:nvSpPr>
        <p:spPr>
          <a:xfrm>
            <a:off x="548640" y="4983480"/>
            <a:ext cx="457200" cy="45720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4" name="TextBox 13"/>
          <p:cNvSpPr txBox="1"/>
          <p:nvPr/>
        </p:nvSpPr>
        <p:spPr>
          <a:xfrm>
            <a:off x="1188720" y="4965192"/>
            <a:ext cx="7406640" cy="548640"/>
          </a:xfrm>
          <a:prstGeom prst="rect">
            <a:avLst/>
          </a:prstGeom>
          <a:noFill/>
        </p:spPr>
        <p:txBody>
          <a:bodyPr wrap="square" anchor="ctr" lIns="0" rIns="0" tIns="0" bIns="0">
            <a:spAutoFit/>
          </a:bodyPr>
          <a:lstStyle/>
          <a:p>
            <a:pPr algn="l"/>
            <a:r>
              <a:rPr sz="1500" b="0" i="0">
                <a:solidFill>
                  <a:srgbClr val="222233"/>
                </a:solidFill>
                <a:latin typeface="Calibri"/>
              </a:rPr>
              <a:t>¿Cómo confirmarías que el tramo quedó sin tensión?</a:t>
            </a:r>
          </a:p>
        </p:txBody>
      </p:sp>
      <p:sp>
        <p:nvSpPr>
          <p:cNvPr id="15" name="Oval 14"/>
          <p:cNvSpPr/>
          <p:nvPr/>
        </p:nvSpPr>
        <p:spPr>
          <a:xfrm>
            <a:off x="548640" y="5669280"/>
            <a:ext cx="457200" cy="45720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6" name="TextBox 15"/>
          <p:cNvSpPr txBox="1"/>
          <p:nvPr/>
        </p:nvSpPr>
        <p:spPr>
          <a:xfrm>
            <a:off x="1188720" y="5650992"/>
            <a:ext cx="7406640" cy="548640"/>
          </a:xfrm>
          <a:prstGeom prst="rect">
            <a:avLst/>
          </a:prstGeom>
          <a:noFill/>
        </p:spPr>
        <p:txBody>
          <a:bodyPr wrap="square" anchor="ctr" lIns="0" rIns="0" tIns="0" bIns="0">
            <a:spAutoFit/>
          </a:bodyPr>
          <a:lstStyle/>
          <a:p>
            <a:pPr algn="l"/>
            <a:r>
              <a:rPr sz="1500" b="0" i="0">
                <a:solidFill>
                  <a:srgbClr val="222233"/>
                </a:solidFill>
                <a:latin typeface="Calibri"/>
              </a:rPr>
              <a:t>¿En qué orden instalarías la puesta a tierra temporal y qué EPP usarías?</a:t>
            </a:r>
          </a:p>
        </p:txBody>
      </p:sp>
      <p:sp>
        <p:nvSpPr>
          <p:cNvPr id="17"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18"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19"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119</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MÓDULO 3 · CASO PRÁCTICO</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Solución propuesta</a:t>
            </a:r>
          </a:p>
        </p:txBody>
      </p:sp>
      <p:sp>
        <p:nvSpPr>
          <p:cNvPr id="4" name="Oval 3"/>
          <p:cNvSpPr/>
          <p:nvPr/>
        </p:nvSpPr>
        <p:spPr>
          <a:xfrm>
            <a:off x="548640" y="1554480"/>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UserShield_w.png"/>
          <p:cNvPicPr>
            <a:picLocks noChangeAspect="1"/>
          </p:cNvPicPr>
          <p:nvPr/>
        </p:nvPicPr>
        <p:blipFill>
          <a:blip r:embed="rId2"/>
          <a:stretch>
            <a:fillRect/>
          </a:stretch>
        </p:blipFill>
        <p:spPr>
          <a:xfrm>
            <a:off x="724204" y="1730044"/>
            <a:ext cx="380390" cy="380390"/>
          </a:xfrm>
          <a:prstGeom prst="rect">
            <a:avLst/>
          </a:prstGeom>
        </p:spPr>
      </p:pic>
      <p:sp>
        <p:nvSpPr>
          <p:cNvPr id="6" name="TextBox 5"/>
          <p:cNvSpPr txBox="1"/>
          <p:nvPr/>
        </p:nvSpPr>
        <p:spPr>
          <a:xfrm>
            <a:off x="1508760" y="1463040"/>
            <a:ext cx="7086600" cy="365760"/>
          </a:xfrm>
          <a:prstGeom prst="rect">
            <a:avLst/>
          </a:prstGeom>
          <a:noFill/>
        </p:spPr>
        <p:txBody>
          <a:bodyPr wrap="square" anchor="t" lIns="0" rIns="0" tIns="0" bIns="0">
            <a:spAutoFit/>
          </a:bodyPr>
          <a:lstStyle/>
          <a:p>
            <a:pPr algn="l"/>
            <a:r>
              <a:rPr sz="1700" b="1" i="0">
                <a:solidFill>
                  <a:srgbClr val="4B2E83"/>
                </a:solidFill>
                <a:latin typeface="Calibri"/>
              </a:rPr>
              <a:t>Distancia</a:t>
            </a:r>
          </a:p>
        </p:txBody>
      </p:sp>
      <p:sp>
        <p:nvSpPr>
          <p:cNvPr id="7" name="TextBox 6"/>
          <p:cNvSpPr txBox="1"/>
          <p:nvPr/>
        </p:nvSpPr>
        <p:spPr>
          <a:xfrm>
            <a:off x="1508760" y="1810512"/>
            <a:ext cx="7086600" cy="777240"/>
          </a:xfrm>
          <a:prstGeom prst="rect">
            <a:avLst/>
          </a:prstGeom>
          <a:noFill/>
        </p:spPr>
        <p:txBody>
          <a:bodyPr wrap="square" anchor="t" lIns="0" rIns="0" tIns="0" bIns="0">
            <a:spAutoFit/>
          </a:bodyPr>
          <a:lstStyle/>
          <a:p>
            <a:pPr algn="l"/>
            <a:r>
              <a:rPr sz="1400" b="0" i="0">
                <a:solidFill>
                  <a:srgbClr val="222233"/>
                </a:solidFill>
                <a:latin typeface="Calibri"/>
              </a:rPr>
              <a:t>Entre 751 V y 15 kV: 1,5 m a partes fijas (frontera limitada) y nunca menos de 0,7 m (frontera prohibida).</a:t>
            </a:r>
          </a:p>
        </p:txBody>
      </p:sp>
      <p:sp>
        <p:nvSpPr>
          <p:cNvPr id="8" name="Oval 7"/>
          <p:cNvSpPr/>
          <p:nvPr/>
        </p:nvSpPr>
        <p:spPr>
          <a:xfrm>
            <a:off x="548640" y="2743200"/>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aTools_w.png"/>
          <p:cNvPicPr>
            <a:picLocks noChangeAspect="1"/>
          </p:cNvPicPr>
          <p:nvPr/>
        </p:nvPicPr>
        <p:blipFill>
          <a:blip r:embed="rId3"/>
          <a:stretch>
            <a:fillRect/>
          </a:stretch>
        </p:blipFill>
        <p:spPr>
          <a:xfrm>
            <a:off x="724204" y="2918764"/>
            <a:ext cx="380390" cy="380390"/>
          </a:xfrm>
          <a:prstGeom prst="rect">
            <a:avLst/>
          </a:prstGeom>
        </p:spPr>
      </p:pic>
      <p:sp>
        <p:nvSpPr>
          <p:cNvPr id="10" name="TextBox 9"/>
          <p:cNvSpPr txBox="1"/>
          <p:nvPr/>
        </p:nvSpPr>
        <p:spPr>
          <a:xfrm>
            <a:off x="1508760" y="2651760"/>
            <a:ext cx="7086600" cy="365760"/>
          </a:xfrm>
          <a:prstGeom prst="rect">
            <a:avLst/>
          </a:prstGeom>
          <a:noFill/>
        </p:spPr>
        <p:txBody>
          <a:bodyPr wrap="square" anchor="t" lIns="0" rIns="0" tIns="0" bIns="0">
            <a:spAutoFit/>
          </a:bodyPr>
          <a:lstStyle/>
          <a:p>
            <a:pPr algn="l"/>
            <a:r>
              <a:rPr sz="1700" b="1" i="0">
                <a:solidFill>
                  <a:srgbClr val="4B2E83"/>
                </a:solidFill>
                <a:latin typeface="Calibri"/>
              </a:rPr>
              <a:t>Apertura con carga</a:t>
            </a:r>
          </a:p>
        </p:txBody>
      </p:sp>
      <p:sp>
        <p:nvSpPr>
          <p:cNvPr id="11" name="TextBox 10"/>
          <p:cNvSpPr txBox="1"/>
          <p:nvPr/>
        </p:nvSpPr>
        <p:spPr>
          <a:xfrm>
            <a:off x="1508760" y="2999232"/>
            <a:ext cx="7086600" cy="777240"/>
          </a:xfrm>
          <a:prstGeom prst="rect">
            <a:avLst/>
          </a:prstGeom>
          <a:noFill/>
        </p:spPr>
        <p:txBody>
          <a:bodyPr wrap="square" anchor="t" lIns="0" rIns="0" tIns="0" bIns="0">
            <a:spAutoFit/>
          </a:bodyPr>
          <a:lstStyle/>
          <a:p>
            <a:pPr algn="l"/>
            <a:r>
              <a:rPr sz="1400" b="0" i="0">
                <a:solidFill>
                  <a:srgbClr val="222233"/>
                </a:solidFill>
                <a:latin typeface="Calibri"/>
              </a:rPr>
              <a:t>Loadbuster montado en pértiga dieléctrica: interrumpe la carga e impide el arco.</a:t>
            </a:r>
          </a:p>
        </p:txBody>
      </p:sp>
      <p:sp>
        <p:nvSpPr>
          <p:cNvPr id="12" name="Oval 11"/>
          <p:cNvSpPr/>
          <p:nvPr/>
        </p:nvSpPr>
        <p:spPr>
          <a:xfrm>
            <a:off x="548640" y="3931920"/>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aBolt_w.png"/>
          <p:cNvPicPr>
            <a:picLocks noChangeAspect="1"/>
          </p:cNvPicPr>
          <p:nvPr/>
        </p:nvPicPr>
        <p:blipFill>
          <a:blip r:embed="rId4"/>
          <a:stretch>
            <a:fillRect/>
          </a:stretch>
        </p:blipFill>
        <p:spPr>
          <a:xfrm>
            <a:off x="724204" y="4107484"/>
            <a:ext cx="380390" cy="380390"/>
          </a:xfrm>
          <a:prstGeom prst="rect">
            <a:avLst/>
          </a:prstGeom>
        </p:spPr>
      </p:pic>
      <p:sp>
        <p:nvSpPr>
          <p:cNvPr id="14" name="TextBox 13"/>
          <p:cNvSpPr txBox="1"/>
          <p:nvPr/>
        </p:nvSpPr>
        <p:spPr>
          <a:xfrm>
            <a:off x="1508760" y="3840480"/>
            <a:ext cx="7086600" cy="365760"/>
          </a:xfrm>
          <a:prstGeom prst="rect">
            <a:avLst/>
          </a:prstGeom>
          <a:noFill/>
        </p:spPr>
        <p:txBody>
          <a:bodyPr wrap="square" anchor="t" lIns="0" rIns="0" tIns="0" bIns="0">
            <a:spAutoFit/>
          </a:bodyPr>
          <a:lstStyle/>
          <a:p>
            <a:pPr algn="l"/>
            <a:r>
              <a:rPr sz="1700" b="1" i="0">
                <a:solidFill>
                  <a:srgbClr val="4B2E83"/>
                </a:solidFill>
                <a:latin typeface="Calibri"/>
              </a:rPr>
              <a:t>Ausencia de tensión</a:t>
            </a:r>
          </a:p>
        </p:txBody>
      </p:sp>
      <p:sp>
        <p:nvSpPr>
          <p:cNvPr id="15" name="TextBox 14"/>
          <p:cNvSpPr txBox="1"/>
          <p:nvPr/>
        </p:nvSpPr>
        <p:spPr>
          <a:xfrm>
            <a:off x="1508760" y="4187952"/>
            <a:ext cx="7086600" cy="777240"/>
          </a:xfrm>
          <a:prstGeom prst="rect">
            <a:avLst/>
          </a:prstGeom>
          <a:noFill/>
        </p:spPr>
        <p:txBody>
          <a:bodyPr wrap="square" anchor="t" lIns="0" rIns="0" tIns="0" bIns="0">
            <a:spAutoFit/>
          </a:bodyPr>
          <a:lstStyle/>
          <a:p>
            <a:pPr algn="l"/>
            <a:r>
              <a:rPr sz="1400" b="0" i="0">
                <a:solidFill>
                  <a:srgbClr val="222233"/>
                </a:solidFill>
                <a:latin typeface="Calibri"/>
              </a:rPr>
              <a:t>Detector de tensión de MT en pértiga, probado antes y después de la medición.</a:t>
            </a:r>
          </a:p>
        </p:txBody>
      </p:sp>
      <p:sp>
        <p:nvSpPr>
          <p:cNvPr id="16" name="Oval 15"/>
          <p:cNvSpPr/>
          <p:nvPr/>
        </p:nvSpPr>
        <p:spPr>
          <a:xfrm>
            <a:off x="548640" y="5120640"/>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HardHat_w.png"/>
          <p:cNvPicPr>
            <a:picLocks noChangeAspect="1"/>
          </p:cNvPicPr>
          <p:nvPr/>
        </p:nvPicPr>
        <p:blipFill>
          <a:blip r:embed="rId5"/>
          <a:stretch>
            <a:fillRect/>
          </a:stretch>
        </p:blipFill>
        <p:spPr>
          <a:xfrm>
            <a:off x="724204" y="5296204"/>
            <a:ext cx="380390" cy="380390"/>
          </a:xfrm>
          <a:prstGeom prst="rect">
            <a:avLst/>
          </a:prstGeom>
        </p:spPr>
      </p:pic>
      <p:sp>
        <p:nvSpPr>
          <p:cNvPr id="18" name="TextBox 17"/>
          <p:cNvSpPr txBox="1"/>
          <p:nvPr/>
        </p:nvSpPr>
        <p:spPr>
          <a:xfrm>
            <a:off x="1508760" y="5029200"/>
            <a:ext cx="7086600" cy="365760"/>
          </a:xfrm>
          <a:prstGeom prst="rect">
            <a:avLst/>
          </a:prstGeom>
          <a:noFill/>
        </p:spPr>
        <p:txBody>
          <a:bodyPr wrap="square" anchor="t" lIns="0" rIns="0" tIns="0" bIns="0">
            <a:spAutoFit/>
          </a:bodyPr>
          <a:lstStyle/>
          <a:p>
            <a:pPr algn="l"/>
            <a:r>
              <a:rPr sz="1700" b="1" i="0">
                <a:solidFill>
                  <a:srgbClr val="4B2E83"/>
                </a:solidFill>
                <a:latin typeface="Calibri"/>
              </a:rPr>
              <a:t>Tierra y EPP</a:t>
            </a:r>
          </a:p>
        </p:txBody>
      </p:sp>
      <p:sp>
        <p:nvSpPr>
          <p:cNvPr id="19" name="TextBox 18"/>
          <p:cNvSpPr txBox="1"/>
          <p:nvPr/>
        </p:nvSpPr>
        <p:spPr>
          <a:xfrm>
            <a:off x="1508760" y="5376672"/>
            <a:ext cx="7086600" cy="777240"/>
          </a:xfrm>
          <a:prstGeom prst="rect">
            <a:avLst/>
          </a:prstGeom>
          <a:noFill/>
        </p:spPr>
        <p:txBody>
          <a:bodyPr wrap="square" anchor="t" lIns="0" rIns="0" tIns="0" bIns="0">
            <a:spAutoFit/>
          </a:bodyPr>
          <a:lstStyle/>
          <a:p>
            <a:pPr algn="l"/>
            <a:r>
              <a:rPr sz="1400" b="0" i="0">
                <a:solidFill>
                  <a:srgbClr val="222233"/>
                </a:solidFill>
                <a:latin typeface="Calibri"/>
              </a:rPr>
              <a:t>Puesta a tierra desde la tierra hacia las fases. Guantes dieléctricos de clase adecuada (p. ej. clase 2), careta y ropa ignífuga según la categoría.</a:t>
            </a:r>
          </a:p>
        </p:txBody>
      </p:sp>
      <p:sp>
        <p:nvSpPr>
          <p:cNvPr id="20" name="Botón Índice">
            <a:hlinkClick action="ppaction://hlinksldjump" r:id="rId7"/>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1"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2"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120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CIERRE DEL CURSO</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Evaluación final</a:t>
            </a:r>
          </a:p>
        </p:txBody>
      </p:sp>
      <p:sp>
        <p:nvSpPr>
          <p:cNvPr id="4" name="Rounded Rectangle 3"/>
          <p:cNvSpPr/>
          <p:nvPr/>
        </p:nvSpPr>
        <p:spPr>
          <a:xfrm>
            <a:off x="548640" y="1508760"/>
            <a:ext cx="3840480" cy="210312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1783080"/>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ClipboardCheck_w.png"/>
          <p:cNvPicPr>
            <a:picLocks noChangeAspect="1"/>
          </p:cNvPicPr>
          <p:nvPr/>
        </p:nvPicPr>
        <p:blipFill>
          <a:blip r:embed="rId2"/>
          <a:stretch>
            <a:fillRect/>
          </a:stretch>
        </p:blipFill>
        <p:spPr>
          <a:xfrm>
            <a:off x="998524" y="1958644"/>
            <a:ext cx="380390" cy="380390"/>
          </a:xfrm>
          <a:prstGeom prst="rect">
            <a:avLst/>
          </a:prstGeom>
        </p:spPr>
      </p:pic>
      <p:sp>
        <p:nvSpPr>
          <p:cNvPr id="7" name="TextBox 6"/>
          <p:cNvSpPr txBox="1"/>
          <p:nvPr/>
        </p:nvSpPr>
        <p:spPr>
          <a:xfrm>
            <a:off x="822959" y="2606039"/>
            <a:ext cx="3383280" cy="365760"/>
          </a:xfrm>
          <a:prstGeom prst="rect">
            <a:avLst/>
          </a:prstGeom>
          <a:noFill/>
        </p:spPr>
        <p:txBody>
          <a:bodyPr wrap="square" anchor="t" lIns="0" rIns="0" tIns="0" bIns="0">
            <a:spAutoFit/>
          </a:bodyPr>
          <a:lstStyle/>
          <a:p>
            <a:pPr algn="l"/>
            <a:r>
              <a:rPr sz="1700" b="1" i="0">
                <a:solidFill>
                  <a:srgbClr val="4B2E83"/>
                </a:solidFill>
                <a:latin typeface="Calibri"/>
              </a:rPr>
              <a:t>Formato</a:t>
            </a:r>
          </a:p>
        </p:txBody>
      </p:sp>
      <p:sp>
        <p:nvSpPr>
          <p:cNvPr id="8" name="TextBox 7"/>
          <p:cNvSpPr txBox="1"/>
          <p:nvPr/>
        </p:nvSpPr>
        <p:spPr>
          <a:xfrm>
            <a:off x="822959" y="2953512"/>
            <a:ext cx="3383280" cy="640080"/>
          </a:xfrm>
          <a:prstGeom prst="rect">
            <a:avLst/>
          </a:prstGeom>
          <a:noFill/>
        </p:spPr>
        <p:txBody>
          <a:bodyPr wrap="square" anchor="t" lIns="0" rIns="0" tIns="0" bIns="0">
            <a:spAutoFit/>
          </a:bodyPr>
          <a:lstStyle/>
          <a:p>
            <a:pPr algn="l"/>
            <a:r>
              <a:rPr sz="1400" b="0" i="0">
                <a:solidFill>
                  <a:srgbClr val="222233"/>
                </a:solidFill>
                <a:latin typeface="Calibri"/>
              </a:rPr>
              <a:t>Cuestionario en línea de selección múltiple sobre los tres módulos.</a:t>
            </a:r>
          </a:p>
        </p:txBody>
      </p:sp>
      <p:sp>
        <p:nvSpPr>
          <p:cNvPr id="9" name="Rounded Rectangle 8"/>
          <p:cNvSpPr/>
          <p:nvPr/>
        </p:nvSpPr>
        <p:spPr>
          <a:xfrm>
            <a:off x="4663440" y="1508760"/>
            <a:ext cx="3840480" cy="210312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37759" y="1783080"/>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aClock_w.png"/>
          <p:cNvPicPr>
            <a:picLocks noChangeAspect="1"/>
          </p:cNvPicPr>
          <p:nvPr/>
        </p:nvPicPr>
        <p:blipFill>
          <a:blip r:embed="rId3"/>
          <a:stretch>
            <a:fillRect/>
          </a:stretch>
        </p:blipFill>
        <p:spPr>
          <a:xfrm>
            <a:off x="5113324" y="1958644"/>
            <a:ext cx="380390" cy="380390"/>
          </a:xfrm>
          <a:prstGeom prst="rect">
            <a:avLst/>
          </a:prstGeom>
        </p:spPr>
      </p:pic>
      <p:sp>
        <p:nvSpPr>
          <p:cNvPr id="12" name="TextBox 11"/>
          <p:cNvSpPr txBox="1"/>
          <p:nvPr/>
        </p:nvSpPr>
        <p:spPr>
          <a:xfrm>
            <a:off x="4937759" y="2606039"/>
            <a:ext cx="3383280" cy="365760"/>
          </a:xfrm>
          <a:prstGeom prst="rect">
            <a:avLst/>
          </a:prstGeom>
          <a:noFill/>
        </p:spPr>
        <p:txBody>
          <a:bodyPr wrap="square" anchor="t" lIns="0" rIns="0" tIns="0" bIns="0">
            <a:spAutoFit/>
          </a:bodyPr>
          <a:lstStyle/>
          <a:p>
            <a:pPr algn="l"/>
            <a:r>
              <a:rPr sz="1700" b="1" i="0">
                <a:solidFill>
                  <a:srgbClr val="4B2E83"/>
                </a:solidFill>
                <a:latin typeface="Calibri"/>
              </a:rPr>
              <a:t>Tiempo</a:t>
            </a:r>
          </a:p>
        </p:txBody>
      </p:sp>
      <p:sp>
        <p:nvSpPr>
          <p:cNvPr id="13" name="TextBox 12"/>
          <p:cNvSpPr txBox="1"/>
          <p:nvPr/>
        </p:nvSpPr>
        <p:spPr>
          <a:xfrm>
            <a:off x="4937759" y="2953512"/>
            <a:ext cx="3383280" cy="640080"/>
          </a:xfrm>
          <a:prstGeom prst="rect">
            <a:avLst/>
          </a:prstGeom>
          <a:noFill/>
        </p:spPr>
        <p:txBody>
          <a:bodyPr wrap="square" anchor="t" lIns="0" rIns="0" tIns="0" bIns="0">
            <a:spAutoFit/>
          </a:bodyPr>
          <a:lstStyle/>
          <a:p>
            <a:pPr algn="l"/>
            <a:r>
              <a:rPr sz="1400" b="0" i="0">
                <a:solidFill>
                  <a:srgbClr val="222233"/>
                </a:solidFill>
                <a:latin typeface="Calibri"/>
              </a:rPr>
              <a:t>Dispones de 20 minutos y un solo intento por sesión.</a:t>
            </a:r>
          </a:p>
        </p:txBody>
      </p:sp>
      <p:sp>
        <p:nvSpPr>
          <p:cNvPr id="14" name="Rounded Rectangle 13"/>
          <p:cNvSpPr/>
          <p:nvPr/>
        </p:nvSpPr>
        <p:spPr>
          <a:xfrm>
            <a:off x="548640" y="3840479"/>
            <a:ext cx="3840480" cy="210312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59" y="4114799"/>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aAward_w.png"/>
          <p:cNvPicPr>
            <a:picLocks noChangeAspect="1"/>
          </p:cNvPicPr>
          <p:nvPr/>
        </p:nvPicPr>
        <p:blipFill>
          <a:blip r:embed="rId4"/>
          <a:stretch>
            <a:fillRect/>
          </a:stretch>
        </p:blipFill>
        <p:spPr>
          <a:xfrm>
            <a:off x="998524" y="4290364"/>
            <a:ext cx="380390" cy="380390"/>
          </a:xfrm>
          <a:prstGeom prst="rect">
            <a:avLst/>
          </a:prstGeom>
        </p:spPr>
      </p:pic>
      <p:sp>
        <p:nvSpPr>
          <p:cNvPr id="17" name="TextBox 16"/>
          <p:cNvSpPr txBox="1"/>
          <p:nvPr/>
        </p:nvSpPr>
        <p:spPr>
          <a:xfrm>
            <a:off x="822959" y="4937759"/>
            <a:ext cx="3383280" cy="365760"/>
          </a:xfrm>
          <a:prstGeom prst="rect">
            <a:avLst/>
          </a:prstGeom>
          <a:noFill/>
        </p:spPr>
        <p:txBody>
          <a:bodyPr wrap="square" anchor="t" lIns="0" rIns="0" tIns="0" bIns="0">
            <a:spAutoFit/>
          </a:bodyPr>
          <a:lstStyle/>
          <a:p>
            <a:pPr algn="l"/>
            <a:r>
              <a:rPr sz="1700" b="1" i="0">
                <a:solidFill>
                  <a:srgbClr val="4B2E83"/>
                </a:solidFill>
                <a:latin typeface="Calibri"/>
              </a:rPr>
              <a:t>Aprobación</a:t>
            </a:r>
          </a:p>
        </p:txBody>
      </p:sp>
      <p:sp>
        <p:nvSpPr>
          <p:cNvPr id="18" name="TextBox 17"/>
          <p:cNvSpPr txBox="1"/>
          <p:nvPr/>
        </p:nvSpPr>
        <p:spPr>
          <a:xfrm>
            <a:off x="822959" y="5285231"/>
            <a:ext cx="3383280" cy="640080"/>
          </a:xfrm>
          <a:prstGeom prst="rect">
            <a:avLst/>
          </a:prstGeom>
          <a:noFill/>
        </p:spPr>
        <p:txBody>
          <a:bodyPr wrap="square" anchor="t" lIns="0" rIns="0" tIns="0" bIns="0">
            <a:spAutoFit/>
          </a:bodyPr>
          <a:lstStyle/>
          <a:p>
            <a:pPr algn="l"/>
            <a:r>
              <a:rPr sz="1400" b="0" i="0">
                <a:solidFill>
                  <a:srgbClr val="222233"/>
                </a:solidFill>
                <a:latin typeface="Calibri"/>
              </a:rPr>
              <a:t>Nota mínima 4,0 (escala de 1 a 7, 60 % de exigencia) para certificar.</a:t>
            </a:r>
          </a:p>
        </p:txBody>
      </p:sp>
      <p:sp>
        <p:nvSpPr>
          <p:cNvPr id="19" name="Rounded Rectangle 18"/>
          <p:cNvSpPr/>
          <p:nvPr/>
        </p:nvSpPr>
        <p:spPr>
          <a:xfrm>
            <a:off x="4663440" y="3840479"/>
            <a:ext cx="3840480" cy="2103120"/>
          </a:xfrm>
          <a:prstGeom prst="roundRect">
            <a:avLst>
              <a:gd name="adj" fmla="val 8000"/>
            </a:avLst>
          </a:prstGeom>
          <a:solidFill>
            <a:srgbClr val="F1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937759" y="4114799"/>
            <a:ext cx="731520" cy="7315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aRedo_w.png"/>
          <p:cNvPicPr>
            <a:picLocks noChangeAspect="1"/>
          </p:cNvPicPr>
          <p:nvPr/>
        </p:nvPicPr>
        <p:blipFill>
          <a:blip r:embed="rId5"/>
          <a:stretch>
            <a:fillRect/>
          </a:stretch>
        </p:blipFill>
        <p:spPr>
          <a:xfrm>
            <a:off x="5113324" y="4290364"/>
            <a:ext cx="380390" cy="380390"/>
          </a:xfrm>
          <a:prstGeom prst="rect">
            <a:avLst/>
          </a:prstGeom>
        </p:spPr>
      </p:pic>
      <p:sp>
        <p:nvSpPr>
          <p:cNvPr id="22" name="TextBox 21"/>
          <p:cNvSpPr txBox="1"/>
          <p:nvPr/>
        </p:nvSpPr>
        <p:spPr>
          <a:xfrm>
            <a:off x="4937759" y="4937759"/>
            <a:ext cx="3383280" cy="365760"/>
          </a:xfrm>
          <a:prstGeom prst="rect">
            <a:avLst/>
          </a:prstGeom>
          <a:noFill/>
        </p:spPr>
        <p:txBody>
          <a:bodyPr wrap="square" anchor="t" lIns="0" rIns="0" tIns="0" bIns="0">
            <a:spAutoFit/>
          </a:bodyPr>
          <a:lstStyle/>
          <a:p>
            <a:pPr algn="l"/>
            <a:r>
              <a:rPr sz="1700" b="1" i="0">
                <a:solidFill>
                  <a:srgbClr val="4B2E83"/>
                </a:solidFill>
                <a:latin typeface="Calibri"/>
              </a:rPr>
              <a:t>Antes de rendir</a:t>
            </a:r>
          </a:p>
        </p:txBody>
      </p:sp>
      <p:sp>
        <p:nvSpPr>
          <p:cNvPr id="23" name="TextBox 22"/>
          <p:cNvSpPr txBox="1"/>
          <p:nvPr/>
        </p:nvSpPr>
        <p:spPr>
          <a:xfrm>
            <a:off x="4937759" y="5285231"/>
            <a:ext cx="3383280" cy="640080"/>
          </a:xfrm>
          <a:prstGeom prst="rect">
            <a:avLst/>
          </a:prstGeom>
          <a:noFill/>
        </p:spPr>
        <p:txBody>
          <a:bodyPr wrap="square" anchor="t" lIns="0" rIns="0" tIns="0" bIns="0">
            <a:spAutoFit/>
          </a:bodyPr>
          <a:lstStyle/>
          <a:p>
            <a:pPr algn="l"/>
            <a:r>
              <a:rPr sz="1400" b="0" i="0">
                <a:solidFill>
                  <a:srgbClr val="222233"/>
                </a:solidFill>
                <a:latin typeface="Calibri"/>
              </a:rPr>
              <a:t>Repasa las «Ideas clave» y tus autoevaluaciones de cada módulo.</a:t>
            </a:r>
          </a:p>
        </p:txBody>
      </p:sp>
      <p:sp>
        <p:nvSpPr>
          <p:cNvPr id="24" name="Botón Índice">
            <a:hlinkClick action="ppaction://hlinksldjump" r:id="rId7"/>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5"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26"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126</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RECURSOS</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Glosario</a:t>
            </a:r>
          </a:p>
        </p:txBody>
      </p:sp>
      <p:graphicFrame>
        <p:nvGraphicFramePr>
          <p:cNvPr id="4" name="Table 3"/>
          <p:cNvGraphicFramePr>
            <a:graphicFrameLocks noGrp="1"/>
          </p:cNvGraphicFramePr>
          <p:nvPr/>
        </p:nvGraphicFramePr>
        <p:xfrm>
          <a:off x="548640" y="1463040"/>
          <a:ext cx="8046720" cy="4846320"/>
        </p:xfrm>
        <a:graphic>
          <a:graphicData uri="http://schemas.openxmlformats.org/drawingml/2006/table">
            <a:tbl>
              <a:tblPr>
                <a:tableStyleId>{5C22544A-7EE6-4342-B048-85BDC9FD1C3A}</a:tableStyleId>
              </a:tblPr>
              <a:tblGrid>
                <a:gridCol w="2377440"/>
                <a:gridCol w="5669280"/>
              </a:tblGrid>
              <a:tr h="538480">
                <a:tc>
                  <a:txBody>
                    <a:bodyPr/>
                    <a:lstStyle/>
                    <a:p>
                      <a:r>
                        <a:rPr sz="1300" b="1">
                          <a:solidFill>
                            <a:srgbClr val="4B2E83"/>
                          </a:solidFill>
                          <a:latin typeface="Calibri"/>
                        </a:rPr>
                        <a:t>Arco eléctrico</a:t>
                      </a:r>
                    </a:p>
                  </a:txBody>
                  <a:tcPr marL="109728" marR="109728" anchor="ctr">
                    <a:solidFill>
                      <a:srgbClr val="F1ECF8"/>
                    </a:solidFill>
                  </a:tcPr>
                </a:tc>
                <a:tc>
                  <a:txBody>
                    <a:bodyPr/>
                    <a:lstStyle/>
                    <a:p>
                      <a:r>
                        <a:rPr sz="1300" b="0">
                          <a:solidFill>
                            <a:srgbClr val="222233"/>
                          </a:solidFill>
                          <a:latin typeface="Calibri"/>
                        </a:rPr>
                        <a:t>Descarga a través del aire entre conductores de distinto potencial, con liberación de calor, luz y presión.</a:t>
                      </a:r>
                    </a:p>
                  </a:txBody>
                  <a:tcPr marL="109728" marR="109728" anchor="ctr">
                    <a:solidFill>
                      <a:srgbClr val="F1ECF8"/>
                    </a:solidFill>
                  </a:tcPr>
                </a:tc>
              </a:tr>
              <a:tr h="538480">
                <a:tc>
                  <a:txBody>
                    <a:bodyPr/>
                    <a:lstStyle/>
                    <a:p>
                      <a:r>
                        <a:rPr sz="1300" b="1">
                          <a:solidFill>
                            <a:srgbClr val="4B2E83"/>
                          </a:solidFill>
                          <a:latin typeface="Calibri"/>
                        </a:rPr>
                        <a:t>Energía incidente</a:t>
                      </a:r>
                    </a:p>
                  </a:txBody>
                  <a:tcPr marL="109728" marR="109728" anchor="ctr">
                    <a:solidFill>
                      <a:srgbClr val="FFFFFF"/>
                    </a:solidFill>
                  </a:tcPr>
                </a:tc>
                <a:tc>
                  <a:txBody>
                    <a:bodyPr/>
                    <a:lstStyle/>
                    <a:p>
                      <a:r>
                        <a:rPr sz="1300" b="0">
                          <a:solidFill>
                            <a:srgbClr val="222233"/>
                          </a:solidFill>
                          <a:latin typeface="Calibri"/>
                        </a:rPr>
                        <a:t>Energía térmica que recibe una superficie a cierta distancia del arco (cal/cm²).</a:t>
                      </a:r>
                    </a:p>
                  </a:txBody>
                  <a:tcPr marL="109728" marR="109728" anchor="ctr">
                    <a:solidFill>
                      <a:srgbClr val="FFFFFF"/>
                    </a:solidFill>
                  </a:tcPr>
                </a:tc>
              </a:tr>
              <a:tr h="538480">
                <a:tc>
                  <a:txBody>
                    <a:bodyPr/>
                    <a:lstStyle/>
                    <a:p>
                      <a:r>
                        <a:rPr sz="1300" b="1">
                          <a:solidFill>
                            <a:srgbClr val="4B2E83"/>
                          </a:solidFill>
                          <a:latin typeface="Calibri"/>
                        </a:rPr>
                        <a:t>Contacto directo</a:t>
                      </a:r>
                    </a:p>
                  </a:txBody>
                  <a:tcPr marL="109728" marR="109728" anchor="ctr">
                    <a:solidFill>
                      <a:srgbClr val="F1ECF8"/>
                    </a:solidFill>
                  </a:tcPr>
                </a:tc>
                <a:tc>
                  <a:txBody>
                    <a:bodyPr/>
                    <a:lstStyle/>
                    <a:p>
                      <a:r>
                        <a:rPr sz="1300" b="0">
                          <a:solidFill>
                            <a:srgbClr val="222233"/>
                          </a:solidFill>
                          <a:latin typeface="Calibri"/>
                        </a:rPr>
                        <a:t>Contacto con una parte normalmente energizada.</a:t>
                      </a:r>
                    </a:p>
                  </a:txBody>
                  <a:tcPr marL="109728" marR="109728" anchor="ctr">
                    <a:solidFill>
                      <a:srgbClr val="F1ECF8"/>
                    </a:solidFill>
                  </a:tcPr>
                </a:tc>
              </a:tr>
              <a:tr h="538480">
                <a:tc>
                  <a:txBody>
                    <a:bodyPr/>
                    <a:lstStyle/>
                    <a:p>
                      <a:r>
                        <a:rPr sz="1300" b="1">
                          <a:solidFill>
                            <a:srgbClr val="4B2E83"/>
                          </a:solidFill>
                          <a:latin typeface="Calibri"/>
                        </a:rPr>
                        <a:t>Contacto indirecto</a:t>
                      </a:r>
                    </a:p>
                  </a:txBody>
                  <a:tcPr marL="109728" marR="109728" anchor="ctr">
                    <a:solidFill>
                      <a:srgbClr val="FFFFFF"/>
                    </a:solidFill>
                  </a:tcPr>
                </a:tc>
                <a:tc>
                  <a:txBody>
                    <a:bodyPr/>
                    <a:lstStyle/>
                    <a:p>
                      <a:r>
                        <a:rPr sz="1300" b="0">
                          <a:solidFill>
                            <a:srgbClr val="222233"/>
                          </a:solidFill>
                          <a:latin typeface="Calibri"/>
                        </a:rPr>
                        <a:t>Contacto con una masa energizada por una falla.</a:t>
                      </a:r>
                    </a:p>
                  </a:txBody>
                  <a:tcPr marL="109728" marR="109728" anchor="ctr">
                    <a:solidFill>
                      <a:srgbClr val="FFFFFF"/>
                    </a:solidFill>
                  </a:tcPr>
                </a:tc>
              </a:tr>
              <a:tr h="538480">
                <a:tc>
                  <a:txBody>
                    <a:bodyPr/>
                    <a:lstStyle/>
                    <a:p>
                      <a:r>
                        <a:rPr sz="1300" b="1">
                          <a:solidFill>
                            <a:srgbClr val="4B2E83"/>
                          </a:solidFill>
                          <a:latin typeface="Calibri"/>
                        </a:rPr>
                        <a:t>Protector diferencial</a:t>
                      </a:r>
                    </a:p>
                  </a:txBody>
                  <a:tcPr marL="109728" marR="109728" anchor="ctr">
                    <a:solidFill>
                      <a:srgbClr val="F1ECF8"/>
                    </a:solidFill>
                  </a:tcPr>
                </a:tc>
                <a:tc>
                  <a:txBody>
                    <a:bodyPr/>
                    <a:lstStyle/>
                    <a:p>
                      <a:r>
                        <a:rPr sz="1300" b="0">
                          <a:solidFill>
                            <a:srgbClr val="222233"/>
                          </a:solidFill>
                          <a:latin typeface="Calibri"/>
                        </a:rPr>
                        <a:t>Dispositivo que desconecta al detectar corrientes de fuga a tierra (30 mA para personas).</a:t>
                      </a:r>
                    </a:p>
                  </a:txBody>
                  <a:tcPr marL="109728" marR="109728" anchor="ctr">
                    <a:solidFill>
                      <a:srgbClr val="F1ECF8"/>
                    </a:solidFill>
                  </a:tcPr>
                </a:tc>
              </a:tr>
              <a:tr h="538480">
                <a:tc>
                  <a:txBody>
                    <a:bodyPr/>
                    <a:lstStyle/>
                    <a:p>
                      <a:r>
                        <a:rPr sz="1300" b="1">
                          <a:solidFill>
                            <a:srgbClr val="4B2E83"/>
                          </a:solidFill>
                          <a:latin typeface="Calibri"/>
                        </a:rPr>
                        <a:t>Frontera de aproximación</a:t>
                      </a:r>
                    </a:p>
                  </a:txBody>
                  <a:tcPr marL="109728" marR="109728" anchor="ctr">
                    <a:solidFill>
                      <a:srgbClr val="FFFFFF"/>
                    </a:solidFill>
                  </a:tcPr>
                </a:tc>
                <a:tc>
                  <a:txBody>
                    <a:bodyPr/>
                    <a:lstStyle/>
                    <a:p>
                      <a:r>
                        <a:rPr sz="1300" b="0">
                          <a:solidFill>
                            <a:srgbClr val="222233"/>
                          </a:solidFill>
                          <a:latin typeface="Calibri"/>
                        </a:rPr>
                        <a:t>Distancia límite a partes energizadas definida por la NFPA 70E según la tensión.</a:t>
                      </a:r>
                    </a:p>
                  </a:txBody>
                  <a:tcPr marL="109728" marR="109728" anchor="ctr">
                    <a:solidFill>
                      <a:srgbClr val="FFFFFF"/>
                    </a:solidFill>
                  </a:tcPr>
                </a:tc>
              </a:tr>
              <a:tr h="538480">
                <a:tc>
                  <a:txBody>
                    <a:bodyPr/>
                    <a:lstStyle/>
                    <a:p>
                      <a:r>
                        <a:rPr sz="1300" b="1">
                          <a:solidFill>
                            <a:srgbClr val="4B2E83"/>
                          </a:solidFill>
                          <a:latin typeface="Calibri"/>
                        </a:rPr>
                        <a:t>Puesta a tierra temporal</a:t>
                      </a:r>
                    </a:p>
                  </a:txBody>
                  <a:tcPr marL="109728" marR="109728" anchor="ctr">
                    <a:solidFill>
                      <a:srgbClr val="F1ECF8"/>
                    </a:solidFill>
                  </a:tcPr>
                </a:tc>
                <a:tc>
                  <a:txBody>
                    <a:bodyPr/>
                    <a:lstStyle/>
                    <a:p>
                      <a:r>
                        <a:rPr sz="1300" b="0">
                          <a:solidFill>
                            <a:srgbClr val="222233"/>
                          </a:solidFill>
                          <a:latin typeface="Calibri"/>
                        </a:rPr>
                        <a:t>Conexión provisoria a tierra de una línea desenergizada para proteger al trabajador.</a:t>
                      </a:r>
                    </a:p>
                  </a:txBody>
                  <a:tcPr marL="109728" marR="109728" anchor="ctr">
                    <a:solidFill>
                      <a:srgbClr val="F1ECF8"/>
                    </a:solidFill>
                  </a:tcPr>
                </a:tc>
              </a:tr>
              <a:tr h="538480">
                <a:tc>
                  <a:txBody>
                    <a:bodyPr/>
                    <a:lstStyle/>
                    <a:p>
                      <a:r>
                        <a:rPr sz="1300" b="1">
                          <a:solidFill>
                            <a:srgbClr val="4B2E83"/>
                          </a:solidFill>
                          <a:latin typeface="Calibri"/>
                        </a:rPr>
                        <a:t>Loadbuster</a:t>
                      </a:r>
                    </a:p>
                  </a:txBody>
                  <a:tcPr marL="109728" marR="109728" anchor="ctr">
                    <a:solidFill>
                      <a:srgbClr val="FFFFFF"/>
                    </a:solidFill>
                  </a:tcPr>
                </a:tc>
                <a:tc>
                  <a:txBody>
                    <a:bodyPr/>
                    <a:lstStyle/>
                    <a:p>
                      <a:r>
                        <a:rPr sz="1300" b="0">
                          <a:solidFill>
                            <a:srgbClr val="222233"/>
                          </a:solidFill>
                          <a:latin typeface="Calibri"/>
                        </a:rPr>
                        <a:t>Herramienta portátil para abrir con carga sin generar arco.</a:t>
                      </a:r>
                    </a:p>
                  </a:txBody>
                  <a:tcPr marL="109728" marR="109728" anchor="ctr">
                    <a:solidFill>
                      <a:srgbClr val="FFFFFF"/>
                    </a:solidFill>
                  </a:tcPr>
                </a:tc>
              </a:tr>
              <a:tr h="538480">
                <a:tc>
                  <a:txBody>
                    <a:bodyPr/>
                    <a:lstStyle/>
                    <a:p>
                      <a:r>
                        <a:rPr sz="1300" b="1">
                          <a:solidFill>
                            <a:srgbClr val="4B2E83"/>
                          </a:solidFill>
                          <a:latin typeface="Calibri"/>
                        </a:rPr>
                        <a:t>Reconectador</a:t>
                      </a:r>
                    </a:p>
                  </a:txBody>
                  <a:tcPr marL="109728" marR="109728" anchor="ctr">
                    <a:solidFill>
                      <a:srgbClr val="F1ECF8"/>
                    </a:solidFill>
                  </a:tcPr>
                </a:tc>
                <a:tc>
                  <a:txBody>
                    <a:bodyPr/>
                    <a:lstStyle/>
                    <a:p>
                      <a:r>
                        <a:rPr sz="1300" b="0">
                          <a:solidFill>
                            <a:srgbClr val="222233"/>
                          </a:solidFill>
                          <a:latin typeface="Calibri"/>
                        </a:rPr>
                        <a:t>Interruptor automático que reconecta la línea ante fallas temporales.</a:t>
                      </a:r>
                    </a:p>
                  </a:txBody>
                  <a:tcPr marL="109728" marR="109728" anchor="ctr">
                    <a:solidFill>
                      <a:srgbClr val="F1ECF8"/>
                    </a:solidFill>
                  </a:tcPr>
                </a:tc>
              </a:tr>
            </a:tbl>
          </a:graphicData>
        </a:graphic>
      </p:graphicFrame>
      <p:sp>
        <p:nvSpPr>
          <p:cNvPr id="5" name="Botón Índice">
            <a:hlinkClick action="ppaction://hlinksldjump" r:id="rId3"/>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6"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7"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127</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8046720" cy="274320"/>
          </a:xfrm>
          <a:prstGeom prst="rect">
            <a:avLst/>
          </a:prstGeom>
          <a:noFill/>
        </p:spPr>
        <p:txBody>
          <a:bodyPr wrap="square" anchor="t" lIns="0" rIns="0" tIns="0" bIns="0">
            <a:spAutoFit/>
          </a:bodyPr>
          <a:lstStyle/>
          <a:p>
            <a:pPr algn="l"/>
            <a:r>
              <a:rPr sz="1200" b="1" i="0">
                <a:solidFill>
                  <a:srgbClr val="6A4C9C"/>
                </a:solidFill>
                <a:latin typeface="Calibri"/>
              </a:rPr>
              <a:t>RECURSOS</a:t>
            </a:r>
          </a:p>
        </p:txBody>
      </p:sp>
      <p:sp>
        <p:nvSpPr>
          <p:cNvPr id="3" name="Título"/>
          <p:cNvSpPr txBox="1"/>
          <p:nvPr/>
        </p:nvSpPr>
        <p:spPr>
          <a:xfrm>
            <a:off x="548640" y="566928"/>
            <a:ext cx="8046720" cy="685800"/>
          </a:xfrm>
          <a:prstGeom prst="rect">
            <a:avLst/>
          </a:prstGeom>
          <a:noFill/>
        </p:spPr>
        <p:txBody>
          <a:bodyPr wrap="square" anchor="t" lIns="0" rIns="0" tIns="0" bIns="0">
            <a:spAutoFit/>
          </a:bodyPr>
          <a:lstStyle/>
          <a:p>
            <a:pPr algn="l"/>
            <a:r>
              <a:rPr sz="3000" b="1" i="0">
                <a:solidFill>
                  <a:srgbClr val="4B2E83"/>
                </a:solidFill>
                <a:latin typeface="Calibri"/>
              </a:rPr>
              <a:t>Normativa y referencias</a:t>
            </a:r>
          </a:p>
        </p:txBody>
      </p:sp>
      <p:sp>
        <p:nvSpPr>
          <p:cNvPr id="4" name="Oval 3"/>
          <p:cNvSpPr/>
          <p:nvPr/>
        </p:nvSpPr>
        <p:spPr>
          <a:xfrm>
            <a:off x="548640" y="1508760"/>
            <a:ext cx="502920" cy="5029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BookOpen_w.png"/>
          <p:cNvPicPr>
            <a:picLocks noChangeAspect="1"/>
          </p:cNvPicPr>
          <p:nvPr/>
        </p:nvPicPr>
        <p:blipFill>
          <a:blip r:embed="rId2"/>
          <a:stretch>
            <a:fillRect/>
          </a:stretch>
        </p:blipFill>
        <p:spPr>
          <a:xfrm>
            <a:off x="669340" y="1629460"/>
            <a:ext cx="261518" cy="261518"/>
          </a:xfrm>
          <a:prstGeom prst="rect">
            <a:avLst/>
          </a:prstGeom>
        </p:spPr>
      </p:pic>
      <p:sp>
        <p:nvSpPr>
          <p:cNvPr id="6" name="TextBox 5"/>
          <p:cNvSpPr txBox="1"/>
          <p:nvPr/>
        </p:nvSpPr>
        <p:spPr>
          <a:xfrm>
            <a:off x="1234440" y="1463040"/>
            <a:ext cx="7360920" cy="320040"/>
          </a:xfrm>
          <a:prstGeom prst="rect">
            <a:avLst/>
          </a:prstGeom>
          <a:noFill/>
        </p:spPr>
        <p:txBody>
          <a:bodyPr wrap="square" anchor="t" lIns="0" rIns="0" tIns="0" bIns="0">
            <a:spAutoFit/>
          </a:bodyPr>
          <a:lstStyle/>
          <a:p>
            <a:pPr algn="l"/>
            <a:r>
              <a:rPr sz="1500" b="1" i="0">
                <a:solidFill>
                  <a:srgbClr val="4B2E83"/>
                </a:solidFill>
                <a:latin typeface="Calibri"/>
              </a:rPr>
              <a:t>DS 8 (SEC)</a:t>
            </a:r>
          </a:p>
        </p:txBody>
      </p:sp>
      <p:sp>
        <p:nvSpPr>
          <p:cNvPr id="7" name="TextBox 6"/>
          <p:cNvSpPr txBox="1"/>
          <p:nvPr/>
        </p:nvSpPr>
        <p:spPr>
          <a:xfrm>
            <a:off x="1234440" y="1764792"/>
            <a:ext cx="7360920" cy="502920"/>
          </a:xfrm>
          <a:prstGeom prst="rect">
            <a:avLst/>
          </a:prstGeom>
          <a:noFill/>
        </p:spPr>
        <p:txBody>
          <a:bodyPr wrap="square" anchor="t" lIns="0" rIns="0" tIns="0" bIns="0">
            <a:spAutoFit/>
          </a:bodyPr>
          <a:lstStyle/>
          <a:p>
            <a:pPr algn="l"/>
            <a:r>
              <a:rPr sz="1300" b="0" i="0">
                <a:solidFill>
                  <a:srgbClr val="222233"/>
                </a:solidFill>
                <a:latin typeface="Calibri"/>
              </a:rPr>
              <a:t>Reglamento de Seguridad de las Instalaciones de Consumo de Energía Eléctrica y pliegos RIC N° 1 al 19 (RIC N° 5 y N° 17).</a:t>
            </a:r>
          </a:p>
        </p:txBody>
      </p:sp>
      <p:sp>
        <p:nvSpPr>
          <p:cNvPr id="8" name="Oval 7"/>
          <p:cNvSpPr/>
          <p:nvPr/>
        </p:nvSpPr>
        <p:spPr>
          <a:xfrm>
            <a:off x="548640" y="2313432"/>
            <a:ext cx="502920" cy="5029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aBookOpen_w.png"/>
          <p:cNvPicPr>
            <a:picLocks noChangeAspect="1"/>
          </p:cNvPicPr>
          <p:nvPr/>
        </p:nvPicPr>
        <p:blipFill>
          <a:blip r:embed="rId2"/>
          <a:stretch>
            <a:fillRect/>
          </a:stretch>
        </p:blipFill>
        <p:spPr>
          <a:xfrm>
            <a:off x="669340" y="2434132"/>
            <a:ext cx="261518" cy="261518"/>
          </a:xfrm>
          <a:prstGeom prst="rect">
            <a:avLst/>
          </a:prstGeom>
        </p:spPr>
      </p:pic>
      <p:sp>
        <p:nvSpPr>
          <p:cNvPr id="10" name="TextBox 9"/>
          <p:cNvSpPr txBox="1"/>
          <p:nvPr/>
        </p:nvSpPr>
        <p:spPr>
          <a:xfrm>
            <a:off x="1234440" y="2267712"/>
            <a:ext cx="7360920" cy="320040"/>
          </a:xfrm>
          <a:prstGeom prst="rect">
            <a:avLst/>
          </a:prstGeom>
          <a:noFill/>
        </p:spPr>
        <p:txBody>
          <a:bodyPr wrap="square" anchor="t" lIns="0" rIns="0" tIns="0" bIns="0">
            <a:spAutoFit/>
          </a:bodyPr>
          <a:lstStyle/>
          <a:p>
            <a:pPr algn="l"/>
            <a:r>
              <a:rPr sz="1500" b="1" i="0">
                <a:solidFill>
                  <a:srgbClr val="4B2E83"/>
                </a:solidFill>
                <a:latin typeface="Calibri"/>
              </a:rPr>
              <a:t>DS 109 (Min. Energía)</a:t>
            </a:r>
          </a:p>
        </p:txBody>
      </p:sp>
      <p:sp>
        <p:nvSpPr>
          <p:cNvPr id="11" name="TextBox 10"/>
          <p:cNvSpPr txBox="1"/>
          <p:nvPr/>
        </p:nvSpPr>
        <p:spPr>
          <a:xfrm>
            <a:off x="1234440" y="2569464"/>
            <a:ext cx="7360920" cy="502920"/>
          </a:xfrm>
          <a:prstGeom prst="rect">
            <a:avLst/>
          </a:prstGeom>
          <a:noFill/>
        </p:spPr>
        <p:txBody>
          <a:bodyPr wrap="square" anchor="t" lIns="0" rIns="0" tIns="0" bIns="0">
            <a:spAutoFit/>
          </a:bodyPr>
          <a:lstStyle/>
          <a:p>
            <a:pPr algn="l"/>
            <a:r>
              <a:rPr sz="1300" b="0" i="0">
                <a:solidFill>
                  <a:srgbClr val="222233"/>
                </a:solidFill>
                <a:latin typeface="Calibri"/>
              </a:rPr>
              <a:t>Reglamento de seguridad de instalaciones de producción, transporte y distribución y pliegos RPTD N° 1 al 17 (RPTD N° 13 y N° 15).</a:t>
            </a:r>
          </a:p>
        </p:txBody>
      </p:sp>
      <p:sp>
        <p:nvSpPr>
          <p:cNvPr id="12" name="Oval 11"/>
          <p:cNvSpPr/>
          <p:nvPr/>
        </p:nvSpPr>
        <p:spPr>
          <a:xfrm>
            <a:off x="548640" y="3118104"/>
            <a:ext cx="502920" cy="5029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aBookOpen_w.png"/>
          <p:cNvPicPr>
            <a:picLocks noChangeAspect="1"/>
          </p:cNvPicPr>
          <p:nvPr/>
        </p:nvPicPr>
        <p:blipFill>
          <a:blip r:embed="rId2"/>
          <a:stretch>
            <a:fillRect/>
          </a:stretch>
        </p:blipFill>
        <p:spPr>
          <a:xfrm>
            <a:off x="669340" y="3238804"/>
            <a:ext cx="261518" cy="261518"/>
          </a:xfrm>
          <a:prstGeom prst="rect">
            <a:avLst/>
          </a:prstGeom>
        </p:spPr>
      </p:pic>
      <p:sp>
        <p:nvSpPr>
          <p:cNvPr id="14" name="TextBox 13"/>
          <p:cNvSpPr txBox="1"/>
          <p:nvPr/>
        </p:nvSpPr>
        <p:spPr>
          <a:xfrm>
            <a:off x="1234440" y="3072384"/>
            <a:ext cx="7360920" cy="320040"/>
          </a:xfrm>
          <a:prstGeom prst="rect">
            <a:avLst/>
          </a:prstGeom>
          <a:noFill/>
        </p:spPr>
        <p:txBody>
          <a:bodyPr wrap="square" anchor="t" lIns="0" rIns="0" tIns="0" bIns="0">
            <a:spAutoFit/>
          </a:bodyPr>
          <a:lstStyle/>
          <a:p>
            <a:pPr algn="l"/>
            <a:r>
              <a:rPr sz="1500" b="1" i="0">
                <a:solidFill>
                  <a:srgbClr val="4B2E83"/>
                </a:solidFill>
                <a:latin typeface="Calibri"/>
              </a:rPr>
              <a:t>NCh 350 Of. 2000</a:t>
            </a:r>
          </a:p>
        </p:txBody>
      </p:sp>
      <p:sp>
        <p:nvSpPr>
          <p:cNvPr id="15" name="TextBox 14"/>
          <p:cNvSpPr txBox="1"/>
          <p:nvPr/>
        </p:nvSpPr>
        <p:spPr>
          <a:xfrm>
            <a:off x="1234440" y="3374136"/>
            <a:ext cx="7360920" cy="502920"/>
          </a:xfrm>
          <a:prstGeom prst="rect">
            <a:avLst/>
          </a:prstGeom>
          <a:noFill/>
        </p:spPr>
        <p:txBody>
          <a:bodyPr wrap="square" anchor="t" lIns="0" rIns="0" tIns="0" bIns="0">
            <a:spAutoFit/>
          </a:bodyPr>
          <a:lstStyle/>
          <a:p>
            <a:pPr algn="l"/>
            <a:r>
              <a:rPr sz="1300" b="0" i="0">
                <a:solidFill>
                  <a:srgbClr val="222233"/>
                </a:solidFill>
                <a:latin typeface="Calibri"/>
              </a:rPr>
              <a:t>Instalaciones eléctricas provisorias y tierra de protección en faenas de construcción.</a:t>
            </a:r>
          </a:p>
        </p:txBody>
      </p:sp>
      <p:sp>
        <p:nvSpPr>
          <p:cNvPr id="16" name="Oval 15"/>
          <p:cNvSpPr/>
          <p:nvPr/>
        </p:nvSpPr>
        <p:spPr>
          <a:xfrm>
            <a:off x="548640" y="3922776"/>
            <a:ext cx="502920" cy="5029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BookOpen_w.png"/>
          <p:cNvPicPr>
            <a:picLocks noChangeAspect="1"/>
          </p:cNvPicPr>
          <p:nvPr/>
        </p:nvPicPr>
        <p:blipFill>
          <a:blip r:embed="rId2"/>
          <a:stretch>
            <a:fillRect/>
          </a:stretch>
        </p:blipFill>
        <p:spPr>
          <a:xfrm>
            <a:off x="669340" y="4043476"/>
            <a:ext cx="261518" cy="261518"/>
          </a:xfrm>
          <a:prstGeom prst="rect">
            <a:avLst/>
          </a:prstGeom>
        </p:spPr>
      </p:pic>
      <p:sp>
        <p:nvSpPr>
          <p:cNvPr id="18" name="TextBox 17"/>
          <p:cNvSpPr txBox="1"/>
          <p:nvPr/>
        </p:nvSpPr>
        <p:spPr>
          <a:xfrm>
            <a:off x="1234440" y="3877056"/>
            <a:ext cx="7360920" cy="320040"/>
          </a:xfrm>
          <a:prstGeom prst="rect">
            <a:avLst/>
          </a:prstGeom>
          <a:noFill/>
        </p:spPr>
        <p:txBody>
          <a:bodyPr wrap="square" anchor="t" lIns="0" rIns="0" tIns="0" bIns="0">
            <a:spAutoFit/>
          </a:bodyPr>
          <a:lstStyle/>
          <a:p>
            <a:pPr algn="l"/>
            <a:r>
              <a:rPr sz="1500" b="1" i="0">
                <a:solidFill>
                  <a:srgbClr val="4B2E83"/>
                </a:solidFill>
                <a:latin typeface="Calibri"/>
              </a:rPr>
              <a:t>NFPA 70E</a:t>
            </a:r>
          </a:p>
        </p:txBody>
      </p:sp>
      <p:sp>
        <p:nvSpPr>
          <p:cNvPr id="19" name="TextBox 18"/>
          <p:cNvSpPr txBox="1"/>
          <p:nvPr/>
        </p:nvSpPr>
        <p:spPr>
          <a:xfrm>
            <a:off x="1234440" y="4178808"/>
            <a:ext cx="7360920" cy="502920"/>
          </a:xfrm>
          <a:prstGeom prst="rect">
            <a:avLst/>
          </a:prstGeom>
          <a:noFill/>
        </p:spPr>
        <p:txBody>
          <a:bodyPr wrap="square" anchor="t" lIns="0" rIns="0" tIns="0" bIns="0">
            <a:spAutoFit/>
          </a:bodyPr>
          <a:lstStyle/>
          <a:p>
            <a:pPr algn="l"/>
            <a:r>
              <a:rPr sz="1300" b="0" i="0">
                <a:solidFill>
                  <a:srgbClr val="222233"/>
                </a:solidFill>
                <a:latin typeface="Calibri"/>
              </a:rPr>
              <a:t>Standard for Electrical Safety in the Workplace.</a:t>
            </a:r>
          </a:p>
        </p:txBody>
      </p:sp>
      <p:sp>
        <p:nvSpPr>
          <p:cNvPr id="20" name="Oval 19"/>
          <p:cNvSpPr/>
          <p:nvPr/>
        </p:nvSpPr>
        <p:spPr>
          <a:xfrm>
            <a:off x="548640" y="4727448"/>
            <a:ext cx="502920" cy="5029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aBookOpen_w.png"/>
          <p:cNvPicPr>
            <a:picLocks noChangeAspect="1"/>
          </p:cNvPicPr>
          <p:nvPr/>
        </p:nvPicPr>
        <p:blipFill>
          <a:blip r:embed="rId2"/>
          <a:stretch>
            <a:fillRect/>
          </a:stretch>
        </p:blipFill>
        <p:spPr>
          <a:xfrm>
            <a:off x="669340" y="4848148"/>
            <a:ext cx="261518" cy="261518"/>
          </a:xfrm>
          <a:prstGeom prst="rect">
            <a:avLst/>
          </a:prstGeom>
        </p:spPr>
      </p:pic>
      <p:sp>
        <p:nvSpPr>
          <p:cNvPr id="22" name="TextBox 21"/>
          <p:cNvSpPr txBox="1"/>
          <p:nvPr/>
        </p:nvSpPr>
        <p:spPr>
          <a:xfrm>
            <a:off x="1234440" y="4681728"/>
            <a:ext cx="7360920" cy="320040"/>
          </a:xfrm>
          <a:prstGeom prst="rect">
            <a:avLst/>
          </a:prstGeom>
          <a:noFill/>
        </p:spPr>
        <p:txBody>
          <a:bodyPr wrap="square" anchor="t" lIns="0" rIns="0" tIns="0" bIns="0">
            <a:spAutoFit/>
          </a:bodyPr>
          <a:lstStyle/>
          <a:p>
            <a:pPr algn="l"/>
            <a:r>
              <a:rPr sz="1500" b="1" i="0">
                <a:solidFill>
                  <a:srgbClr val="4B2E83"/>
                </a:solidFill>
                <a:latin typeface="Calibri"/>
              </a:rPr>
              <a:t>OSHA 1910.269</a:t>
            </a:r>
          </a:p>
        </p:txBody>
      </p:sp>
      <p:sp>
        <p:nvSpPr>
          <p:cNvPr id="23" name="TextBox 22"/>
          <p:cNvSpPr txBox="1"/>
          <p:nvPr/>
        </p:nvSpPr>
        <p:spPr>
          <a:xfrm>
            <a:off x="1234440" y="4983480"/>
            <a:ext cx="7360920" cy="502920"/>
          </a:xfrm>
          <a:prstGeom prst="rect">
            <a:avLst/>
          </a:prstGeom>
          <a:noFill/>
        </p:spPr>
        <p:txBody>
          <a:bodyPr wrap="square" anchor="t" lIns="0" rIns="0" tIns="0" bIns="0">
            <a:spAutoFit/>
          </a:bodyPr>
          <a:lstStyle/>
          <a:p>
            <a:pPr algn="l"/>
            <a:r>
              <a:rPr sz="1300" b="0" i="0">
                <a:solidFill>
                  <a:srgbClr val="222233"/>
                </a:solidFill>
                <a:latin typeface="Calibri"/>
              </a:rPr>
              <a:t>Electric Power Generation, Transmission and Distribution.</a:t>
            </a:r>
          </a:p>
        </p:txBody>
      </p:sp>
      <p:sp>
        <p:nvSpPr>
          <p:cNvPr id="24" name="Oval 23"/>
          <p:cNvSpPr/>
          <p:nvPr/>
        </p:nvSpPr>
        <p:spPr>
          <a:xfrm>
            <a:off x="548640" y="5532120"/>
            <a:ext cx="502920" cy="50292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BookOpen_w.png"/>
          <p:cNvPicPr>
            <a:picLocks noChangeAspect="1"/>
          </p:cNvPicPr>
          <p:nvPr/>
        </p:nvPicPr>
        <p:blipFill>
          <a:blip r:embed="rId2"/>
          <a:stretch>
            <a:fillRect/>
          </a:stretch>
        </p:blipFill>
        <p:spPr>
          <a:xfrm>
            <a:off x="669340" y="5652820"/>
            <a:ext cx="261518" cy="261518"/>
          </a:xfrm>
          <a:prstGeom prst="rect">
            <a:avLst/>
          </a:prstGeom>
        </p:spPr>
      </p:pic>
      <p:sp>
        <p:nvSpPr>
          <p:cNvPr id="26" name="TextBox 25"/>
          <p:cNvSpPr txBox="1"/>
          <p:nvPr/>
        </p:nvSpPr>
        <p:spPr>
          <a:xfrm>
            <a:off x="1234440" y="5486400"/>
            <a:ext cx="7360920" cy="320040"/>
          </a:xfrm>
          <a:prstGeom prst="rect">
            <a:avLst/>
          </a:prstGeom>
          <a:noFill/>
        </p:spPr>
        <p:txBody>
          <a:bodyPr wrap="square" anchor="t" lIns="0" rIns="0" tIns="0" bIns="0">
            <a:spAutoFit/>
          </a:bodyPr>
          <a:lstStyle/>
          <a:p>
            <a:pPr algn="l"/>
            <a:r>
              <a:rPr sz="1500" b="1" i="0">
                <a:solidFill>
                  <a:srgbClr val="4B2E83"/>
                </a:solidFill>
                <a:latin typeface="Calibri"/>
              </a:rPr>
              <a:t>IEC / EN 60903</a:t>
            </a:r>
          </a:p>
        </p:txBody>
      </p:sp>
      <p:sp>
        <p:nvSpPr>
          <p:cNvPr id="27" name="TextBox 26"/>
          <p:cNvSpPr txBox="1"/>
          <p:nvPr/>
        </p:nvSpPr>
        <p:spPr>
          <a:xfrm>
            <a:off x="1234440" y="5788152"/>
            <a:ext cx="7360920" cy="502920"/>
          </a:xfrm>
          <a:prstGeom prst="rect">
            <a:avLst/>
          </a:prstGeom>
          <a:noFill/>
        </p:spPr>
        <p:txBody>
          <a:bodyPr wrap="square" anchor="t" lIns="0" rIns="0" tIns="0" bIns="0">
            <a:spAutoFit/>
          </a:bodyPr>
          <a:lstStyle/>
          <a:p>
            <a:pPr algn="l"/>
            <a:r>
              <a:rPr sz="1300" b="0" i="0">
                <a:solidFill>
                  <a:srgbClr val="222233"/>
                </a:solidFill>
                <a:latin typeface="Calibri"/>
              </a:rPr>
              <a:t>Guantes de material aislante para trabajos en tensión.</a:t>
            </a:r>
          </a:p>
        </p:txBody>
      </p:sp>
      <p:sp>
        <p:nvSpPr>
          <p:cNvPr id="28" name="Botón Índice">
            <a:hlinkClick action="ppaction://hlinksldjump" r:id="rId4"/>
          </p:cNvPr>
          <p:cNvSpPr/>
          <p:nvPr/>
        </p:nvSpPr>
        <p:spPr>
          <a:xfrm>
            <a:off x="137160" y="6455664"/>
            <a:ext cx="914400" cy="292608"/>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Índice</a:t>
            </a:r>
          </a:p>
        </p:txBody>
      </p:sp>
      <p:sp>
        <p:nvSpPr>
          <p:cNvPr id="29"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5A5A6E"/>
                </a:solidFill>
                <a:latin typeface="Calibri"/>
              </a:rPr>
              <a:t>Riesgos eléctricos en redes aéreas de distribución  ·  SSGI OTEC</a:t>
            </a:r>
          </a:p>
        </p:txBody>
      </p:sp>
      <p:sp>
        <p:nvSpPr>
          <p:cNvPr id="30"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5A5A6E"/>
                </a:solidFill>
                <a:latin typeface="Calibri"/>
              </a:rPr>
              <a:t>128</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4B2E83"/>
        </a:solidFill>
        <a:effectLst/>
      </p:bgPr>
    </p:bg>
    <p:spTree>
      <p:nvGrpSpPr>
        <p:cNvPr id="1" name=""/>
        <p:cNvGrpSpPr/>
        <p:nvPr/>
      </p:nvGrpSpPr>
      <p:grpSpPr/>
      <p:sp>
        <p:nvSpPr>
          <p:cNvPr id="2" name="Oval 1"/>
          <p:cNvSpPr/>
          <p:nvPr/>
        </p:nvSpPr>
        <p:spPr>
          <a:xfrm>
            <a:off x="3977639" y="1280160"/>
            <a:ext cx="1188720" cy="118872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FaFlagCheckered_w.png"/>
          <p:cNvPicPr>
            <a:picLocks noChangeAspect="1"/>
          </p:cNvPicPr>
          <p:nvPr/>
        </p:nvPicPr>
        <p:blipFill>
          <a:blip r:embed="rId2"/>
          <a:stretch>
            <a:fillRect/>
          </a:stretch>
        </p:blipFill>
        <p:spPr>
          <a:xfrm>
            <a:off x="4262932" y="1565452"/>
            <a:ext cx="618134" cy="618134"/>
          </a:xfrm>
          <a:prstGeom prst="rect">
            <a:avLst/>
          </a:prstGeom>
        </p:spPr>
      </p:pic>
      <p:sp>
        <p:nvSpPr>
          <p:cNvPr id="4" name="TextBox 3"/>
          <p:cNvSpPr txBox="1"/>
          <p:nvPr/>
        </p:nvSpPr>
        <p:spPr>
          <a:xfrm>
            <a:off x="640080" y="2743200"/>
            <a:ext cx="7863840" cy="822960"/>
          </a:xfrm>
          <a:prstGeom prst="rect">
            <a:avLst/>
          </a:prstGeom>
          <a:noFill/>
        </p:spPr>
        <p:txBody>
          <a:bodyPr wrap="square" anchor="t" lIns="0" rIns="0" tIns="0" bIns="0">
            <a:spAutoFit/>
          </a:bodyPr>
          <a:lstStyle/>
          <a:p>
            <a:pPr algn="ctr"/>
            <a:r>
              <a:rPr sz="4000" b="1" i="0">
                <a:solidFill>
                  <a:srgbClr val="FFFFFF"/>
                </a:solidFill>
                <a:latin typeface="Calibri"/>
              </a:rPr>
              <a:t>¡Felicitaciones!</a:t>
            </a:r>
          </a:p>
        </p:txBody>
      </p:sp>
      <p:sp>
        <p:nvSpPr>
          <p:cNvPr id="5" name="TextBox 4"/>
          <p:cNvSpPr txBox="1"/>
          <p:nvPr/>
        </p:nvSpPr>
        <p:spPr>
          <a:xfrm>
            <a:off x="1097280" y="3611880"/>
            <a:ext cx="6949440" cy="1097280"/>
          </a:xfrm>
          <a:prstGeom prst="rect">
            <a:avLst/>
          </a:prstGeom>
          <a:noFill/>
        </p:spPr>
        <p:txBody>
          <a:bodyPr wrap="square" anchor="t" lIns="0" rIns="0" tIns="0" bIns="0">
            <a:spAutoFit/>
          </a:bodyPr>
          <a:lstStyle/>
          <a:p>
            <a:pPr algn="ctr"/>
            <a:r>
              <a:rPr sz="1700" b="0" i="0">
                <a:solidFill>
                  <a:srgbClr val="E6DDF3"/>
                </a:solidFill>
                <a:latin typeface="Calibri"/>
              </a:rPr>
              <a:t>Completaste el curso Riesgos eléctricos en redes aéreas de distribución. Recuerda: ningún trabajo es tan urgente como para no hacerlo de forma segura.</a:t>
            </a:r>
          </a:p>
        </p:txBody>
      </p:sp>
      <p:sp>
        <p:nvSpPr>
          <p:cNvPr id="6" name="TextBox 5"/>
          <p:cNvSpPr txBox="1"/>
          <p:nvPr/>
        </p:nvSpPr>
        <p:spPr>
          <a:xfrm>
            <a:off x="640080" y="5120640"/>
            <a:ext cx="7863840" cy="365760"/>
          </a:xfrm>
          <a:prstGeom prst="rect">
            <a:avLst/>
          </a:prstGeom>
          <a:noFill/>
        </p:spPr>
        <p:txBody>
          <a:bodyPr wrap="square" anchor="t" lIns="0" rIns="0" tIns="0" bIns="0">
            <a:spAutoFit/>
          </a:bodyPr>
          <a:lstStyle/>
          <a:p>
            <a:pPr algn="ctr"/>
            <a:r>
              <a:rPr sz="1400" b="1" i="0">
                <a:solidFill>
                  <a:srgbClr val="F2A900"/>
                </a:solidFill>
                <a:latin typeface="Calibri"/>
              </a:rPr>
              <a:t>SSGI OTEC</a:t>
            </a:r>
          </a:p>
        </p:txBody>
      </p:sp>
      <p:sp>
        <p:nvSpPr>
          <p:cNvPr id="7" name="Botón Índice">
            <a:hlinkClick action="ppaction://hlinksldjump" r:id="rId4"/>
          </p:cNvPr>
          <p:cNvSpPr/>
          <p:nvPr/>
        </p:nvSpPr>
        <p:spPr>
          <a:xfrm>
            <a:off x="137160" y="6455664"/>
            <a:ext cx="914400" cy="292608"/>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4B2E83"/>
                </a:solidFill>
                <a:latin typeface="Calibri"/>
              </a:rPr>
              <a:t>Índice</a:t>
            </a:r>
          </a:p>
        </p:txBody>
      </p:sp>
      <p:sp>
        <p:nvSpPr>
          <p:cNvPr id="8" name="Pie"/>
          <p:cNvSpPr txBox="1"/>
          <p:nvPr/>
        </p:nvSpPr>
        <p:spPr>
          <a:xfrm>
            <a:off x="1828800" y="6492240"/>
            <a:ext cx="5486400" cy="256032"/>
          </a:xfrm>
          <a:prstGeom prst="rect">
            <a:avLst/>
          </a:prstGeom>
          <a:noFill/>
        </p:spPr>
        <p:txBody>
          <a:bodyPr wrap="square" anchor="t" lIns="0" rIns="0" tIns="0" bIns="0">
            <a:spAutoFit/>
          </a:bodyPr>
          <a:lstStyle/>
          <a:p>
            <a:pPr algn="ctr"/>
            <a:r>
              <a:rPr sz="1000" b="0" i="0">
                <a:solidFill>
                  <a:srgbClr val="D9CCEE"/>
                </a:solidFill>
                <a:latin typeface="Calibri"/>
              </a:rPr>
              <a:t>Riesgos eléctricos en redes aéreas de distribución  ·  SSGI OTEC</a:t>
            </a:r>
          </a:p>
        </p:txBody>
      </p:sp>
      <p:sp>
        <p:nvSpPr>
          <p:cNvPr id="9" name="Número"/>
          <p:cNvSpPr txBox="1"/>
          <p:nvPr/>
        </p:nvSpPr>
        <p:spPr>
          <a:xfrm>
            <a:off x="7680960" y="6492240"/>
            <a:ext cx="914400" cy="256032"/>
          </a:xfrm>
          <a:prstGeom prst="rect">
            <a:avLst/>
          </a:prstGeom>
          <a:noFill/>
        </p:spPr>
        <p:txBody>
          <a:bodyPr wrap="square" anchor="t" lIns="0" rIns="0" tIns="0" bIns="0">
            <a:spAutoFit/>
          </a:bodyPr>
          <a:lstStyle/>
          <a:p>
            <a:pPr algn="r"/>
            <a:r>
              <a:rPr sz="1000" b="1" i="0">
                <a:solidFill>
                  <a:srgbClr val="D9CCEE"/>
                </a:solidFill>
                <a:latin typeface="Calibri"/>
              </a:rPr>
              <a:t>129</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15209</TotalTime>
  <Words>6440</Words>
  <Application>Microsoft Office PowerPoint</Application>
  <PresentationFormat>Presentación en pantalla (4:3)</PresentationFormat>
  <Paragraphs>1775</Paragraphs>
  <Slides>98</Slides>
  <Notes>49</Notes>
  <HiddenSlides>0</HiddenSlides>
  <MMClips>3</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2</vt:i4>
      </vt:variant>
      <vt:variant>
        <vt:lpstr>Títulos de diapositiva</vt:lpstr>
      </vt:variant>
      <vt:variant>
        <vt:i4>98</vt:i4>
      </vt:variant>
    </vt:vector>
  </HeadingPairs>
  <TitlesOfParts>
    <vt:vector size="108" baseType="lpstr">
      <vt:lpstr>Arial</vt:lpstr>
      <vt:lpstr>Avenir Next Condensed Demi Bold</vt:lpstr>
      <vt:lpstr>Calibri</vt:lpstr>
      <vt:lpstr>Daytona</vt:lpstr>
      <vt:lpstr>Google Sans</vt:lpstr>
      <vt:lpstr>Times New Roman</vt:lpstr>
      <vt:lpstr>Wingdings</vt:lpstr>
      <vt:lpstr>Tema de Office</vt:lpstr>
      <vt:lpstr>Worksheet</vt:lpstr>
      <vt:lpstr>Acrobat Document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RODOLFO ZAMORA 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Rodolfo Zamora Neira</dc:creator>
  <cp:lastModifiedBy>Nestor Zamora</cp:lastModifiedBy>
  <cp:revision>730</cp:revision>
  <cp:lastPrinted>2018-06-15T23:12:57Z</cp:lastPrinted>
  <dcterms:created xsi:type="dcterms:W3CDTF">2015-07-09T20:17:07Z</dcterms:created>
  <dcterms:modified xsi:type="dcterms:W3CDTF">2025-05-27T10:39:56Z</dcterms:modified>
</cp:coreProperties>
</file>